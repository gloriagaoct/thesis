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38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7"/>
  </p:notesMasterIdLst>
  <p:handoutMasterIdLst>
    <p:handoutMasterId r:id="rId48"/>
  </p:handoutMasterIdLst>
  <p:sldIdLst>
    <p:sldId id="311" r:id="rId2"/>
    <p:sldId id="258" r:id="rId3"/>
    <p:sldId id="287" r:id="rId4"/>
    <p:sldId id="293" r:id="rId5"/>
    <p:sldId id="292" r:id="rId6"/>
    <p:sldId id="261" r:id="rId7"/>
    <p:sldId id="276" r:id="rId8"/>
    <p:sldId id="296" r:id="rId9"/>
    <p:sldId id="290" r:id="rId10"/>
    <p:sldId id="288" r:id="rId11"/>
    <p:sldId id="289" r:id="rId12"/>
    <p:sldId id="291" r:id="rId13"/>
    <p:sldId id="264" r:id="rId14"/>
    <p:sldId id="272" r:id="rId15"/>
    <p:sldId id="265" r:id="rId16"/>
    <p:sldId id="271" r:id="rId17"/>
    <p:sldId id="277" r:id="rId18"/>
    <p:sldId id="307" r:id="rId19"/>
    <p:sldId id="300" r:id="rId20"/>
    <p:sldId id="301" r:id="rId21"/>
    <p:sldId id="297" r:id="rId22"/>
    <p:sldId id="279" r:id="rId23"/>
    <p:sldId id="280" r:id="rId24"/>
    <p:sldId id="305" r:id="rId25"/>
    <p:sldId id="304" r:id="rId26"/>
    <p:sldId id="303" r:id="rId27"/>
    <p:sldId id="309" r:id="rId28"/>
    <p:sldId id="302" r:id="rId29"/>
    <p:sldId id="306" r:id="rId30"/>
    <p:sldId id="312" r:id="rId31"/>
    <p:sldId id="313" r:id="rId32"/>
    <p:sldId id="314" r:id="rId33"/>
    <p:sldId id="315" r:id="rId34"/>
    <p:sldId id="316" r:id="rId35"/>
    <p:sldId id="273" r:id="rId36"/>
    <p:sldId id="274" r:id="rId37"/>
    <p:sldId id="310" r:id="rId38"/>
    <p:sldId id="275" r:id="rId39"/>
    <p:sldId id="259" r:id="rId40"/>
    <p:sldId id="294" r:id="rId41"/>
    <p:sldId id="263" r:id="rId42"/>
    <p:sldId id="285" r:id="rId43"/>
    <p:sldId id="268" r:id="rId44"/>
    <p:sldId id="269" r:id="rId45"/>
    <p:sldId id="308" r:id="rId4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C21597D-BC4A-9B48-848F-2AEC6874659C}">
          <p14:sldIdLst>
            <p14:sldId id="311"/>
            <p14:sldId id="258"/>
            <p14:sldId id="287"/>
            <p14:sldId id="293"/>
            <p14:sldId id="292"/>
            <p14:sldId id="261"/>
            <p14:sldId id="276"/>
            <p14:sldId id="296"/>
            <p14:sldId id="290"/>
            <p14:sldId id="288"/>
            <p14:sldId id="289"/>
            <p14:sldId id="291"/>
            <p14:sldId id="264"/>
            <p14:sldId id="272"/>
            <p14:sldId id="265"/>
            <p14:sldId id="271"/>
            <p14:sldId id="277"/>
            <p14:sldId id="307"/>
            <p14:sldId id="300"/>
            <p14:sldId id="301"/>
            <p14:sldId id="297"/>
            <p14:sldId id="279"/>
            <p14:sldId id="280"/>
            <p14:sldId id="305"/>
            <p14:sldId id="304"/>
            <p14:sldId id="303"/>
            <p14:sldId id="309"/>
            <p14:sldId id="302"/>
            <p14:sldId id="306"/>
            <p14:sldId id="312"/>
            <p14:sldId id="313"/>
            <p14:sldId id="314"/>
            <p14:sldId id="315"/>
            <p14:sldId id="316"/>
            <p14:sldId id="273"/>
            <p14:sldId id="274"/>
            <p14:sldId id="310"/>
            <p14:sldId id="275"/>
            <p14:sldId id="259"/>
            <p14:sldId id="294"/>
            <p14:sldId id="263"/>
            <p14:sldId id="285"/>
            <p14:sldId id="268"/>
            <p14:sldId id="269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BEB8"/>
    <a:srgbClr val="546D6D"/>
    <a:srgbClr val="FF6F66"/>
    <a:srgbClr val="2C3739"/>
    <a:srgbClr val="C25151"/>
    <a:srgbClr val="A73937"/>
    <a:srgbClr val="CB605F"/>
    <a:srgbClr val="A93B39"/>
    <a:srgbClr val="6C8F8B"/>
    <a:srgbClr val="343D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501"/>
  </p:normalViewPr>
  <p:slideViewPr>
    <p:cSldViewPr snapToGrid="0" snapToObjects="1">
      <p:cViewPr>
        <p:scale>
          <a:sx n="94" d="100"/>
          <a:sy n="94" d="100"/>
        </p:scale>
        <p:origin x="162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/Relationships>
</file>

<file path=ppt/charts/_rels/chart1.xml.rels><?xml version="1.0" encoding="UTF-8" standalone="yes"?>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localhost/Users/Gloria/Umass/IndepStudy_Thesis/Writeup/results_pagerank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file://localhost/Users/Gloria/Umass/IndepStudy_Thesis/Writeup/results_pagerank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oleObject" Target="file://localhost/Users/Gloria/Umass/IndepStudy_Thesis/Writeup/results_pagerank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oleObject" Target="file://localhost/Users/Gloria/Umass/IndepStudy_Thesis/Writeup/results_pagerank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oleObject" Target="file://localhost/Users/Gloria/Umass/IndepStudy_Thesis/Writeup/results_pagerank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oleObject" Target="file://localhost/Users/Gloria/Umass/IndepStudy_Thesis/Writeup/results_pagerank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oleObject" Target="file://localhost/Users/Gloria/Umass/IndepStudy_Thesis/Writeup/results_pagerank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oleObject" Target="file://localhost/Users/Gloria/Umass/IndepStudy_Thesis/Writeup/results_pagerank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oleObject" Target="file://localhost/Users/Gloria/Umass/IndepStudy_Thesis/Writeup/results_pagerank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oleObject" Target="file://localhost/Users/Gloria/Umass/IndepStudy_Thesis/Writeup/results_pagerank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66548265217552"/>
          <c:y val="0.162641186705594"/>
          <c:w val="0.679458047549514"/>
          <c:h val="0.645049396915273"/>
        </c:manualLayout>
      </c:layout>
      <c:barChart>
        <c:barDir val="col"/>
        <c:grouping val="clustered"/>
        <c:varyColors val="0"/>
        <c:ser>
          <c:idx val="0"/>
          <c:order val="0"/>
          <c:tx>
            <c:v>ParQ(Parallel/single)</c:v>
          </c:tx>
          <c:spPr>
            <a:solidFill>
              <a:srgbClr val="88C2BB"/>
            </a:solidFill>
            <a:ln>
              <a:noFill/>
            </a:ln>
            <a:effectLst/>
          </c:spPr>
          <c:invertIfNegative val="0"/>
          <c:cat>
            <c:numRef>
              <c:f>工作表1!$B$36:$B$39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5.0</c:v>
                </c:pt>
                <c:pt idx="3">
                  <c:v>10.0</c:v>
                </c:pt>
              </c:numCache>
            </c:numRef>
          </c:cat>
          <c:val>
            <c:numRef>
              <c:f>工作表1!$M$37:$M$40</c:f>
              <c:numCache>
                <c:formatCode>General</c:formatCode>
                <c:ptCount val="4"/>
                <c:pt idx="0">
                  <c:v>500.0</c:v>
                </c:pt>
                <c:pt idx="1">
                  <c:v>644.0</c:v>
                </c:pt>
                <c:pt idx="2">
                  <c:v>1076.0</c:v>
                </c:pt>
                <c:pt idx="3">
                  <c:v>1794.0</c:v>
                </c:pt>
              </c:numCache>
            </c:numRef>
          </c:val>
        </c:ser>
        <c:ser>
          <c:idx val="1"/>
          <c:order val="1"/>
          <c:tx>
            <c:v>Serial/single</c:v>
          </c:tx>
          <c:spPr>
            <a:solidFill>
              <a:srgbClr val="53706F"/>
            </a:solidFill>
            <a:ln>
              <a:noFill/>
            </a:ln>
            <a:effectLst/>
          </c:spPr>
          <c:invertIfNegative val="0"/>
          <c:cat>
            <c:numRef>
              <c:f>工作表1!$B$36:$B$39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5.0</c:v>
                </c:pt>
                <c:pt idx="3">
                  <c:v>10.0</c:v>
                </c:pt>
              </c:numCache>
            </c:numRef>
          </c:cat>
          <c:val>
            <c:numRef>
              <c:f>工作表1!$M$44:$M$47</c:f>
              <c:numCache>
                <c:formatCode>General</c:formatCode>
                <c:ptCount val="4"/>
                <c:pt idx="0">
                  <c:v>454.0</c:v>
                </c:pt>
                <c:pt idx="1">
                  <c:v>500.0</c:v>
                </c:pt>
                <c:pt idx="2">
                  <c:v>551.0</c:v>
                </c:pt>
                <c:pt idx="3">
                  <c:v>601.0</c:v>
                </c:pt>
              </c:numCache>
            </c:numRef>
          </c:val>
        </c:ser>
        <c:ser>
          <c:idx val="2"/>
          <c:order val="2"/>
          <c:tx>
            <c:v>Parallel/duplicated</c:v>
          </c:tx>
          <c:spPr>
            <a:solidFill>
              <a:srgbClr val="BE524F"/>
            </a:solidFill>
            <a:ln>
              <a:solidFill>
                <a:srgbClr val="BE524F"/>
              </a:solidFill>
            </a:ln>
            <a:effectLst/>
          </c:spPr>
          <c:invertIfNegative val="0"/>
          <c:val>
            <c:numRef>
              <c:f>工作表1!$M$51:$M$54</c:f>
              <c:numCache>
                <c:formatCode>General</c:formatCode>
                <c:ptCount val="4"/>
                <c:pt idx="0">
                  <c:v>454.0</c:v>
                </c:pt>
                <c:pt idx="1">
                  <c:v>908.0</c:v>
                </c:pt>
                <c:pt idx="2">
                  <c:v>2570.0</c:v>
                </c:pt>
                <c:pt idx="3">
                  <c:v>5130.0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35431728"/>
        <c:axId val="2112678080"/>
      </c:barChart>
      <c:catAx>
        <c:axId val="21354317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</a:t>
                </a:r>
                <a:r>
                  <a:rPr lang="zh-CN"/>
                  <a:t> </a:t>
                </a:r>
                <a:r>
                  <a:rPr lang="en-US"/>
                  <a:t>of</a:t>
                </a:r>
                <a:r>
                  <a:rPr lang="zh-CN"/>
                  <a:t> </a:t>
                </a:r>
                <a:r>
                  <a:rPr lang="en-US"/>
                  <a:t>Queries</a:t>
                </a:r>
              </a:p>
            </c:rich>
          </c:tx>
          <c:layout>
            <c:manualLayout>
              <c:xMode val="edge"/>
              <c:yMode val="edge"/>
              <c:x val="0.376818503590055"/>
              <c:y val="0.87691975350482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12678080"/>
        <c:crosses val="autoZero"/>
        <c:auto val="1"/>
        <c:lblAlgn val="ctr"/>
        <c:lblOffset val="100"/>
        <c:noMultiLvlLbl val="0"/>
      </c:catAx>
      <c:valAx>
        <c:axId val="2112678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Memory(MB)</a:t>
                </a:r>
                <a:endParaRPr lang="zh-CN" dirty="0"/>
              </a:p>
            </c:rich>
          </c:tx>
          <c:layout>
            <c:manualLayout>
              <c:xMode val="edge"/>
              <c:yMode val="edge"/>
              <c:x val="0.0036607717242837"/>
              <c:y val="0.35119308309805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35431728"/>
        <c:crosses val="autoZero"/>
        <c:crossBetween val="between"/>
        <c:majorUnit val="500.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720729153274451"/>
          <c:y val="0.0154033284657912"/>
          <c:w val="0.772103909391954"/>
          <c:h val="0.1587080182939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000">
          <a:latin typeface="+mn-lt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61216599974184"/>
          <c:y val="0.222104120259169"/>
          <c:w val="0.695113807495374"/>
          <c:h val="0.594471108005662"/>
        </c:manualLayout>
      </c:layout>
      <c:barChart>
        <c:barDir val="col"/>
        <c:grouping val="clustered"/>
        <c:varyColors val="0"/>
        <c:ser>
          <c:idx val="0"/>
          <c:order val="0"/>
          <c:tx>
            <c:v>ParQ(Parallel/single)</c:v>
          </c:tx>
          <c:spPr>
            <a:solidFill>
              <a:srgbClr val="8CC2BB"/>
            </a:solidFill>
            <a:ln>
              <a:solidFill>
                <a:srgbClr val="8CC2BB"/>
              </a:solidFill>
            </a:ln>
            <a:effectLst/>
          </c:spPr>
          <c:invertIfNegative val="0"/>
          <c:cat>
            <c:numRef>
              <c:f>工作表1!$B$19:$B$22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5.0</c:v>
                </c:pt>
                <c:pt idx="3">
                  <c:v>10.0</c:v>
                </c:pt>
              </c:numCache>
            </c:numRef>
          </c:cat>
          <c:val>
            <c:numRef>
              <c:f>工作表1!$L$37:$L$40</c:f>
              <c:numCache>
                <c:formatCode>General</c:formatCode>
                <c:ptCount val="4"/>
                <c:pt idx="0">
                  <c:v>1.94</c:v>
                </c:pt>
                <c:pt idx="1">
                  <c:v>2.19</c:v>
                </c:pt>
                <c:pt idx="2">
                  <c:v>4.14</c:v>
                </c:pt>
                <c:pt idx="3">
                  <c:v>5.1</c:v>
                </c:pt>
              </c:numCache>
            </c:numRef>
          </c:val>
        </c:ser>
        <c:ser>
          <c:idx val="1"/>
          <c:order val="1"/>
          <c:tx>
            <c:v>Serial/single</c:v>
          </c:tx>
          <c:spPr>
            <a:solidFill>
              <a:srgbClr val="55706F"/>
            </a:solidFill>
            <a:ln>
              <a:solidFill>
                <a:srgbClr val="55706F"/>
              </a:solidFill>
            </a:ln>
            <a:effectLst/>
          </c:spPr>
          <c:invertIfNegative val="0"/>
          <c:cat>
            <c:numRef>
              <c:f>工作表1!$B$19:$B$22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5.0</c:v>
                </c:pt>
                <c:pt idx="3">
                  <c:v>10.0</c:v>
                </c:pt>
              </c:numCache>
            </c:numRef>
          </c:cat>
          <c:val>
            <c:numRef>
              <c:f>工作表1!$L$44:$L$47</c:f>
              <c:numCache>
                <c:formatCode>General</c:formatCode>
                <c:ptCount val="4"/>
                <c:pt idx="0">
                  <c:v>2.94</c:v>
                </c:pt>
                <c:pt idx="1">
                  <c:v>4.88</c:v>
                </c:pt>
                <c:pt idx="2">
                  <c:v>10.07</c:v>
                </c:pt>
                <c:pt idx="3">
                  <c:v>20.04</c:v>
                </c:pt>
              </c:numCache>
            </c:numRef>
          </c:val>
        </c:ser>
        <c:ser>
          <c:idx val="2"/>
          <c:order val="2"/>
          <c:tx>
            <c:v>Parallel/duplicated</c:v>
          </c:tx>
          <c:spPr>
            <a:solidFill>
              <a:srgbClr val="BE524F"/>
            </a:solidFill>
            <a:ln>
              <a:solidFill>
                <a:srgbClr val="BE524F"/>
              </a:solidFill>
            </a:ln>
            <a:effectLst/>
          </c:spPr>
          <c:invertIfNegative val="0"/>
          <c:val>
            <c:numRef>
              <c:f>工作表1!$L$51:$L$54</c:f>
              <c:numCache>
                <c:formatCode>General</c:formatCode>
                <c:ptCount val="4"/>
                <c:pt idx="0">
                  <c:v>2.94</c:v>
                </c:pt>
                <c:pt idx="1">
                  <c:v>3.19</c:v>
                </c:pt>
                <c:pt idx="2">
                  <c:v>5.1</c:v>
                </c:pt>
                <c:pt idx="3">
                  <c:v>23.9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12819104"/>
        <c:axId val="2112825616"/>
      </c:barChart>
      <c:catAx>
        <c:axId val="211281910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>
                    <a:latin typeface="+mn-lt"/>
                  </a:rPr>
                  <a:t>Number</a:t>
                </a:r>
                <a:r>
                  <a:rPr lang="zh-CN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of</a:t>
                </a:r>
                <a:r>
                  <a:rPr lang="zh-CN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Queries</a:t>
                </a:r>
                <a:endParaRPr lang="zh-CN" dirty="0">
                  <a:latin typeface="+mn-lt"/>
                </a:endParaRPr>
              </a:p>
            </c:rich>
          </c:tx>
          <c:layout>
            <c:manualLayout>
              <c:xMode val="edge"/>
              <c:yMode val="edge"/>
              <c:x val="0.354256911306567"/>
              <c:y val="0.89064613139191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+mn-ea"/>
                <a:cs typeface="+mn-cs"/>
              </a:defRPr>
            </a:pPr>
            <a:endParaRPr lang="zh-CN"/>
          </a:p>
        </c:txPr>
        <c:crossAx val="2112825616"/>
        <c:crosses val="autoZero"/>
        <c:auto val="1"/>
        <c:lblAlgn val="ctr"/>
        <c:lblOffset val="100"/>
        <c:noMultiLvlLbl val="0"/>
      </c:catAx>
      <c:valAx>
        <c:axId val="2112825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charset="0"/>
                    <a:ea typeface="+mn-ea"/>
                    <a:cs typeface="+mn-cs"/>
                  </a:defRPr>
                </a:pPr>
                <a:r>
                  <a:rPr lang="en-US" dirty="0" smtClean="0"/>
                  <a:t>Ti</a:t>
                </a:r>
                <a:r>
                  <a:rPr lang="en-US" altLang="zh-CN" dirty="0" smtClean="0"/>
                  <a:t>m</a:t>
                </a:r>
                <a:r>
                  <a:rPr lang="en-US" dirty="0" smtClean="0"/>
                  <a:t>e(Sec</a:t>
                </a:r>
                <a:r>
                  <a:rPr lang="en-US" dirty="0"/>
                  <a:t>)</a:t>
                </a:r>
                <a:endParaRPr lang="zh-CN" dirty="0"/>
              </a:p>
            </c:rich>
          </c:tx>
          <c:layout>
            <c:manualLayout>
              <c:xMode val="edge"/>
              <c:yMode val="edge"/>
              <c:x val="0.0327868852459016"/>
              <c:y val="0.40416050412666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charset="0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+mn-ea"/>
                <a:cs typeface="+mn-cs"/>
              </a:defRPr>
            </a:pPr>
            <a:endParaRPr lang="zh-CN"/>
          </a:p>
        </c:txPr>
        <c:crossAx val="2112819104"/>
        <c:crosses val="autoZero"/>
        <c:crossBetween val="between"/>
        <c:majorUnit val="2.0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+mn-ea"/>
                <a:cs typeface="+mn-cs"/>
              </a:defRPr>
            </a:pPr>
            <a:endParaRPr lang="zh-CN"/>
          </a:p>
        </c:txPr>
      </c:legendEntry>
      <c:layout>
        <c:manualLayout>
          <c:xMode val="edge"/>
          <c:yMode val="edge"/>
          <c:x val="0.043667527246515"/>
          <c:y val="0.0611394822043634"/>
          <c:w val="0.872649101488497"/>
          <c:h val="0.1356930252470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charset="0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000" baseline="0">
          <a:latin typeface="Calibri" charset="0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66548265217552"/>
          <c:y val="0.162641186705594"/>
          <c:w val="0.687745247313699"/>
          <c:h val="0.645049396915273"/>
        </c:manualLayout>
      </c:layout>
      <c:barChart>
        <c:barDir val="col"/>
        <c:grouping val="clustered"/>
        <c:varyColors val="0"/>
        <c:ser>
          <c:idx val="0"/>
          <c:order val="0"/>
          <c:tx>
            <c:v>ParQ(Parallel/single)</c:v>
          </c:tx>
          <c:spPr>
            <a:solidFill>
              <a:srgbClr val="88C2BB"/>
            </a:solidFill>
            <a:ln>
              <a:noFill/>
            </a:ln>
            <a:effectLst/>
          </c:spPr>
          <c:invertIfNegative val="0"/>
          <c:cat>
            <c:numRef>
              <c:f>工作表1!$B$36:$B$39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5.0</c:v>
                </c:pt>
                <c:pt idx="3">
                  <c:v>10.0</c:v>
                </c:pt>
              </c:numCache>
            </c:numRef>
          </c:cat>
          <c:val>
            <c:numRef>
              <c:f>工作表1!$I$37:$I$40</c:f>
              <c:numCache>
                <c:formatCode>General</c:formatCode>
                <c:ptCount val="4"/>
                <c:pt idx="0">
                  <c:v>206.0</c:v>
                </c:pt>
                <c:pt idx="1">
                  <c:v>352.0</c:v>
                </c:pt>
                <c:pt idx="2">
                  <c:v>790.0</c:v>
                </c:pt>
                <c:pt idx="3">
                  <c:v>1520.0</c:v>
                </c:pt>
              </c:numCache>
            </c:numRef>
          </c:val>
        </c:ser>
        <c:ser>
          <c:idx val="1"/>
          <c:order val="1"/>
          <c:tx>
            <c:v>Serial/single</c:v>
          </c:tx>
          <c:spPr>
            <a:solidFill>
              <a:srgbClr val="53706F"/>
            </a:solidFill>
            <a:ln>
              <a:noFill/>
            </a:ln>
            <a:effectLst/>
          </c:spPr>
          <c:invertIfNegative val="0"/>
          <c:cat>
            <c:numRef>
              <c:f>工作表1!$B$36:$B$39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5.0</c:v>
                </c:pt>
                <c:pt idx="3">
                  <c:v>10.0</c:v>
                </c:pt>
              </c:numCache>
            </c:numRef>
          </c:cat>
          <c:val>
            <c:numRef>
              <c:f>工作表1!$I$44:$I$47</c:f>
              <c:numCache>
                <c:formatCode>General</c:formatCode>
                <c:ptCount val="4"/>
                <c:pt idx="0">
                  <c:v>204.0</c:v>
                </c:pt>
                <c:pt idx="1">
                  <c:v>250.0</c:v>
                </c:pt>
                <c:pt idx="2">
                  <c:v>302.0</c:v>
                </c:pt>
                <c:pt idx="3">
                  <c:v>352.0</c:v>
                </c:pt>
              </c:numCache>
            </c:numRef>
          </c:val>
        </c:ser>
        <c:ser>
          <c:idx val="2"/>
          <c:order val="2"/>
          <c:tx>
            <c:v>Parallel/duplicated</c:v>
          </c:tx>
          <c:spPr>
            <a:solidFill>
              <a:srgbClr val="C25151"/>
            </a:solidFill>
            <a:ln>
              <a:noFill/>
            </a:ln>
            <a:effectLst/>
          </c:spPr>
          <c:invertIfNegative val="0"/>
          <c:val>
            <c:numRef>
              <c:f>工作表1!$I$51:$I$54</c:f>
              <c:numCache>
                <c:formatCode>General</c:formatCode>
                <c:ptCount val="4"/>
                <c:pt idx="0">
                  <c:v>204.0</c:v>
                </c:pt>
                <c:pt idx="1">
                  <c:v>408.0</c:v>
                </c:pt>
                <c:pt idx="2">
                  <c:v>1020.0</c:v>
                </c:pt>
                <c:pt idx="3">
                  <c:v>2044.0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35338352"/>
        <c:axId val="2136381696"/>
      </c:barChart>
      <c:catAx>
        <c:axId val="213533835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</a:t>
                </a:r>
                <a:r>
                  <a:rPr lang="zh-CN"/>
                  <a:t> </a:t>
                </a:r>
                <a:r>
                  <a:rPr lang="en-US"/>
                  <a:t>of</a:t>
                </a:r>
                <a:r>
                  <a:rPr lang="zh-CN"/>
                  <a:t> </a:t>
                </a:r>
                <a:r>
                  <a:rPr lang="en-US"/>
                  <a:t>Queries</a:t>
                </a:r>
              </a:p>
            </c:rich>
          </c:tx>
          <c:layout>
            <c:manualLayout>
              <c:xMode val="edge"/>
              <c:yMode val="edge"/>
              <c:x val="0.373245740451301"/>
              <c:y val="0.87917037990989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36381696"/>
        <c:crosses val="autoZero"/>
        <c:auto val="1"/>
        <c:lblAlgn val="ctr"/>
        <c:lblOffset val="100"/>
        <c:noMultiLvlLbl val="0"/>
      </c:catAx>
      <c:valAx>
        <c:axId val="2136381696"/>
        <c:scaling>
          <c:orientation val="minMax"/>
          <c:max val="4000.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Memory(MB)</a:t>
                </a:r>
                <a:endParaRPr lang="zh-CN" dirty="0"/>
              </a:p>
            </c:rich>
          </c:tx>
          <c:layout>
            <c:manualLayout>
              <c:xMode val="edge"/>
              <c:yMode val="edge"/>
              <c:x val="0.00329383308868538"/>
              <c:y val="0.35128223765170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35338352"/>
        <c:crosses val="autoZero"/>
        <c:crossBetween val="between"/>
        <c:majorUnit val="500.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467412545784825"/>
          <c:y val="0.0246113957021668"/>
          <c:w val="0.846809894672617"/>
          <c:h val="0.13038498603641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61216599974184"/>
          <c:y val="0.222104120259169"/>
          <c:w val="0.695113807495374"/>
          <c:h val="0.594471108005662"/>
        </c:manualLayout>
      </c:layout>
      <c:barChart>
        <c:barDir val="col"/>
        <c:grouping val="clustered"/>
        <c:varyColors val="0"/>
        <c:ser>
          <c:idx val="0"/>
          <c:order val="0"/>
          <c:tx>
            <c:v>ParQ(Parallel/single)</c:v>
          </c:tx>
          <c:spPr>
            <a:solidFill>
              <a:srgbClr val="88C2BB"/>
            </a:solidFill>
            <a:ln>
              <a:noFill/>
            </a:ln>
            <a:effectLst/>
          </c:spPr>
          <c:invertIfNegative val="0"/>
          <c:cat>
            <c:numRef>
              <c:f>工作表1!$B$19:$B$22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5.0</c:v>
                </c:pt>
                <c:pt idx="3">
                  <c:v>10.0</c:v>
                </c:pt>
              </c:numCache>
            </c:numRef>
          </c:cat>
          <c:val>
            <c:numRef>
              <c:f>工作表1!$H$37:$H$40</c:f>
              <c:numCache>
                <c:formatCode>General</c:formatCode>
                <c:ptCount val="4"/>
                <c:pt idx="0">
                  <c:v>4.28</c:v>
                </c:pt>
                <c:pt idx="1">
                  <c:v>4.319999999999998</c:v>
                </c:pt>
                <c:pt idx="2">
                  <c:v>4.359999999999998</c:v>
                </c:pt>
                <c:pt idx="3">
                  <c:v>5.02</c:v>
                </c:pt>
              </c:numCache>
            </c:numRef>
          </c:val>
        </c:ser>
        <c:ser>
          <c:idx val="1"/>
          <c:order val="1"/>
          <c:tx>
            <c:v>Serial/single</c:v>
          </c:tx>
          <c:spPr>
            <a:solidFill>
              <a:srgbClr val="53706F"/>
            </a:solidFill>
            <a:ln>
              <a:noFill/>
            </a:ln>
            <a:effectLst/>
          </c:spPr>
          <c:invertIfNegative val="0"/>
          <c:cat>
            <c:numRef>
              <c:f>工作表1!$B$19:$B$22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5.0</c:v>
                </c:pt>
                <c:pt idx="3">
                  <c:v>10.0</c:v>
                </c:pt>
              </c:numCache>
            </c:numRef>
          </c:cat>
          <c:val>
            <c:numRef>
              <c:f>工作表1!$H$44:$H$47</c:f>
              <c:numCache>
                <c:formatCode>General</c:formatCode>
                <c:ptCount val="4"/>
                <c:pt idx="0">
                  <c:v>8.84</c:v>
                </c:pt>
                <c:pt idx="1">
                  <c:v>9.93</c:v>
                </c:pt>
                <c:pt idx="2">
                  <c:v>13.16</c:v>
                </c:pt>
                <c:pt idx="3">
                  <c:v>18.56</c:v>
                </c:pt>
              </c:numCache>
            </c:numRef>
          </c:val>
        </c:ser>
        <c:ser>
          <c:idx val="2"/>
          <c:order val="2"/>
          <c:tx>
            <c:v>Parallel/duplicated</c:v>
          </c:tx>
          <c:spPr>
            <a:solidFill>
              <a:srgbClr val="C25151"/>
            </a:solidFill>
            <a:ln>
              <a:noFill/>
            </a:ln>
            <a:effectLst/>
          </c:spPr>
          <c:invertIfNegative val="0"/>
          <c:val>
            <c:numRef>
              <c:f>工作表1!$H$51:$H$54</c:f>
              <c:numCache>
                <c:formatCode>General</c:formatCode>
                <c:ptCount val="4"/>
                <c:pt idx="0">
                  <c:v>8.84</c:v>
                </c:pt>
                <c:pt idx="1">
                  <c:v>8.88</c:v>
                </c:pt>
                <c:pt idx="2">
                  <c:v>9.0</c:v>
                </c:pt>
                <c:pt idx="3">
                  <c:v>11.2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38297728"/>
        <c:axId val="2135706320"/>
      </c:barChart>
      <c:catAx>
        <c:axId val="21382977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</a:t>
                </a:r>
                <a:r>
                  <a:rPr lang="zh-CN"/>
                  <a:t> </a:t>
                </a:r>
                <a:r>
                  <a:rPr lang="en-US"/>
                  <a:t>of</a:t>
                </a:r>
                <a:r>
                  <a:rPr lang="zh-CN"/>
                  <a:t> </a:t>
                </a:r>
                <a:r>
                  <a:rPr lang="en-US"/>
                  <a:t>Queries</a:t>
                </a:r>
                <a:endParaRPr lang="zh-CN"/>
              </a:p>
            </c:rich>
          </c:tx>
          <c:layout>
            <c:manualLayout>
              <c:xMode val="edge"/>
              <c:yMode val="edge"/>
              <c:x val="0.376878960695198"/>
              <c:y val="0.89064617208672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35706320"/>
        <c:crosses val="autoZero"/>
        <c:auto val="1"/>
        <c:lblAlgn val="ctr"/>
        <c:lblOffset val="100"/>
        <c:noMultiLvlLbl val="0"/>
      </c:catAx>
      <c:valAx>
        <c:axId val="2135706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Ti</a:t>
                </a:r>
                <a:r>
                  <a:rPr lang="en-US" altLang="zh-CN" dirty="0" smtClean="0"/>
                  <a:t>m</a:t>
                </a:r>
                <a:r>
                  <a:rPr lang="en-US" dirty="0" smtClean="0"/>
                  <a:t>e(Sec</a:t>
                </a:r>
                <a:r>
                  <a:rPr lang="en-US" dirty="0"/>
                  <a:t>)</a:t>
                </a:r>
                <a:endParaRPr lang="zh-CN" dirty="0"/>
              </a:p>
            </c:rich>
          </c:tx>
          <c:layout>
            <c:manualLayout>
              <c:xMode val="edge"/>
              <c:yMode val="edge"/>
              <c:x val="0.0542887189435905"/>
              <c:y val="0.42533255179992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38297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592077750981792"/>
          <c:y val="0.073448969602885"/>
          <c:w val="0.846905684390474"/>
          <c:h val="0.15789825528668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79530524900791"/>
          <c:y val="0.219808965956948"/>
          <c:w val="0.695113807495374"/>
          <c:h val="0.594471108005662"/>
        </c:manualLayout>
      </c:layout>
      <c:barChart>
        <c:barDir val="col"/>
        <c:grouping val="clustered"/>
        <c:varyColors val="0"/>
        <c:ser>
          <c:idx val="0"/>
          <c:order val="0"/>
          <c:tx>
            <c:v>ParQ (Parallel/one-graph)</c:v>
          </c:tx>
          <c:spPr>
            <a:solidFill>
              <a:srgbClr val="8CC2BB"/>
            </a:solidFill>
            <a:ln>
              <a:solidFill>
                <a:srgbClr val="8CC2BB"/>
              </a:solidFill>
            </a:ln>
            <a:effectLst/>
          </c:spPr>
          <c:invertIfNegative val="0"/>
          <c:cat>
            <c:numRef>
              <c:f>工作表1!$B$19:$B$22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5.0</c:v>
                </c:pt>
                <c:pt idx="3">
                  <c:v>10.0</c:v>
                </c:pt>
              </c:numCache>
            </c:numRef>
          </c:cat>
          <c:val>
            <c:numRef>
              <c:f>工作表1!$L$37:$L$40</c:f>
              <c:numCache>
                <c:formatCode>General</c:formatCode>
                <c:ptCount val="4"/>
                <c:pt idx="0">
                  <c:v>1.94</c:v>
                </c:pt>
                <c:pt idx="1">
                  <c:v>2.21</c:v>
                </c:pt>
                <c:pt idx="2">
                  <c:v>4.93</c:v>
                </c:pt>
                <c:pt idx="3">
                  <c:v>6.07</c:v>
                </c:pt>
              </c:numCache>
            </c:numRef>
          </c:val>
        </c:ser>
        <c:ser>
          <c:idx val="1"/>
          <c:order val="1"/>
          <c:tx>
            <c:v>Serial/one-graph</c:v>
          </c:tx>
          <c:spPr>
            <a:solidFill>
              <a:srgbClr val="55706F"/>
            </a:solidFill>
            <a:ln>
              <a:solidFill>
                <a:srgbClr val="55706F"/>
              </a:solidFill>
            </a:ln>
            <a:effectLst/>
          </c:spPr>
          <c:invertIfNegative val="0"/>
          <c:cat>
            <c:numRef>
              <c:f>工作表1!$B$19:$B$22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5.0</c:v>
                </c:pt>
                <c:pt idx="3">
                  <c:v>10.0</c:v>
                </c:pt>
              </c:numCache>
            </c:numRef>
          </c:cat>
          <c:val>
            <c:numRef>
              <c:f>工作表1!$L$44:$L$47</c:f>
              <c:numCache>
                <c:formatCode>General</c:formatCode>
                <c:ptCount val="4"/>
                <c:pt idx="0">
                  <c:v>2.05</c:v>
                </c:pt>
                <c:pt idx="1">
                  <c:v>5.07</c:v>
                </c:pt>
                <c:pt idx="2">
                  <c:v>11.05</c:v>
                </c:pt>
                <c:pt idx="3">
                  <c:v>16.88</c:v>
                </c:pt>
              </c:numCache>
            </c:numRef>
          </c:val>
        </c:ser>
        <c:ser>
          <c:idx val="2"/>
          <c:order val="2"/>
          <c:tx>
            <c:v>Parallel/multi-graph</c:v>
          </c:tx>
          <c:spPr>
            <a:solidFill>
              <a:srgbClr val="BE524F"/>
            </a:solidFill>
            <a:ln>
              <a:solidFill>
                <a:srgbClr val="BE524F"/>
              </a:solidFill>
            </a:ln>
            <a:effectLst/>
          </c:spPr>
          <c:invertIfNegative val="0"/>
          <c:val>
            <c:numRef>
              <c:f>工作表1!$L$51:$L$54</c:f>
              <c:numCache>
                <c:formatCode>General</c:formatCode>
                <c:ptCount val="4"/>
                <c:pt idx="0">
                  <c:v>2.05</c:v>
                </c:pt>
                <c:pt idx="1">
                  <c:v>3.01</c:v>
                </c:pt>
                <c:pt idx="2">
                  <c:v>5.01</c:v>
                </c:pt>
                <c:pt idx="3">
                  <c:v>19.0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2147336960"/>
        <c:axId val="-2144376384"/>
      </c:barChart>
      <c:catAx>
        <c:axId val="-21473369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</a:t>
                </a:r>
                <a:r>
                  <a:rPr lang="zh-CN"/>
                  <a:t> </a:t>
                </a:r>
                <a:r>
                  <a:rPr lang="en-US"/>
                  <a:t>of</a:t>
                </a:r>
                <a:r>
                  <a:rPr lang="zh-CN"/>
                  <a:t> </a:t>
                </a:r>
                <a:r>
                  <a:rPr lang="en-US"/>
                  <a:t>Queries</a:t>
                </a:r>
                <a:endParaRPr lang="zh-CN"/>
              </a:p>
            </c:rich>
          </c:tx>
          <c:layout>
            <c:manualLayout>
              <c:xMode val="edge"/>
              <c:yMode val="edge"/>
              <c:x val="0.380324934901458"/>
              <c:y val="0.89064607630952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2144376384"/>
        <c:crosses val="autoZero"/>
        <c:auto val="1"/>
        <c:lblAlgn val="ctr"/>
        <c:lblOffset val="100"/>
        <c:noMultiLvlLbl val="0"/>
      </c:catAx>
      <c:valAx>
        <c:axId val="-2144376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Tine(Sec)</a:t>
                </a:r>
                <a:endParaRPr lang="zh-CN"/>
              </a:p>
            </c:rich>
          </c:tx>
          <c:layout>
            <c:manualLayout>
              <c:xMode val="edge"/>
              <c:yMode val="edge"/>
              <c:x val="0.0477710492496707"/>
              <c:y val="0.4041605764490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2147336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3330714490504"/>
          <c:y val="0.026271608525871"/>
          <c:w val="0.801300354258934"/>
          <c:h val="0.13776692910207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79530524900791"/>
          <c:y val="0.219808965956948"/>
          <c:w val="0.695113807495374"/>
          <c:h val="0.594471108005662"/>
        </c:manualLayout>
      </c:layout>
      <c:barChart>
        <c:barDir val="col"/>
        <c:grouping val="clustered"/>
        <c:varyColors val="0"/>
        <c:ser>
          <c:idx val="0"/>
          <c:order val="0"/>
          <c:tx>
            <c:v>ParQ (Parallel/one-graph)</c:v>
          </c:tx>
          <c:spPr>
            <a:solidFill>
              <a:srgbClr val="8CC2BB"/>
            </a:solidFill>
            <a:ln>
              <a:solidFill>
                <a:srgbClr val="8CC2BB"/>
              </a:solidFill>
            </a:ln>
            <a:effectLst/>
          </c:spPr>
          <c:invertIfNegative val="0"/>
          <c:cat>
            <c:numRef>
              <c:f>工作表1!$B$19:$B$22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5.0</c:v>
                </c:pt>
                <c:pt idx="3">
                  <c:v>10.0</c:v>
                </c:pt>
              </c:numCache>
            </c:numRef>
          </c:cat>
          <c:val>
            <c:numRef>
              <c:f>工作表1!$L$37:$L$40</c:f>
              <c:numCache>
                <c:formatCode>General</c:formatCode>
                <c:ptCount val="4"/>
                <c:pt idx="0">
                  <c:v>1.94</c:v>
                </c:pt>
                <c:pt idx="1">
                  <c:v>2.21</c:v>
                </c:pt>
                <c:pt idx="2">
                  <c:v>4.93</c:v>
                </c:pt>
                <c:pt idx="3">
                  <c:v>6.07</c:v>
                </c:pt>
              </c:numCache>
            </c:numRef>
          </c:val>
        </c:ser>
        <c:ser>
          <c:idx val="1"/>
          <c:order val="1"/>
          <c:tx>
            <c:v>Serial/one-graph</c:v>
          </c:tx>
          <c:spPr>
            <a:solidFill>
              <a:srgbClr val="55706F">
                <a:alpha val="6000"/>
              </a:srgbClr>
            </a:solidFill>
            <a:ln>
              <a:noFill/>
            </a:ln>
            <a:effectLst/>
          </c:spPr>
          <c:invertIfNegative val="0"/>
          <c:cat>
            <c:numRef>
              <c:f>工作表1!$B$19:$B$22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5.0</c:v>
                </c:pt>
                <c:pt idx="3">
                  <c:v>10.0</c:v>
                </c:pt>
              </c:numCache>
            </c:numRef>
          </c:cat>
          <c:val>
            <c:numRef>
              <c:f>工作表1!$L$44:$L$47</c:f>
              <c:numCache>
                <c:formatCode>General</c:formatCode>
                <c:ptCount val="4"/>
                <c:pt idx="0">
                  <c:v>2.05</c:v>
                </c:pt>
                <c:pt idx="1">
                  <c:v>5.07</c:v>
                </c:pt>
                <c:pt idx="2">
                  <c:v>11.05</c:v>
                </c:pt>
                <c:pt idx="3">
                  <c:v>16.88</c:v>
                </c:pt>
              </c:numCache>
            </c:numRef>
          </c:val>
        </c:ser>
        <c:ser>
          <c:idx val="2"/>
          <c:order val="2"/>
          <c:tx>
            <c:v>Parallel/multi-graph</c:v>
          </c:tx>
          <c:spPr>
            <a:solidFill>
              <a:srgbClr val="BE524F"/>
            </a:solidFill>
            <a:ln>
              <a:solidFill>
                <a:srgbClr val="BE524F"/>
              </a:solidFill>
            </a:ln>
            <a:effectLst/>
          </c:spPr>
          <c:invertIfNegative val="0"/>
          <c:val>
            <c:numRef>
              <c:f>工作表1!$L$51:$L$54</c:f>
              <c:numCache>
                <c:formatCode>General</c:formatCode>
                <c:ptCount val="4"/>
                <c:pt idx="0">
                  <c:v>2.05</c:v>
                </c:pt>
                <c:pt idx="1">
                  <c:v>3.01</c:v>
                </c:pt>
                <c:pt idx="2">
                  <c:v>5.01</c:v>
                </c:pt>
                <c:pt idx="3">
                  <c:v>19.0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35709552"/>
        <c:axId val="2135540384"/>
      </c:barChart>
      <c:catAx>
        <c:axId val="213570955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</a:t>
                </a:r>
                <a:r>
                  <a:rPr lang="zh-CN"/>
                  <a:t> </a:t>
                </a:r>
                <a:r>
                  <a:rPr lang="en-US"/>
                  <a:t>of</a:t>
                </a:r>
                <a:r>
                  <a:rPr lang="zh-CN"/>
                  <a:t> </a:t>
                </a:r>
                <a:r>
                  <a:rPr lang="en-US"/>
                  <a:t>Queries</a:t>
                </a:r>
                <a:endParaRPr lang="zh-CN"/>
              </a:p>
            </c:rich>
          </c:tx>
          <c:layout>
            <c:manualLayout>
              <c:xMode val="edge"/>
              <c:yMode val="edge"/>
              <c:x val="0.380324934901458"/>
              <c:y val="0.89064607630952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35540384"/>
        <c:crosses val="autoZero"/>
        <c:auto val="1"/>
        <c:lblAlgn val="ctr"/>
        <c:lblOffset val="100"/>
        <c:noMultiLvlLbl val="0"/>
      </c:catAx>
      <c:valAx>
        <c:axId val="2135540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Tine(Sec)</a:t>
                </a:r>
                <a:endParaRPr lang="zh-CN"/>
              </a:p>
            </c:rich>
          </c:tx>
          <c:layout>
            <c:manualLayout>
              <c:xMode val="edge"/>
              <c:yMode val="edge"/>
              <c:x val="0.0477710492496707"/>
              <c:y val="0.4041605764490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357095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3330714490504"/>
          <c:y val="0.026271608525871"/>
          <c:w val="0.801300354258934"/>
          <c:h val="0.13776692910207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 sz="2000"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79530524900791"/>
          <c:y val="0.219808965956948"/>
          <c:w val="0.695113807495374"/>
          <c:h val="0.594471108005662"/>
        </c:manualLayout>
      </c:layout>
      <c:barChart>
        <c:barDir val="col"/>
        <c:grouping val="clustered"/>
        <c:varyColors val="0"/>
        <c:ser>
          <c:idx val="0"/>
          <c:order val="0"/>
          <c:tx>
            <c:v>ParQ (Parallel/one-graph)</c:v>
          </c:tx>
          <c:spPr>
            <a:solidFill>
              <a:srgbClr val="8CC2BB"/>
            </a:solidFill>
            <a:ln>
              <a:solidFill>
                <a:srgbClr val="8CC2BB"/>
              </a:solidFill>
            </a:ln>
            <a:effectLst/>
          </c:spPr>
          <c:invertIfNegative val="0"/>
          <c:cat>
            <c:numRef>
              <c:f>工作表1!$B$19:$B$22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5.0</c:v>
                </c:pt>
                <c:pt idx="3">
                  <c:v>10.0</c:v>
                </c:pt>
              </c:numCache>
            </c:numRef>
          </c:cat>
          <c:val>
            <c:numRef>
              <c:f>工作表1!$L$37:$L$40</c:f>
              <c:numCache>
                <c:formatCode>General</c:formatCode>
                <c:ptCount val="4"/>
                <c:pt idx="0">
                  <c:v>1.94</c:v>
                </c:pt>
                <c:pt idx="1">
                  <c:v>2.21</c:v>
                </c:pt>
                <c:pt idx="2">
                  <c:v>4.93</c:v>
                </c:pt>
                <c:pt idx="3">
                  <c:v>6.07</c:v>
                </c:pt>
              </c:numCache>
            </c:numRef>
          </c:val>
        </c:ser>
        <c:ser>
          <c:idx val="1"/>
          <c:order val="1"/>
          <c:tx>
            <c:v>Serial/one-graph</c:v>
          </c:tx>
          <c:spPr>
            <a:solidFill>
              <a:srgbClr val="55706F"/>
            </a:solidFill>
            <a:ln>
              <a:solidFill>
                <a:srgbClr val="55706F"/>
              </a:solidFill>
            </a:ln>
            <a:effectLst/>
          </c:spPr>
          <c:invertIfNegative val="0"/>
          <c:cat>
            <c:numRef>
              <c:f>工作表1!$B$19:$B$22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5.0</c:v>
                </c:pt>
                <c:pt idx="3">
                  <c:v>10.0</c:v>
                </c:pt>
              </c:numCache>
            </c:numRef>
          </c:cat>
          <c:val>
            <c:numRef>
              <c:f>工作表1!$L$44:$L$47</c:f>
              <c:numCache>
                <c:formatCode>General</c:formatCode>
                <c:ptCount val="4"/>
                <c:pt idx="0">
                  <c:v>2.05</c:v>
                </c:pt>
                <c:pt idx="1">
                  <c:v>5.07</c:v>
                </c:pt>
                <c:pt idx="2">
                  <c:v>11.05</c:v>
                </c:pt>
                <c:pt idx="3">
                  <c:v>16.88</c:v>
                </c:pt>
              </c:numCache>
            </c:numRef>
          </c:val>
        </c:ser>
        <c:ser>
          <c:idx val="2"/>
          <c:order val="2"/>
          <c:tx>
            <c:v>Parallel/multi-graph</c:v>
          </c:tx>
          <c:spPr>
            <a:solidFill>
              <a:srgbClr val="BE524F">
                <a:alpha val="5000"/>
              </a:srgbClr>
            </a:solidFill>
            <a:ln>
              <a:noFill/>
            </a:ln>
            <a:effectLst/>
          </c:spPr>
          <c:invertIfNegative val="0"/>
          <c:val>
            <c:numRef>
              <c:f>工作表1!$L$51:$L$54</c:f>
              <c:numCache>
                <c:formatCode>General</c:formatCode>
                <c:ptCount val="4"/>
                <c:pt idx="0">
                  <c:v>2.05</c:v>
                </c:pt>
                <c:pt idx="1">
                  <c:v>3.01</c:v>
                </c:pt>
                <c:pt idx="2">
                  <c:v>5.01</c:v>
                </c:pt>
                <c:pt idx="3">
                  <c:v>19.0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34225024"/>
        <c:axId val="2134210096"/>
      </c:barChart>
      <c:catAx>
        <c:axId val="21342250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Number</a:t>
                </a:r>
                <a:r>
                  <a:rPr lang="zh-CN" dirty="0"/>
                  <a:t> </a:t>
                </a:r>
                <a:r>
                  <a:rPr lang="en-US" dirty="0"/>
                  <a:t>of</a:t>
                </a:r>
                <a:r>
                  <a:rPr lang="zh-CN" dirty="0"/>
                  <a:t> </a:t>
                </a:r>
                <a:r>
                  <a:rPr lang="en-US" dirty="0"/>
                  <a:t>Queries</a:t>
                </a:r>
                <a:endParaRPr lang="zh-CN" dirty="0"/>
              </a:p>
            </c:rich>
          </c:tx>
          <c:layout>
            <c:manualLayout>
              <c:xMode val="edge"/>
              <c:yMode val="edge"/>
              <c:x val="0.380324934901458"/>
              <c:y val="0.89064607630952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34210096"/>
        <c:crosses val="autoZero"/>
        <c:auto val="1"/>
        <c:lblAlgn val="ctr"/>
        <c:lblOffset val="100"/>
        <c:noMultiLvlLbl val="0"/>
      </c:catAx>
      <c:valAx>
        <c:axId val="2134210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Ti</a:t>
                </a:r>
                <a:r>
                  <a:rPr lang="en-US" altLang="zh-CN" dirty="0" smtClean="0"/>
                  <a:t>m</a:t>
                </a:r>
                <a:r>
                  <a:rPr lang="en-US" dirty="0" smtClean="0"/>
                  <a:t>e(Sec</a:t>
                </a:r>
                <a:r>
                  <a:rPr lang="en-US" dirty="0"/>
                  <a:t>)</a:t>
                </a:r>
                <a:endParaRPr lang="zh-CN" dirty="0"/>
              </a:p>
            </c:rich>
          </c:tx>
          <c:layout>
            <c:manualLayout>
              <c:xMode val="edge"/>
              <c:yMode val="edge"/>
              <c:x val="0.0477710492496707"/>
              <c:y val="0.4041605764490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34225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3330714490504"/>
          <c:y val="0.026271608525871"/>
          <c:w val="0.801300354258934"/>
          <c:h val="0.13776692910207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 sz="2000"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93485817765046"/>
          <c:y val="0.18029094954505"/>
          <c:w val="0.679458047549514"/>
          <c:h val="0.645049396915273"/>
        </c:manualLayout>
      </c:layout>
      <c:barChart>
        <c:barDir val="col"/>
        <c:grouping val="clustered"/>
        <c:varyColors val="0"/>
        <c:ser>
          <c:idx val="0"/>
          <c:order val="0"/>
          <c:tx>
            <c:v>ParQ (Parallel/one-graph)</c:v>
          </c:tx>
          <c:spPr>
            <a:solidFill>
              <a:srgbClr val="8CC2BB"/>
            </a:solidFill>
            <a:ln>
              <a:solidFill>
                <a:srgbClr val="8CC2BB"/>
              </a:solidFill>
            </a:ln>
            <a:effectLst/>
          </c:spPr>
          <c:invertIfNegative val="0"/>
          <c:cat>
            <c:numRef>
              <c:f>工作表1!$B$36:$B$39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5.0</c:v>
                </c:pt>
                <c:pt idx="3">
                  <c:v>10.0</c:v>
                </c:pt>
              </c:numCache>
            </c:numRef>
          </c:cat>
          <c:val>
            <c:numRef>
              <c:f>工作表1!$I$37:$I$40</c:f>
              <c:numCache>
                <c:formatCode>General</c:formatCode>
                <c:ptCount val="4"/>
                <c:pt idx="0">
                  <c:v>146.0</c:v>
                </c:pt>
                <c:pt idx="1">
                  <c:v>295.0</c:v>
                </c:pt>
                <c:pt idx="2">
                  <c:v>745.0</c:v>
                </c:pt>
                <c:pt idx="3">
                  <c:v>1490.0</c:v>
                </c:pt>
              </c:numCache>
            </c:numRef>
          </c:val>
        </c:ser>
        <c:ser>
          <c:idx val="1"/>
          <c:order val="1"/>
          <c:tx>
            <c:v>Serial/one-graph</c:v>
          </c:tx>
          <c:spPr>
            <a:solidFill>
              <a:srgbClr val="55706F"/>
            </a:solidFill>
            <a:ln>
              <a:solidFill>
                <a:srgbClr val="8CC2BB"/>
              </a:solidFill>
            </a:ln>
            <a:effectLst/>
          </c:spPr>
          <c:invertIfNegative val="0"/>
          <c:cat>
            <c:numRef>
              <c:f>工作表1!$B$36:$B$39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5.0</c:v>
                </c:pt>
                <c:pt idx="3">
                  <c:v>10.0</c:v>
                </c:pt>
              </c:numCache>
            </c:numRef>
          </c:cat>
          <c:val>
            <c:numRef>
              <c:f>工作表1!$I$44:$I$47</c:f>
              <c:numCache>
                <c:formatCode>General</c:formatCode>
                <c:ptCount val="4"/>
                <c:pt idx="0">
                  <c:v>171.0</c:v>
                </c:pt>
                <c:pt idx="1">
                  <c:v>203.0</c:v>
                </c:pt>
                <c:pt idx="2">
                  <c:v>253.0</c:v>
                </c:pt>
                <c:pt idx="3">
                  <c:v>302.0</c:v>
                </c:pt>
              </c:numCache>
            </c:numRef>
          </c:val>
        </c:ser>
        <c:ser>
          <c:idx val="2"/>
          <c:order val="2"/>
          <c:tx>
            <c:v>Parallel/multi-graph</c:v>
          </c:tx>
          <c:spPr>
            <a:solidFill>
              <a:srgbClr val="BE524F"/>
            </a:solidFill>
            <a:ln>
              <a:solidFill>
                <a:srgbClr val="BE524F"/>
              </a:solidFill>
            </a:ln>
            <a:effectLst/>
          </c:spPr>
          <c:invertIfNegative val="0"/>
          <c:val>
            <c:numRef>
              <c:f>工作表1!$M$51:$M$54</c:f>
              <c:numCache>
                <c:formatCode>General</c:formatCode>
                <c:ptCount val="4"/>
                <c:pt idx="0">
                  <c:v>454.0</c:v>
                </c:pt>
                <c:pt idx="1">
                  <c:v>908.0</c:v>
                </c:pt>
                <c:pt idx="2">
                  <c:v>2270.0</c:v>
                </c:pt>
                <c:pt idx="3">
                  <c:v>4540.0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34159504"/>
        <c:axId val="2134161328"/>
      </c:barChart>
      <c:catAx>
        <c:axId val="213415950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</a:t>
                </a:r>
                <a:r>
                  <a:rPr lang="zh-CN"/>
                  <a:t> </a:t>
                </a:r>
                <a:r>
                  <a:rPr lang="en-US"/>
                  <a:t>of</a:t>
                </a:r>
                <a:r>
                  <a:rPr lang="zh-CN"/>
                  <a:t> </a:t>
                </a:r>
                <a:r>
                  <a:rPr lang="en-US"/>
                  <a:t>Queries</a:t>
                </a:r>
              </a:p>
            </c:rich>
          </c:tx>
          <c:layout>
            <c:manualLayout>
              <c:xMode val="edge"/>
              <c:yMode val="edge"/>
              <c:x val="0.398403912936123"/>
              <c:y val="0.90953679534408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34161328"/>
        <c:crosses val="autoZero"/>
        <c:auto val="1"/>
        <c:lblAlgn val="ctr"/>
        <c:lblOffset val="100"/>
        <c:noMultiLvlLbl val="0"/>
      </c:catAx>
      <c:valAx>
        <c:axId val="2134161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Memory(MB)</a:t>
                </a:r>
                <a:endParaRPr lang="zh-CN" dirty="0"/>
              </a:p>
            </c:rich>
          </c:tx>
          <c:layout>
            <c:manualLayout>
              <c:xMode val="edge"/>
              <c:yMode val="edge"/>
              <c:x val="0.0221624831203974"/>
              <c:y val="0.38172300972368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34159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3595422520043"/>
          <c:y val="0.00678260118921607"/>
          <c:w val="0.826440441625178"/>
          <c:h val="0.1375389953064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93485817765046"/>
          <c:y val="0.18029094954505"/>
          <c:w val="0.679458047549514"/>
          <c:h val="0.645049396915273"/>
        </c:manualLayout>
      </c:layout>
      <c:barChart>
        <c:barDir val="col"/>
        <c:grouping val="clustered"/>
        <c:varyColors val="0"/>
        <c:ser>
          <c:idx val="0"/>
          <c:order val="0"/>
          <c:tx>
            <c:v>ParQ (Parallel/one-graph)</c:v>
          </c:tx>
          <c:spPr>
            <a:solidFill>
              <a:srgbClr val="8CC2BB"/>
            </a:solidFill>
            <a:ln>
              <a:solidFill>
                <a:srgbClr val="8CC2BB"/>
              </a:solidFill>
            </a:ln>
            <a:effectLst/>
          </c:spPr>
          <c:invertIfNegative val="0"/>
          <c:cat>
            <c:numRef>
              <c:f>工作表1!$B$36:$B$39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5.0</c:v>
                </c:pt>
                <c:pt idx="3">
                  <c:v>10.0</c:v>
                </c:pt>
              </c:numCache>
            </c:numRef>
          </c:cat>
          <c:val>
            <c:numRef>
              <c:f>工作表1!$I$37:$I$40</c:f>
              <c:numCache>
                <c:formatCode>General</c:formatCode>
                <c:ptCount val="4"/>
                <c:pt idx="0">
                  <c:v>146.0</c:v>
                </c:pt>
                <c:pt idx="1">
                  <c:v>295.0</c:v>
                </c:pt>
                <c:pt idx="2">
                  <c:v>745.0</c:v>
                </c:pt>
                <c:pt idx="3">
                  <c:v>1490.0</c:v>
                </c:pt>
              </c:numCache>
            </c:numRef>
          </c:val>
        </c:ser>
        <c:ser>
          <c:idx val="1"/>
          <c:order val="1"/>
          <c:tx>
            <c:v>Serial/one-graph</c:v>
          </c:tx>
          <c:spPr>
            <a:solidFill>
              <a:srgbClr val="55706F">
                <a:alpha val="10000"/>
              </a:srgbClr>
            </a:solidFill>
            <a:ln>
              <a:noFill/>
            </a:ln>
            <a:effectLst/>
          </c:spPr>
          <c:invertIfNegative val="0"/>
          <c:cat>
            <c:numRef>
              <c:f>工作表1!$B$36:$B$39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5.0</c:v>
                </c:pt>
                <c:pt idx="3">
                  <c:v>10.0</c:v>
                </c:pt>
              </c:numCache>
            </c:numRef>
          </c:cat>
          <c:val>
            <c:numRef>
              <c:f>工作表1!$I$44:$I$47</c:f>
              <c:numCache>
                <c:formatCode>General</c:formatCode>
                <c:ptCount val="4"/>
                <c:pt idx="0">
                  <c:v>171.0</c:v>
                </c:pt>
                <c:pt idx="1">
                  <c:v>203.0</c:v>
                </c:pt>
                <c:pt idx="2">
                  <c:v>253.0</c:v>
                </c:pt>
                <c:pt idx="3">
                  <c:v>302.0</c:v>
                </c:pt>
              </c:numCache>
            </c:numRef>
          </c:val>
        </c:ser>
        <c:ser>
          <c:idx val="2"/>
          <c:order val="2"/>
          <c:tx>
            <c:v>Parallel/multi-graph</c:v>
          </c:tx>
          <c:spPr>
            <a:solidFill>
              <a:srgbClr val="BE524F"/>
            </a:solidFill>
            <a:ln>
              <a:solidFill>
                <a:srgbClr val="BE524F"/>
              </a:solidFill>
            </a:ln>
            <a:effectLst/>
          </c:spPr>
          <c:invertIfNegative val="0"/>
          <c:val>
            <c:numRef>
              <c:f>工作表1!$M$51:$M$54</c:f>
              <c:numCache>
                <c:formatCode>General</c:formatCode>
                <c:ptCount val="4"/>
                <c:pt idx="0">
                  <c:v>454.0</c:v>
                </c:pt>
                <c:pt idx="1">
                  <c:v>908.0</c:v>
                </c:pt>
                <c:pt idx="2">
                  <c:v>2270.0</c:v>
                </c:pt>
                <c:pt idx="3">
                  <c:v>4540.0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34118368"/>
        <c:axId val="2134115216"/>
      </c:barChart>
      <c:catAx>
        <c:axId val="21341183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</a:t>
                </a:r>
                <a:r>
                  <a:rPr lang="zh-CN"/>
                  <a:t> </a:t>
                </a:r>
                <a:r>
                  <a:rPr lang="en-US"/>
                  <a:t>of</a:t>
                </a:r>
                <a:r>
                  <a:rPr lang="zh-CN"/>
                  <a:t> </a:t>
                </a:r>
                <a:r>
                  <a:rPr lang="en-US"/>
                  <a:t>Queries</a:t>
                </a:r>
              </a:p>
            </c:rich>
          </c:tx>
          <c:layout>
            <c:manualLayout>
              <c:xMode val="edge"/>
              <c:yMode val="edge"/>
              <c:x val="0.398403912936123"/>
              <c:y val="0.90953679534408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34115216"/>
        <c:crosses val="autoZero"/>
        <c:auto val="1"/>
        <c:lblAlgn val="ctr"/>
        <c:lblOffset val="100"/>
        <c:noMultiLvlLbl val="0"/>
      </c:catAx>
      <c:valAx>
        <c:axId val="2134115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Memory(MB)</a:t>
                </a:r>
                <a:endParaRPr lang="zh-CN" dirty="0"/>
              </a:p>
            </c:rich>
          </c:tx>
          <c:layout>
            <c:manualLayout>
              <c:xMode val="edge"/>
              <c:yMode val="edge"/>
              <c:x val="0.0221624831203974"/>
              <c:y val="0.38172300972368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34118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3595422520043"/>
          <c:y val="0.00678260118921607"/>
          <c:w val="0.826440441625178"/>
          <c:h val="0.1375389953064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 sz="2000"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93485817765046"/>
          <c:y val="0.18029094954505"/>
          <c:w val="0.679458047549514"/>
          <c:h val="0.645049396915273"/>
        </c:manualLayout>
      </c:layout>
      <c:barChart>
        <c:barDir val="col"/>
        <c:grouping val="clustered"/>
        <c:varyColors val="0"/>
        <c:ser>
          <c:idx val="0"/>
          <c:order val="0"/>
          <c:tx>
            <c:v>ParQ (Parallel/one-graph)</c:v>
          </c:tx>
          <c:spPr>
            <a:solidFill>
              <a:srgbClr val="8CC2BB"/>
            </a:solidFill>
            <a:ln>
              <a:solidFill>
                <a:srgbClr val="8CC2BB"/>
              </a:solidFill>
            </a:ln>
            <a:effectLst/>
          </c:spPr>
          <c:invertIfNegative val="0"/>
          <c:cat>
            <c:numRef>
              <c:f>工作表1!$B$36:$B$39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5.0</c:v>
                </c:pt>
                <c:pt idx="3">
                  <c:v>10.0</c:v>
                </c:pt>
              </c:numCache>
            </c:numRef>
          </c:cat>
          <c:val>
            <c:numRef>
              <c:f>工作表1!$I$37:$I$40</c:f>
              <c:numCache>
                <c:formatCode>General</c:formatCode>
                <c:ptCount val="4"/>
                <c:pt idx="0">
                  <c:v>146.0</c:v>
                </c:pt>
                <c:pt idx="1">
                  <c:v>295.0</c:v>
                </c:pt>
                <c:pt idx="2">
                  <c:v>745.0</c:v>
                </c:pt>
                <c:pt idx="3">
                  <c:v>1490.0</c:v>
                </c:pt>
              </c:numCache>
            </c:numRef>
          </c:val>
        </c:ser>
        <c:ser>
          <c:idx val="1"/>
          <c:order val="1"/>
          <c:tx>
            <c:v>Serial/one-graph</c:v>
          </c:tx>
          <c:spPr>
            <a:solidFill>
              <a:srgbClr val="55706F"/>
            </a:solidFill>
            <a:ln>
              <a:solidFill>
                <a:srgbClr val="546D6D"/>
              </a:solidFill>
            </a:ln>
            <a:effectLst/>
          </c:spPr>
          <c:invertIfNegative val="0"/>
          <c:cat>
            <c:numRef>
              <c:f>工作表1!$B$36:$B$39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5.0</c:v>
                </c:pt>
                <c:pt idx="3">
                  <c:v>10.0</c:v>
                </c:pt>
              </c:numCache>
            </c:numRef>
          </c:cat>
          <c:val>
            <c:numRef>
              <c:f>工作表1!$I$44:$I$47</c:f>
              <c:numCache>
                <c:formatCode>General</c:formatCode>
                <c:ptCount val="4"/>
                <c:pt idx="0">
                  <c:v>171.0</c:v>
                </c:pt>
                <c:pt idx="1">
                  <c:v>203.0</c:v>
                </c:pt>
                <c:pt idx="2">
                  <c:v>253.0</c:v>
                </c:pt>
                <c:pt idx="3">
                  <c:v>302.0</c:v>
                </c:pt>
              </c:numCache>
            </c:numRef>
          </c:val>
        </c:ser>
        <c:ser>
          <c:idx val="2"/>
          <c:order val="2"/>
          <c:tx>
            <c:v>Parallel/multi-graph</c:v>
          </c:tx>
          <c:spPr>
            <a:solidFill>
              <a:srgbClr val="BE524F">
                <a:alpha val="5000"/>
              </a:srgbClr>
            </a:solidFill>
            <a:ln>
              <a:noFill/>
            </a:ln>
            <a:effectLst/>
          </c:spPr>
          <c:invertIfNegative val="0"/>
          <c:val>
            <c:numRef>
              <c:f>工作表1!$M$51:$M$54</c:f>
              <c:numCache>
                <c:formatCode>General</c:formatCode>
                <c:ptCount val="4"/>
                <c:pt idx="0">
                  <c:v>454.0</c:v>
                </c:pt>
                <c:pt idx="1">
                  <c:v>908.0</c:v>
                </c:pt>
                <c:pt idx="2">
                  <c:v>2270.0</c:v>
                </c:pt>
                <c:pt idx="3">
                  <c:v>4540.0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33933984"/>
        <c:axId val="2133915376"/>
      </c:barChart>
      <c:catAx>
        <c:axId val="21339339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</a:t>
                </a:r>
                <a:r>
                  <a:rPr lang="zh-CN"/>
                  <a:t> </a:t>
                </a:r>
                <a:r>
                  <a:rPr lang="en-US"/>
                  <a:t>of</a:t>
                </a:r>
                <a:r>
                  <a:rPr lang="zh-CN"/>
                  <a:t> </a:t>
                </a:r>
                <a:r>
                  <a:rPr lang="en-US"/>
                  <a:t>Queries</a:t>
                </a:r>
              </a:p>
            </c:rich>
          </c:tx>
          <c:layout>
            <c:manualLayout>
              <c:xMode val="edge"/>
              <c:yMode val="edge"/>
              <c:x val="0.398403912936123"/>
              <c:y val="0.90953679534408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33915376"/>
        <c:crosses val="autoZero"/>
        <c:auto val="1"/>
        <c:lblAlgn val="ctr"/>
        <c:lblOffset val="100"/>
        <c:noMultiLvlLbl val="0"/>
      </c:catAx>
      <c:valAx>
        <c:axId val="2133915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Memory(MB)</a:t>
                </a:r>
                <a:endParaRPr lang="zh-CN" dirty="0"/>
              </a:p>
            </c:rich>
          </c:tx>
          <c:layout>
            <c:manualLayout>
              <c:xMode val="edge"/>
              <c:yMode val="edge"/>
              <c:x val="0.0221624831203974"/>
              <c:y val="0.38172300972368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33933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3595422520043"/>
          <c:y val="0.00678260118921607"/>
          <c:w val="0.826440441625178"/>
          <c:h val="0.1375389953064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 sz="2000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AC88D8-A90D-E14B-BC7B-566B3AD69247}" type="datetimeFigureOut">
              <a:rPr kumimoji="1" lang="zh-CN" altLang="en-US" smtClean="0"/>
              <a:t>16/7/12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61C613-CD91-B247-B506-C653F121AB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022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685D73-B306-B84A-9049-84A258452DB5}" type="datetimeFigureOut">
              <a:rPr kumimoji="1" lang="zh-CN" altLang="en-US" smtClean="0"/>
              <a:t>16/7/12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F5FB8-AE67-504C-BE9E-6DD0D59F23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92794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87478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future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of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big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data...</a:t>
            </a:r>
            <a:endParaRPr kumimoji="1" lang="zh-CN" altLang="en-US" dirty="0" smtClean="0"/>
          </a:p>
          <a:p>
            <a:endParaRPr kumimoji="1" lang="zh-CN" altLang="en-US" baseline="0" dirty="0" smtClean="0"/>
          </a:p>
          <a:p>
            <a:r>
              <a:rPr kumimoji="1" lang="en-US" altLang="zh-CN" baseline="0" dirty="0" smtClean="0"/>
              <a:t>Nowadays,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the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volumes...</a:t>
            </a:r>
            <a:endParaRPr kumimoji="1" lang="zh-CN" altLang="en-US" baseline="0" dirty="0" smtClean="0"/>
          </a:p>
          <a:p>
            <a:endParaRPr kumimoji="1" lang="zh-CN" altLang="en-US" baseline="0" dirty="0" smtClean="0"/>
          </a:p>
          <a:p>
            <a:r>
              <a:rPr kumimoji="1" lang="en-US" altLang="zh-CN" baseline="0" dirty="0" smtClean="0"/>
              <a:t>Some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knowledge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base,</a:t>
            </a:r>
            <a:r>
              <a:rPr kumimoji="1" lang="zh-CN" altLang="en-US" baseline="0" dirty="0" smtClean="0"/>
              <a:t> </a:t>
            </a:r>
          </a:p>
          <a:p>
            <a:endParaRPr kumimoji="1" lang="zh-CN" altLang="en-US" baseline="0" dirty="0" smtClean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7942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--It has become a challenge that how to find wanted information from it.</a:t>
            </a:r>
            <a:r>
              <a:rPr lang="zh-CN" altLang="zh-CN" dirty="0" smtClean="0">
                <a:effectLst/>
              </a:rPr>
              <a:t> </a:t>
            </a:r>
            <a:endParaRPr lang="zh-CN" altLang="en-US" dirty="0" smtClean="0">
              <a:effectLst/>
            </a:endParaRPr>
          </a:p>
          <a:p>
            <a:endParaRPr lang="zh-CN" altLang="en-US" dirty="0" smtClean="0">
              <a:effectLst/>
            </a:endParaRPr>
          </a:p>
          <a:p>
            <a:r>
              <a:rPr lang="en-US" altLang="zh-CN" sz="1200" dirty="0" smtClean="0"/>
              <a:t>--Therefore,</a:t>
            </a:r>
            <a:r>
              <a:rPr lang="zh-CN" altLang="en-US" sz="1200" dirty="0" smtClean="0"/>
              <a:t> </a:t>
            </a:r>
            <a:r>
              <a:rPr lang="en-US" altLang="zh-CN" sz="1200" dirty="0" smtClean="0"/>
              <a:t>m</a:t>
            </a:r>
            <a:r>
              <a:rPr lang="en-GB" altLang="zh-CN" sz="1200" dirty="0" smtClean="0"/>
              <a:t>ore and more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algorithms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focus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on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finding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interesting..</a:t>
            </a:r>
            <a:endParaRPr kumimoji="1" lang="zh-CN" altLang="en-US" dirty="0" smtClean="0"/>
          </a:p>
          <a:p>
            <a:r>
              <a:rPr lang="en-US" altLang="zh-CN" sz="1200" dirty="0" smtClean="0">
                <a:solidFill>
                  <a:srgbClr val="C00000"/>
                </a:solidFill>
              </a:rPr>
              <a:t>--Query systems </a:t>
            </a:r>
            <a:r>
              <a:rPr lang="en-US" altLang="zh-CN" sz="1200" dirty="0" smtClean="0"/>
              <a:t>are developed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to</a:t>
            </a:r>
            <a:r>
              <a:rPr lang="zh-CN" altLang="en-US" sz="1200" baseline="0" dirty="0" smtClean="0"/>
              <a:t> </a:t>
            </a:r>
            <a:r>
              <a:rPr lang="en-US" altLang="zh-CN" sz="1200" dirty="0" smtClean="0"/>
              <a:t>adopt a specific algorithm and aim to answer queries on a target dataset</a:t>
            </a:r>
            <a:r>
              <a:rPr kumimoji="1" lang="zh-CN" altLang="en-US" sz="1200" baseline="0" dirty="0" smtClean="0"/>
              <a:t> </a:t>
            </a:r>
          </a:p>
          <a:p>
            <a:endParaRPr kumimoji="1" lang="zh-CN" altLang="en-US" sz="1200" baseline="0" dirty="0" smtClean="0"/>
          </a:p>
          <a:p>
            <a:r>
              <a:rPr kumimoji="1" lang="en-US" altLang="zh-CN" dirty="0" smtClean="0"/>
              <a:t>--Such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app.</a:t>
            </a:r>
            <a:r>
              <a:rPr kumimoji="1" lang="zh-CN" altLang="en-US" baseline="0" dirty="0" smtClean="0"/>
              <a:t> 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2303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--Online collection…global resource…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--A query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Freebase is a request…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--In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answers...in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recent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paper,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designed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and…It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able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--Such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useful in practical app. but…</a:t>
            </a:r>
            <a:r>
              <a:rPr lang="en-GB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job execution logs from a large Chinese social network shows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0785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--Inherently designed for…tightly combines…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--Therefore,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in-memory...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must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two..</a:t>
            </a:r>
            <a:endParaRPr lang="zh-CN" alt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--As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--So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although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query system is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single query. Answering multiple queries is still a problem to be solved. 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7267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--We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define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process...Since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computations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performed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the...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--In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read...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--That is, each individual job has to maintain an exclusive copy of the static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even if...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en-US" altLang="zh-CN" dirty="0" smtClean="0">
                <a:effectLst/>
              </a:rPr>
              <a:t>--Therefore</a:t>
            </a:r>
            <a:r>
              <a:rPr kumimoji="1" lang="en-US" altLang="zh-CN" baseline="0" dirty="0" smtClean="0">
                <a:effectLst/>
              </a:rPr>
              <a:t>,</a:t>
            </a:r>
            <a:r>
              <a:rPr kumimoji="1" lang="zh-CN" altLang="en-US" baseline="0" dirty="0" smtClean="0">
                <a:effectLst/>
              </a:rPr>
              <a:t> </a:t>
            </a:r>
            <a:r>
              <a:rPr kumimoji="1" lang="en-US" altLang="zh-CN" baseline="0" dirty="0" smtClean="0">
                <a:effectLst/>
              </a:rPr>
              <a:t>although...when...</a:t>
            </a:r>
            <a:endParaRPr kumimoji="1" lang="zh-CN" altLang="en-US" dirty="0" smtClean="0">
              <a:effectLst/>
            </a:endParaRPr>
          </a:p>
          <a:p>
            <a:r>
              <a:rPr kumimoji="1" lang="en-US" altLang="zh-CN" dirty="0" smtClean="0"/>
              <a:t>(Figure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2)</a:t>
            </a:r>
            <a:r>
              <a:rPr kumimoji="1" lang="zh-CN" altLang="en-US" baseline="0" dirty="0" smtClean="0"/>
              <a:t> </a:t>
            </a:r>
            <a:r>
              <a:rPr kumimoji="1" lang="en-US" altLang="zh-CN" dirty="0" smtClean="0"/>
              <a:t>Starts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n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jobs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and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keeps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n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copies...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0941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 word, QS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developed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...there are a lot of researches aims to improving single job processing</a:t>
            </a:r>
            <a:endParaRPr lang="zh-CN" alt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ome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existing query systems are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already good at processing a single job, 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answering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queries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solved.</a:t>
            </a:r>
            <a:endParaRPr lang="zh-CN" alt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some…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45491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Realizing this problem, this thesis aims to find an approach to help such existing query systems to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concurrent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queries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efficiently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2364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According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requirement...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original system, one job needs to...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almost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…main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idea...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design of 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ParQ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splits…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CN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ParQ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only...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01239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 this figure…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1243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ParQ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ability.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ParQ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provides an API, so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API,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 can directly adopt 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ParQ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existing query systems.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0351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ParQ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adapt to different query systems.</a:t>
            </a:r>
            <a:r>
              <a:rPr lang="zh-CN" altLang="zh-CN" dirty="0" smtClean="0">
                <a:effectLst/>
              </a:rPr>
              <a:t> 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loader…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different query systems, the static data organizations are also different. 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support different static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80031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support different systems…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34135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--As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processor,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--Each query processor is responsible for one query. 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--The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provides a series method…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34515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What’s more…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Example…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distributed model…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Example…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structure of class…using...to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assign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....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Example…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68148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41961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 smtClean="0"/>
          </a:p>
          <a:p>
            <a:r>
              <a:rPr kumimoji="1" lang="en-US" altLang="zh-CN" dirty="0" smtClean="0"/>
              <a:t>It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will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skip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loading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perform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computation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err="1" smtClean="0"/>
              <a:t>dirctly</a:t>
            </a:r>
            <a:r>
              <a:rPr kumimoji="1" lang="en-US" altLang="zh-CN" baseline="0" dirty="0" smtClean="0"/>
              <a:t>.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5464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the data loader can read the file automatically and query processors can get requested data from the shared memory.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56377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last, we call corresponding methods at the right place. 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9988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Answers pattern match queries in massive information networks.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entities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thing.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Can’t share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among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jobs...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12014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examine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performance...we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designed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performed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...which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includes...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Graph, The graph describes the relationship among authors</a:t>
            </a:r>
          </a:p>
          <a:p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experiments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performed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computer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cluster...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6757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--Shaded…</a:t>
            </a: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--For answering a single query…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Serial/single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 But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ParQ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Parallel/duplicated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38484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for answering a single query, 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Serial/single</a:t>
            </a:r>
            <a:endParaRPr lang="zh-CN" alt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Parallel/duplicated… 5 or less.. 10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en-US" altLang="zh-CN" dirty="0" smtClean="0"/>
              <a:t>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conclusion...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34901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an’t share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among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jobs...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CN" altLang="en-US" dirty="0" smtClean="0"/>
          </a:p>
          <a:p>
            <a:r>
              <a:rPr kumimoji="1" lang="en-US" altLang="zh-CN" dirty="0" smtClean="0"/>
              <a:t>Therefore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apply…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14434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Similarly…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CN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60MB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dirty="0" smtClean="0">
                <a:solidFill>
                  <a:schemeClr val="tx1"/>
                </a:solidFill>
              </a:rPr>
              <a:t>Web graph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60885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different with the last one is that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reason is that in this experiment, the volume of static data is small. It is about 60 MB.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this example, we can see 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ParQ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more suitable for the case where static data is larger. 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on the other hand, although here, 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ParQ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require more memory than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Serial/single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4466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35852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an’t share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among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jobs...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CN" altLang="en-US" dirty="0" smtClean="0"/>
          </a:p>
          <a:p>
            <a:r>
              <a:rPr kumimoji="1" lang="en-US" altLang="zh-CN" dirty="0" smtClean="0"/>
              <a:t>Therefore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apply…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98600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Similarly…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CN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60MB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dirty="0" smtClean="0">
                <a:solidFill>
                  <a:schemeClr val="tx1"/>
                </a:solidFill>
              </a:rPr>
              <a:t>Web graph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24946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different with the last one is that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reason is that in this experiment, the volume of static data is small. It is about 60 MB.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this example, we can see 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ParQ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more suitable for the case where static data is larger. 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on the other hand, although here, 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ParQ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require more memory than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Serial/single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09766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33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47735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--Many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research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developing...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--Some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existing query systems are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already good when processing a single job, but still has problem when processing multiple jobs. 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CN" altLang="en-US" dirty="0" smtClean="0">
              <a:effectLst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is, they do not allow multiple jobs to share the in-memory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leads to longer job completion time and large memory usage.</a:t>
            </a:r>
            <a:r>
              <a:rPr lang="zh-CN" altLang="zh-CN" dirty="0" smtClean="0">
                <a:effectLst/>
              </a:rPr>
              <a:t> </a:t>
            </a:r>
            <a:endParaRPr lang="zh-CN" altLang="en-US" dirty="0" smtClean="0">
              <a:effectLst/>
            </a:endParaRPr>
          </a:p>
          <a:p>
            <a:endParaRPr kumimoji="1" lang="zh-CN" altLang="en-US" dirty="0" smtClean="0"/>
          </a:p>
          <a:p>
            <a:r>
              <a:rPr kumimoji="1" lang="en-US" altLang="zh-CN" dirty="0" smtClean="0"/>
              <a:t>...implement</a:t>
            </a:r>
            <a:r>
              <a:rPr kumimoji="1" lang="zh-CN" altLang="en-US" baseline="0" dirty="0" smtClean="0"/>
              <a:t> </a:t>
            </a:r>
            <a:r>
              <a:rPr kumimoji="1" lang="en-US" altLang="zh-CN" dirty="0" err="1" smtClean="0"/>
              <a:t>ParQ</a:t>
            </a:r>
            <a:r>
              <a:rPr kumimoji="1" lang="en-US" altLang="zh-CN" dirty="0" smtClean="0"/>
              <a:t>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realize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job-level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parallelism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enabling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static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sharing.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35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36372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Online collection…global resource…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query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Freebase is a request…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answers...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system...find best k...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useful in practical app. but…</a:t>
            </a:r>
            <a:r>
              <a:rPr lang="en-GB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job execution logs from a large Chinese social network shows that at peak time, there are more than 20 jobs submitted to the platform.</a:t>
            </a:r>
            <a:r>
              <a:rPr lang="zh-CN" altLang="zh-CN" dirty="0" smtClean="0">
                <a:effectLst/>
              </a:rPr>
              <a:t> 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39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22957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Inherently designed for…tightly combines…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Therefore,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must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two..</a:t>
            </a:r>
            <a:endParaRPr lang="zh-CN" alt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40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24607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smtClean="0"/>
              <a:t>Based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overall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design,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we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implement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the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err="1" smtClean="0"/>
              <a:t>ParQ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system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to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be...</a:t>
            </a:r>
            <a:endParaRPr kumimoji="1" lang="zh-CN" altLang="en-US" baseline="0" dirty="0" smtClean="0"/>
          </a:p>
          <a:p>
            <a:endParaRPr kumimoji="1" lang="zh-CN" altLang="en-US" baseline="0" dirty="0" smtClean="0"/>
          </a:p>
          <a:p>
            <a:r>
              <a:rPr kumimoji="1" lang="en-US" altLang="zh-CN" baseline="0" dirty="0" err="1" smtClean="0"/>
              <a:t>ParQ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provides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a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standard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API.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So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now,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if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your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query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system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can't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but...</a:t>
            </a:r>
            <a:endParaRPr kumimoji="1" lang="zh-CN" altLang="en-US" dirty="0" smtClean="0"/>
          </a:p>
          <a:p>
            <a:endParaRPr kumimoji="1" lang="zh-CN" altLang="en-US" baseline="0" dirty="0" smtClean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41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64052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 smtClean="0"/>
          </a:p>
          <a:p>
            <a:endParaRPr kumimoji="1" lang="zh-CN" altLang="en-US" dirty="0" smtClean="0"/>
          </a:p>
          <a:p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design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ensures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only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one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copy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of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static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is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kept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among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jobs.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Users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can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directly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adopt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err="1" smtClean="0"/>
              <a:t>ParQ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to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existing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query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systems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by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using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API.</a:t>
            </a:r>
            <a:r>
              <a:rPr kumimoji="1" lang="zh-CN" altLang="en-US" baseline="0" dirty="0" smtClean="0"/>
              <a:t> </a:t>
            </a:r>
          </a:p>
          <a:p>
            <a:endParaRPr kumimoji="1" lang="zh-CN" altLang="en-US" baseline="0" dirty="0" smtClean="0"/>
          </a:p>
          <a:p>
            <a:endParaRPr kumimoji="1" lang="zh-CN" altLang="en-US" baseline="0" dirty="0" smtClean="0"/>
          </a:p>
          <a:p>
            <a:r>
              <a:rPr kumimoji="1" lang="en-US" altLang="zh-CN" baseline="0" dirty="0" smtClean="0"/>
              <a:t>Next...How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the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err="1" smtClean="0"/>
              <a:t>Api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works...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42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376963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Serial/one-graph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Parallel/multi-graph… 5 or less.. 10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43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40173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(Serial/one-graph)… because answering queries also generates…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first for 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ParQ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...and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shown...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(Parallel/multi-graph)…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conclusion…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44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23799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smtClean="0"/>
              <a:t>First,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if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statement... Using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identifier.</a:t>
            </a:r>
            <a:endParaRPr kumimoji="1" lang="zh-CN" altLang="en-US" dirty="0" smtClean="0"/>
          </a:p>
          <a:p>
            <a:endParaRPr kumimoji="1" lang="zh-CN" altLang="en-US" dirty="0" smtClean="0"/>
          </a:p>
          <a:p>
            <a:endParaRPr kumimoji="1" lang="zh-CN" altLang="en-US" dirty="0" smtClean="0"/>
          </a:p>
          <a:p>
            <a:r>
              <a:rPr lang="zh-CN" altLang="en-US" sz="1200" dirty="0" smtClean="0">
                <a:solidFill>
                  <a:srgbClr val="FF6E65"/>
                </a:solidFill>
              </a:rPr>
              <a:t>if current job is data loader </a:t>
            </a:r>
          </a:p>
          <a:p>
            <a:r>
              <a:rPr lang="zh-CN" altLang="en-US" sz="1200" dirty="0" smtClean="0"/>
              <a:t>	create an instance of DataLoader;</a:t>
            </a:r>
          </a:p>
          <a:p>
            <a:r>
              <a:rPr lang="zh-CN" altLang="en-US" sz="1200" dirty="0" smtClean="0"/>
              <a:t>	call corresponding functions；</a:t>
            </a:r>
          </a:p>
          <a:p>
            <a:r>
              <a:rPr lang="zh-CN" altLang="en-US" sz="1200" dirty="0" smtClean="0"/>
              <a:t>    	terminate；</a:t>
            </a:r>
          </a:p>
          <a:p>
            <a:r>
              <a:rPr lang="zh-CN" altLang="en-US" sz="1200" dirty="0" smtClean="0">
                <a:solidFill>
                  <a:srgbClr val="FF6E65"/>
                </a:solidFill>
              </a:rPr>
              <a:t>else if current job is query processor</a:t>
            </a:r>
          </a:p>
          <a:p>
            <a:r>
              <a:rPr lang="zh-CN" altLang="en-US" sz="1200" dirty="0" smtClean="0"/>
              <a:t>	create an instance of QueryProcessor;</a:t>
            </a:r>
          </a:p>
          <a:p>
            <a:r>
              <a:rPr lang="zh-CN" altLang="en-US" sz="1200" dirty="0" smtClean="0"/>
              <a:t>    	call corresponding functions；</a:t>
            </a:r>
          </a:p>
          <a:p>
            <a:r>
              <a:rPr lang="zh-CN" altLang="en-US" sz="1200" dirty="0" smtClean="0"/>
              <a:t>    	terminate；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F5FB8-AE67-504C-BE9E-6DD0D59F235E}" type="slidenum">
              <a:rPr kumimoji="1" lang="zh-CN" altLang="en-US" smtClean="0"/>
              <a:t>45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983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1D2DA-14E0-5947-B9F2-44A759B5CE01}" type="datetime1">
              <a:rPr kumimoji="1" lang="zh-CN" altLang="en-US" smtClean="0"/>
              <a:t>16/7/12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2639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E4E66-DCAB-2845-813C-0A8AC8628414}" type="datetime1">
              <a:rPr kumimoji="1" lang="zh-CN" altLang="en-US" smtClean="0"/>
              <a:t>16/7/12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9F90A04B-912C-734A-9A4A-B1FDEF41CF40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4574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2F6F-F009-4F47-9F4F-075987B1E418}" type="datetime1">
              <a:rPr kumimoji="1" lang="zh-CN" altLang="en-US" smtClean="0"/>
              <a:t>16/7/12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676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4B4E8-8E7D-9244-98F1-9020D49DD3E0}" type="datetime1">
              <a:rPr kumimoji="1" lang="zh-CN" altLang="en-US" smtClean="0"/>
              <a:t>16/7/12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931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E4E1D-04B5-3241-B903-202F77FAEF7F}" type="datetime1">
              <a:rPr kumimoji="1" lang="zh-CN" altLang="en-US" smtClean="0"/>
              <a:t>16/7/12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1270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B4854-28A5-CB43-8DB2-F4DFFE4DDB4C}" type="datetime1">
              <a:rPr kumimoji="1" lang="zh-CN" altLang="en-US" smtClean="0"/>
              <a:t>16/7/12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0854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CA8F6-7909-D34D-BC7C-6B6B5508E7A0}" type="datetime1">
              <a:rPr kumimoji="1" lang="zh-CN" altLang="en-US" smtClean="0"/>
              <a:t>16/7/12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0339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96EA9-E6B2-4745-8DAF-2E22606F3544}" type="datetime1">
              <a:rPr kumimoji="1" lang="zh-CN" altLang="en-US" smtClean="0"/>
              <a:t>16/7/12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4912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38C23-F16A-564C-BDC1-BEE1DF8E569F}" type="datetime1">
              <a:rPr kumimoji="1" lang="zh-CN" altLang="en-US" smtClean="0"/>
              <a:t>16/7/12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57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9DD51-7033-7D4E-94D3-7BD0B014EF2B}" type="datetime1">
              <a:rPr kumimoji="1" lang="zh-CN" altLang="en-US" smtClean="0"/>
              <a:t>16/7/12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652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A569-E28E-354E-B0B8-F984B7752388}" type="datetime1">
              <a:rPr kumimoji="1" lang="zh-CN" altLang="en-US" smtClean="0"/>
              <a:t>16/7/12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1412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40DA0-E505-224F-A1AD-31F13D1D60FF}" type="datetime1">
              <a:rPr kumimoji="1" lang="zh-CN" altLang="en-US" smtClean="0"/>
              <a:t>16/7/12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0A04B-912C-734A-9A4A-B1FDEF41CF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9689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4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4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4" Type="http://schemas.openxmlformats.org/officeDocument/2006/relationships/image" Target="../media/image4.tiff"/><Relationship Id="rId5" Type="http://schemas.openxmlformats.org/officeDocument/2006/relationships/image" Target="../media/image5.tiff"/><Relationship Id="rId6" Type="http://schemas.openxmlformats.org/officeDocument/2006/relationships/image" Target="../media/image6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4" Type="http://schemas.openxmlformats.org/officeDocument/2006/relationships/image" Target="../media/image7.tiff"/><Relationship Id="rId5" Type="http://schemas.openxmlformats.org/officeDocument/2006/relationships/image" Target="../media/image6.tiff"/><Relationship Id="rId6" Type="http://schemas.openxmlformats.org/officeDocument/2006/relationships/image" Target="../media/image8.tiff"/><Relationship Id="rId7" Type="http://schemas.openxmlformats.org/officeDocument/2006/relationships/image" Target="../media/image5.tiff"/><Relationship Id="rId8" Type="http://schemas.openxmlformats.org/officeDocument/2006/relationships/image" Target="../media/image4.tiff"/><Relationship Id="rId9" Type="http://schemas.openxmlformats.org/officeDocument/2006/relationships/image" Target="../media/image9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4" Type="http://schemas.openxmlformats.org/officeDocument/2006/relationships/image" Target="../media/image11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4" Type="http://schemas.openxmlformats.org/officeDocument/2006/relationships/image" Target="../media/image13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4" Type="http://schemas.openxmlformats.org/officeDocument/2006/relationships/image" Target="../media/image14.tiff"/><Relationship Id="rId5" Type="http://schemas.openxmlformats.org/officeDocument/2006/relationships/image" Target="../media/image15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tif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tif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tif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4" Type="http://schemas.openxmlformats.org/officeDocument/2006/relationships/image" Target="../media/image19.tiff"/><Relationship Id="rId5" Type="http://schemas.openxmlformats.org/officeDocument/2006/relationships/image" Target="../media/image20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4" Type="http://schemas.openxmlformats.org/officeDocument/2006/relationships/image" Target="../media/image19.tiff"/><Relationship Id="rId5" Type="http://schemas.openxmlformats.org/officeDocument/2006/relationships/image" Target="../media/image20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chart" Target="../charts/char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chart" Target="../charts/char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4" Type="http://schemas.openxmlformats.org/officeDocument/2006/relationships/image" Target="../media/image19.tiff"/><Relationship Id="rId5" Type="http://schemas.openxmlformats.org/officeDocument/2006/relationships/image" Target="../media/image20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4" Type="http://schemas.openxmlformats.org/officeDocument/2006/relationships/image" Target="../media/image5.tiff"/><Relationship Id="rId5" Type="http://schemas.openxmlformats.org/officeDocument/2006/relationships/image" Target="../media/image6.tiff"/><Relationship Id="rId6" Type="http://schemas.openxmlformats.org/officeDocument/2006/relationships/image" Target="../media/image4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4" Type="http://schemas.openxmlformats.org/officeDocument/2006/relationships/image" Target="../media/image7.tiff"/><Relationship Id="rId5" Type="http://schemas.openxmlformats.org/officeDocument/2006/relationships/image" Target="../media/image6.tiff"/><Relationship Id="rId6" Type="http://schemas.openxmlformats.org/officeDocument/2006/relationships/image" Target="../media/image8.tiff"/><Relationship Id="rId7" Type="http://schemas.openxmlformats.org/officeDocument/2006/relationships/image" Target="../media/image5.tiff"/><Relationship Id="rId8" Type="http://schemas.openxmlformats.org/officeDocument/2006/relationships/image" Target="../media/image4.tiff"/><Relationship Id="rId9" Type="http://schemas.openxmlformats.org/officeDocument/2006/relationships/image" Target="../media/image9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4" Type="http://schemas.openxmlformats.org/officeDocument/2006/relationships/chart" Target="../charts/chart9.xml"/><Relationship Id="rId5" Type="http://schemas.openxmlformats.org/officeDocument/2006/relationships/chart" Target="../charts/chart10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1</a:t>
            </a:fld>
            <a:endParaRPr kumimoji="1" lang="zh-CN" alt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4478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dirty="0" err="1" smtClean="0"/>
              <a:t>ParQ</a:t>
            </a:r>
            <a:r>
              <a:rPr lang="en-US" altLang="zh-CN" sz="3600" dirty="0" smtClean="0"/>
              <a:t>: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a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memory-efficient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approach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for</a:t>
            </a:r>
            <a:r>
              <a:rPr lang="zh-CN" altLang="en-US" sz="3600" dirty="0" smtClean="0"/>
              <a:t>          </a:t>
            </a:r>
            <a:r>
              <a:rPr lang="en-US" altLang="zh-CN" sz="3600" dirty="0" smtClean="0"/>
              <a:t>query-level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parallelism</a:t>
            </a:r>
            <a:endParaRPr lang="en-US" sz="3600" dirty="0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1143000" y="3602037"/>
            <a:ext cx="6858000" cy="1772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400" dirty="0" smtClean="0">
                <a:latin typeface="Calibri" pitchFamily="34" charset="0"/>
                <a:cs typeface="Calibri" pitchFamily="34" charset="0"/>
              </a:rPr>
              <a:t>M.S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. </a:t>
            </a:r>
            <a:r>
              <a:rPr lang="en-US" altLang="zh-CN" sz="2400" dirty="0" smtClean="0">
                <a:latin typeface="Calibri" pitchFamily="34" charset="0"/>
                <a:cs typeface="Calibri" pitchFamily="34" charset="0"/>
              </a:rPr>
              <a:t>Defense</a:t>
            </a:r>
            <a:endParaRPr lang="zh-CN" altLang="en-US" sz="2400" dirty="0">
              <a:latin typeface="Calibri" pitchFamily="34" charset="0"/>
              <a:cs typeface="Calibri" pitchFamily="34" charset="0"/>
            </a:endParaRPr>
          </a:p>
          <a:p>
            <a:pPr marL="0" indent="0" algn="ctr">
              <a:buNone/>
            </a:pPr>
            <a:r>
              <a:rPr lang="en-US" altLang="zh-CN" sz="2400" dirty="0" err="1" smtClean="0">
                <a:latin typeface="Calibri" pitchFamily="34" charset="0"/>
                <a:cs typeface="Calibri" pitchFamily="34" charset="0"/>
              </a:rPr>
              <a:t>Qianqian</a:t>
            </a:r>
            <a:r>
              <a:rPr lang="zh-CN" alt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altLang="zh-CN" sz="2400" dirty="0" smtClean="0">
                <a:latin typeface="Calibri" pitchFamily="34" charset="0"/>
                <a:cs typeface="Calibri" pitchFamily="34" charset="0"/>
              </a:rPr>
              <a:t>Gao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 marL="0" indent="0" algn="ctr">
              <a:buNone/>
            </a:pPr>
            <a:endParaRPr lang="zh-CN" altLang="en-US" sz="2400" dirty="0">
              <a:latin typeface="Calibri" pitchFamily="34" charset="0"/>
              <a:cs typeface="Calibri" pitchFamily="34" charset="0"/>
            </a:endParaRPr>
          </a:p>
          <a:p>
            <a:pPr marL="0" indent="0" algn="ctr"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Directed by Prof.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Lixin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Gao</a:t>
            </a:r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77179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t="20198" b="9670"/>
          <a:stretch/>
        </p:blipFill>
        <p:spPr>
          <a:xfrm>
            <a:off x="515469" y="1414204"/>
            <a:ext cx="3908107" cy="22214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  <p:sp>
        <p:nvSpPr>
          <p:cNvPr id="3" name="矩形 2"/>
          <p:cNvSpPr/>
          <p:nvPr/>
        </p:nvSpPr>
        <p:spPr>
          <a:xfrm>
            <a:off x="183522" y="3825256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altLang="zh-CN" sz="2400" kern="50" dirty="0">
                <a:ea typeface="DejaVu Sans" charset="0"/>
              </a:rPr>
              <a:t>Google </a:t>
            </a:r>
            <a:r>
              <a:rPr lang="en-GB" altLang="zh-CN" sz="2400" kern="50" dirty="0" smtClean="0">
                <a:ea typeface="DejaVu Sans" charset="0"/>
              </a:rPr>
              <a:t>Knowledge</a:t>
            </a:r>
            <a:r>
              <a:rPr lang="zh-CN" altLang="en-US" sz="2400" kern="50" dirty="0" smtClean="0">
                <a:ea typeface="DejaVu Sans" charset="0"/>
              </a:rPr>
              <a:t> </a:t>
            </a:r>
            <a:r>
              <a:rPr lang="en-US" altLang="zh-CN" sz="2400" kern="50" dirty="0" smtClean="0">
                <a:ea typeface="DejaVu Sans" charset="0"/>
              </a:rPr>
              <a:t>Graph</a:t>
            </a:r>
            <a:endParaRPr lang="zh-CN" altLang="en-US" sz="2400" kern="50" dirty="0" smtClean="0">
              <a:ea typeface="DejaVu Sans" charset="0"/>
            </a:endParaRPr>
          </a:p>
          <a:p>
            <a:pPr algn="ctr"/>
            <a:r>
              <a:rPr lang="en-GB" altLang="zh-CN" sz="2400" kern="50" dirty="0" smtClean="0">
                <a:ea typeface="DejaVu Sans" charset="0"/>
              </a:rPr>
              <a:t>1.6 billion </a:t>
            </a:r>
            <a:r>
              <a:rPr lang="en-GB" altLang="zh-CN" sz="2400" kern="50" dirty="0">
                <a:ea typeface="DejaVu Sans" charset="0"/>
              </a:rPr>
              <a:t>entities</a:t>
            </a:r>
            <a:r>
              <a:rPr lang="zh-CN" altLang="zh-CN" sz="2400" dirty="0"/>
              <a:t> 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4318493" y="3825256"/>
            <a:ext cx="47199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kern="50" dirty="0" smtClean="0">
                <a:ea typeface="DejaVu Sans" charset="0"/>
              </a:rPr>
              <a:t>Facebook</a:t>
            </a:r>
            <a:endParaRPr lang="zh-CN" altLang="en-US" sz="2400" kern="50" dirty="0" smtClean="0">
              <a:ea typeface="DejaVu Sans" charset="0"/>
            </a:endParaRPr>
          </a:p>
          <a:p>
            <a:pPr algn="ctr"/>
            <a:r>
              <a:rPr lang="en-US" altLang="zh-CN" sz="2400" dirty="0"/>
              <a:t>1.18 </a:t>
            </a:r>
            <a:r>
              <a:rPr lang="en-US" altLang="zh-CN" sz="2400" dirty="0" smtClean="0"/>
              <a:t>billion </a:t>
            </a:r>
            <a:r>
              <a:rPr lang="en-US" altLang="zh-CN" sz="2400" dirty="0"/>
              <a:t>active users</a:t>
            </a:r>
            <a:endParaRPr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9538855" y="1246909"/>
            <a:ext cx="309649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/>
              <a:t>Goal: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already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algorithms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is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developed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in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progress.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They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now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can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answer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a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single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queries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good.</a:t>
            </a:r>
            <a:endParaRPr kumimoji="1" lang="zh-CN" altLang="en-US" sz="2400" dirty="0" smtClean="0"/>
          </a:p>
          <a:p>
            <a:endParaRPr kumimoji="1" lang="zh-CN" altLang="en-US" sz="2400" dirty="0"/>
          </a:p>
          <a:p>
            <a:r>
              <a:rPr kumimoji="1" lang="en-US" altLang="zh-CN" sz="2400" dirty="0" smtClean="0"/>
              <a:t>But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its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hard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for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them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to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improve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to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answer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multiple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jobs.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Because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they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are…</a:t>
            </a:r>
            <a:endParaRPr kumimoji="1" lang="zh-CN" altLang="en-US" sz="2400" dirty="0" smtClean="0"/>
          </a:p>
          <a:p>
            <a:endParaRPr kumimoji="1" lang="zh-CN" altLang="en-US" sz="2400" dirty="0"/>
          </a:p>
          <a:p>
            <a:r>
              <a:rPr kumimoji="1" lang="en-US" altLang="zh-CN" sz="2400" dirty="0" smtClean="0"/>
              <a:t>Our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approach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can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help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to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develop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them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to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process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multiple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query.</a:t>
            </a:r>
            <a:endParaRPr kumimoji="1" lang="zh-CN" altLang="en-US" sz="24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399" y="1414205"/>
            <a:ext cx="3731543" cy="222143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375143" y="449599"/>
            <a:ext cx="7886700" cy="579864"/>
          </a:xfrm>
          <a:noFill/>
          <a:ln w="22225">
            <a:noFill/>
          </a:ln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altLang="zh-CN" sz="3200" kern="50" dirty="0" smtClean="0">
                <a:solidFill>
                  <a:srgbClr val="393D42"/>
                </a:solidFill>
                <a:ea typeface="DejaVu Sans" charset="0"/>
              </a:rPr>
              <a:t>Growing</a:t>
            </a:r>
            <a:r>
              <a:rPr lang="zh-CN" altLang="en-US" sz="3200" kern="50" dirty="0" smtClean="0">
                <a:solidFill>
                  <a:srgbClr val="393D42"/>
                </a:solidFill>
                <a:ea typeface="DejaVu Sans" charset="0"/>
              </a:rPr>
              <a:t> </a:t>
            </a:r>
            <a:r>
              <a:rPr lang="en-US" altLang="zh-CN" sz="3200" kern="50" dirty="0" smtClean="0">
                <a:solidFill>
                  <a:srgbClr val="393D42"/>
                </a:solidFill>
                <a:ea typeface="DejaVu Sans" charset="0"/>
              </a:rPr>
              <a:t>volumes</a:t>
            </a:r>
            <a:r>
              <a:rPr lang="zh-CN" altLang="en-US" sz="3200" kern="50" dirty="0" smtClean="0">
                <a:solidFill>
                  <a:srgbClr val="393D42"/>
                </a:solidFill>
                <a:ea typeface="DejaVu Sans" charset="0"/>
              </a:rPr>
              <a:t> </a:t>
            </a:r>
            <a:r>
              <a:rPr lang="en-US" altLang="zh-CN" sz="3200" kern="50" dirty="0" smtClean="0">
                <a:solidFill>
                  <a:srgbClr val="393D42"/>
                </a:solidFill>
                <a:ea typeface="DejaVu Sans" charset="0"/>
              </a:rPr>
              <a:t>of</a:t>
            </a:r>
            <a:r>
              <a:rPr lang="zh-CN" altLang="en-US" sz="3200" kern="50" dirty="0" smtClean="0">
                <a:solidFill>
                  <a:srgbClr val="393D42"/>
                </a:solidFill>
                <a:ea typeface="DejaVu Sans" charset="0"/>
              </a:rPr>
              <a:t> </a:t>
            </a:r>
            <a:r>
              <a:rPr lang="en-US" altLang="zh-CN" sz="3200" kern="50" dirty="0" smtClean="0">
                <a:solidFill>
                  <a:srgbClr val="393D42"/>
                </a:solidFill>
                <a:ea typeface="DejaVu Sans" charset="0"/>
              </a:rPr>
              <a:t>data</a:t>
            </a:r>
            <a:r>
              <a:rPr lang="zh-CN" altLang="en-US" sz="3200" kern="50" dirty="0" smtClean="0">
                <a:solidFill>
                  <a:srgbClr val="393D42"/>
                </a:solidFill>
                <a:ea typeface="DejaVu Sans" charset="0"/>
              </a:rPr>
              <a:t> </a:t>
            </a:r>
            <a:r>
              <a:rPr lang="en-US" altLang="zh-CN" sz="3200" kern="50" dirty="0" smtClean="0">
                <a:solidFill>
                  <a:srgbClr val="393D42"/>
                </a:solidFill>
                <a:ea typeface="DejaVu Sans" charset="0"/>
              </a:rPr>
              <a:t>and</a:t>
            </a:r>
            <a:r>
              <a:rPr lang="zh-CN" altLang="en-US" sz="3200" kern="50" dirty="0" smtClean="0">
                <a:solidFill>
                  <a:srgbClr val="393D42"/>
                </a:solidFill>
                <a:ea typeface="DejaVu Sans" charset="0"/>
              </a:rPr>
              <a:t> </a:t>
            </a:r>
            <a:r>
              <a:rPr lang="en-US" altLang="zh-CN" sz="3200" kern="50" dirty="0" smtClean="0">
                <a:solidFill>
                  <a:srgbClr val="393D42"/>
                </a:solidFill>
                <a:ea typeface="DejaVu Sans" charset="0"/>
              </a:rPr>
              <a:t>users</a:t>
            </a:r>
            <a:endParaRPr lang="zh-CN" altLang="en-US" sz="3200" dirty="0">
              <a:solidFill>
                <a:srgbClr val="393D42"/>
              </a:solidFill>
            </a:endParaRPr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3962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t="20198" b="9670"/>
          <a:stretch/>
        </p:blipFill>
        <p:spPr>
          <a:xfrm>
            <a:off x="515469" y="1414204"/>
            <a:ext cx="3908107" cy="22214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  <p:sp>
        <p:nvSpPr>
          <p:cNvPr id="7" name="文本框 6"/>
          <p:cNvSpPr txBox="1"/>
          <p:nvPr/>
        </p:nvSpPr>
        <p:spPr>
          <a:xfrm>
            <a:off x="9538855" y="1246909"/>
            <a:ext cx="309649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/>
              <a:t>Goal: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already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algorithms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is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developed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in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progress.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They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now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can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answer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a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single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queries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good.</a:t>
            </a:r>
            <a:endParaRPr kumimoji="1" lang="zh-CN" altLang="en-US" sz="2400" dirty="0" smtClean="0"/>
          </a:p>
          <a:p>
            <a:endParaRPr kumimoji="1" lang="zh-CN" altLang="en-US" sz="2400" dirty="0"/>
          </a:p>
          <a:p>
            <a:r>
              <a:rPr kumimoji="1" lang="en-US" altLang="zh-CN" sz="2400" dirty="0" smtClean="0"/>
              <a:t>But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its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hard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for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them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to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improve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to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answer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multiple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jobs.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Because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they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are…</a:t>
            </a:r>
            <a:endParaRPr kumimoji="1" lang="zh-CN" altLang="en-US" sz="2400" dirty="0" smtClean="0"/>
          </a:p>
          <a:p>
            <a:endParaRPr kumimoji="1" lang="zh-CN" altLang="en-US" sz="2400" dirty="0"/>
          </a:p>
          <a:p>
            <a:r>
              <a:rPr kumimoji="1" lang="en-US" altLang="zh-CN" sz="2400" dirty="0" smtClean="0"/>
              <a:t>Our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approach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can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help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to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develop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them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to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process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multiple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query.</a:t>
            </a:r>
            <a:endParaRPr kumimoji="1" lang="zh-CN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515469" y="4170293"/>
            <a:ext cx="46579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sz="2400" kern="50" dirty="0">
                <a:ea typeface="DejaVu Sans" charset="0"/>
              </a:rPr>
              <a:t>When is the date of </a:t>
            </a:r>
            <a:r>
              <a:rPr lang="en-US" altLang="zh-CN" sz="2400" kern="50" dirty="0" smtClean="0">
                <a:ea typeface="DejaVu Sans" charset="0"/>
              </a:rPr>
              <a:t>D</a:t>
            </a:r>
            <a:r>
              <a:rPr lang="en-GB" altLang="zh-CN" sz="2400" kern="50" dirty="0" smtClean="0">
                <a:ea typeface="DejaVu Sans" charset="0"/>
              </a:rPr>
              <a:t>a </a:t>
            </a:r>
            <a:r>
              <a:rPr lang="en-US" altLang="zh-CN" sz="2400" kern="50" dirty="0" smtClean="0">
                <a:ea typeface="DejaVu Sans" charset="0"/>
              </a:rPr>
              <a:t>Vinci’s</a:t>
            </a:r>
            <a:r>
              <a:rPr lang="en-GB" altLang="zh-CN" sz="2400" kern="50" dirty="0" smtClean="0">
                <a:ea typeface="DejaVu Sans" charset="0"/>
              </a:rPr>
              <a:t> </a:t>
            </a:r>
            <a:r>
              <a:rPr lang="en-GB" altLang="zh-CN" sz="2400" kern="50" dirty="0">
                <a:ea typeface="DejaVu Sans" charset="0"/>
              </a:rPr>
              <a:t>birthday?</a:t>
            </a:r>
            <a:r>
              <a:rPr lang="zh-CN" altLang="zh-CN" sz="2400" dirty="0"/>
              <a:t> </a:t>
            </a:r>
            <a:endParaRPr lang="zh-CN" altLang="en-US" sz="2400" dirty="0"/>
          </a:p>
        </p:txBody>
      </p:sp>
      <p:sp>
        <p:nvSpPr>
          <p:cNvPr id="12" name="矩形 11"/>
          <p:cNvSpPr/>
          <p:nvPr/>
        </p:nvSpPr>
        <p:spPr>
          <a:xfrm>
            <a:off x="5733558" y="4354958"/>
            <a:ext cx="46579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/>
              <a:t>A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mutual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friend?</a:t>
            </a:r>
            <a:endParaRPr lang="zh-CN" altLang="en-US" sz="2400" dirty="0"/>
          </a:p>
        </p:txBody>
      </p:sp>
      <p:sp>
        <p:nvSpPr>
          <p:cNvPr id="23" name="弧 22"/>
          <p:cNvSpPr/>
          <p:nvPr/>
        </p:nvSpPr>
        <p:spPr>
          <a:xfrm rot="15690313">
            <a:off x="552625" y="2223713"/>
            <a:ext cx="3228268" cy="1454032"/>
          </a:xfrm>
          <a:prstGeom prst="arc">
            <a:avLst>
              <a:gd name="adj1" fmla="val 11937665"/>
              <a:gd name="adj2" fmla="val 13800935"/>
            </a:avLst>
          </a:prstGeom>
          <a:noFill/>
          <a:ln w="44450" cap="flat">
            <a:gradFill flip="none" rotWithShape="1">
              <a:gsLst>
                <a:gs pos="0">
                  <a:schemeClr val="bg1"/>
                </a:gs>
                <a:gs pos="35000">
                  <a:schemeClr val="accent3">
                    <a:lumMod val="0"/>
                    <a:lumOff val="100000"/>
                    <a:alpha val="9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弧 23"/>
          <p:cNvSpPr/>
          <p:nvPr/>
        </p:nvSpPr>
        <p:spPr>
          <a:xfrm rot="9453161">
            <a:off x="4462438" y="3443277"/>
            <a:ext cx="3527906" cy="1454032"/>
          </a:xfrm>
          <a:prstGeom prst="arc">
            <a:avLst>
              <a:gd name="adj1" fmla="val 11026711"/>
              <a:gd name="adj2" fmla="val 12948410"/>
            </a:avLst>
          </a:prstGeom>
          <a:noFill/>
          <a:ln w="44450" cap="flat">
            <a:gradFill flip="none" rotWithShape="1">
              <a:gsLst>
                <a:gs pos="0">
                  <a:schemeClr val="bg1"/>
                </a:gs>
                <a:gs pos="35000">
                  <a:schemeClr val="bg1">
                    <a:lumMod val="65000"/>
                    <a:alpha val="3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375143" y="449599"/>
            <a:ext cx="7886700" cy="579864"/>
          </a:xfrm>
          <a:noFill/>
          <a:ln w="22225">
            <a:noFill/>
          </a:ln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altLang="zh-CN" sz="3200" kern="50" dirty="0" smtClean="0">
                <a:solidFill>
                  <a:srgbClr val="393D42"/>
                </a:solidFill>
                <a:ea typeface="DejaVu Sans" charset="0"/>
              </a:rPr>
              <a:t>Growing</a:t>
            </a:r>
            <a:r>
              <a:rPr lang="zh-CN" altLang="en-US" sz="3200" kern="50" dirty="0" smtClean="0">
                <a:solidFill>
                  <a:srgbClr val="393D42"/>
                </a:solidFill>
                <a:ea typeface="DejaVu Sans" charset="0"/>
              </a:rPr>
              <a:t> </a:t>
            </a:r>
            <a:r>
              <a:rPr lang="en-US" altLang="zh-CN" sz="3200" kern="50" dirty="0" smtClean="0">
                <a:solidFill>
                  <a:srgbClr val="393D42"/>
                </a:solidFill>
                <a:ea typeface="DejaVu Sans" charset="0"/>
              </a:rPr>
              <a:t>volumes</a:t>
            </a:r>
            <a:r>
              <a:rPr lang="zh-CN" altLang="en-US" sz="3200" kern="50" dirty="0" smtClean="0">
                <a:solidFill>
                  <a:srgbClr val="393D42"/>
                </a:solidFill>
                <a:ea typeface="DejaVu Sans" charset="0"/>
              </a:rPr>
              <a:t> </a:t>
            </a:r>
            <a:r>
              <a:rPr lang="en-US" altLang="zh-CN" sz="3200" kern="50" dirty="0" smtClean="0">
                <a:solidFill>
                  <a:srgbClr val="393D42"/>
                </a:solidFill>
                <a:ea typeface="DejaVu Sans" charset="0"/>
              </a:rPr>
              <a:t>of</a:t>
            </a:r>
            <a:r>
              <a:rPr lang="zh-CN" altLang="en-US" sz="3200" kern="50" dirty="0" smtClean="0">
                <a:solidFill>
                  <a:srgbClr val="393D42"/>
                </a:solidFill>
                <a:ea typeface="DejaVu Sans" charset="0"/>
              </a:rPr>
              <a:t> </a:t>
            </a:r>
            <a:r>
              <a:rPr lang="en-US" altLang="zh-CN" sz="3200" kern="50" dirty="0" smtClean="0">
                <a:solidFill>
                  <a:srgbClr val="393D42"/>
                </a:solidFill>
                <a:ea typeface="DejaVu Sans" charset="0"/>
              </a:rPr>
              <a:t>data</a:t>
            </a:r>
            <a:r>
              <a:rPr lang="zh-CN" altLang="en-US" sz="3200" kern="50" dirty="0" smtClean="0">
                <a:solidFill>
                  <a:srgbClr val="393D42"/>
                </a:solidFill>
                <a:ea typeface="DejaVu Sans" charset="0"/>
              </a:rPr>
              <a:t> </a:t>
            </a:r>
            <a:r>
              <a:rPr lang="en-US" altLang="zh-CN" sz="3200" kern="50" dirty="0" smtClean="0">
                <a:solidFill>
                  <a:srgbClr val="393D42"/>
                </a:solidFill>
                <a:ea typeface="DejaVu Sans" charset="0"/>
              </a:rPr>
              <a:t>user</a:t>
            </a:r>
            <a:endParaRPr lang="zh-CN" altLang="en-US" sz="3200" dirty="0">
              <a:solidFill>
                <a:srgbClr val="393D42"/>
              </a:solidFill>
            </a:endParaRPr>
          </a:p>
        </p:txBody>
      </p:sp>
      <p:sp>
        <p:nvSpPr>
          <p:cNvPr id="13" name="内容占位符 2"/>
          <p:cNvSpPr txBox="1">
            <a:spLocks/>
          </p:cNvSpPr>
          <p:nvPr/>
        </p:nvSpPr>
        <p:spPr>
          <a:xfrm>
            <a:off x="515469" y="5294612"/>
            <a:ext cx="7886700" cy="1024127"/>
          </a:xfrm>
          <a:prstGeom prst="rect">
            <a:avLst/>
          </a:prstGeom>
          <a:ln w="222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kumimoji="1" lang="en-US" altLang="zh-CN" sz="2400" dirty="0" smtClean="0"/>
              <a:t>How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to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find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interesting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information?</a:t>
            </a:r>
            <a:endParaRPr kumimoji="1" lang="zh-CN" altLang="en-US" sz="2400" dirty="0" smtClean="0"/>
          </a:p>
          <a:p>
            <a:pPr>
              <a:lnSpc>
                <a:spcPct val="100000"/>
              </a:lnSpc>
            </a:pPr>
            <a:r>
              <a:rPr kumimoji="1" lang="en-US" altLang="zh-CN" sz="2400" dirty="0" smtClean="0"/>
              <a:t>Algorithms/query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systems</a:t>
            </a:r>
            <a:endParaRPr kumimoji="1" lang="zh-CN" altLang="en-US" sz="2400" dirty="0" smtClean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399" y="1414205"/>
            <a:ext cx="3731543" cy="222143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727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4935149" y="5035020"/>
            <a:ext cx="1017419" cy="50863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COMPUTA-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-</a:t>
            </a:r>
            <a:r>
              <a:rPr lang="en-US" sz="1400" kern="100" dirty="0" smtClean="0">
                <a:effectLst/>
                <a:ea typeface="宋体" charset="0"/>
                <a:cs typeface="Times New Roman" charset="0"/>
              </a:rPr>
              <a:t>TINS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16221" y="3442891"/>
            <a:ext cx="725853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50" dirty="0" smtClean="0">
                <a:ea typeface="DejaVu Sans" charset="0"/>
              </a:rPr>
              <a:t>A</a:t>
            </a:r>
            <a:r>
              <a:rPr lang="zh-CN" altLang="en-US" sz="2000" kern="50" dirty="0" smtClean="0">
                <a:ea typeface="DejaVu Sans" charset="0"/>
              </a:rPr>
              <a:t> </a:t>
            </a:r>
            <a:r>
              <a:rPr lang="en-US" altLang="zh-CN" sz="2000" kern="50" dirty="0" smtClean="0">
                <a:ea typeface="DejaVu Sans" charset="0"/>
              </a:rPr>
              <a:t>query</a:t>
            </a:r>
            <a:r>
              <a:rPr lang="zh-CN" altLang="en-US" sz="2000" kern="50" dirty="0" smtClean="0">
                <a:ea typeface="DejaVu Sans" charset="0"/>
              </a:rPr>
              <a:t> </a:t>
            </a:r>
            <a:r>
              <a:rPr lang="en-US" altLang="zh-CN" sz="2000" kern="50" dirty="0" smtClean="0">
                <a:ea typeface="DejaVu Sans" charset="0"/>
              </a:rPr>
              <a:t>system</a:t>
            </a:r>
            <a:r>
              <a:rPr lang="zh-CN" altLang="en-US" sz="2000" kern="50" dirty="0" smtClean="0">
                <a:ea typeface="DejaVu Sans" charset="0"/>
              </a:rPr>
              <a:t> </a:t>
            </a:r>
            <a:r>
              <a:rPr lang="en-US" altLang="zh-CN" sz="2000" kern="50" dirty="0" smtClean="0">
                <a:ea typeface="DejaVu Sans" charset="0"/>
              </a:rPr>
              <a:t>[1]</a:t>
            </a:r>
            <a:r>
              <a:rPr lang="zh-CN" altLang="en-US" sz="2000" kern="50" dirty="0" smtClean="0">
                <a:ea typeface="DejaVu Sans" charset="0"/>
              </a:rPr>
              <a:t> </a:t>
            </a:r>
            <a:r>
              <a:rPr lang="en-US" altLang="zh-CN" sz="2000" kern="50" dirty="0" smtClean="0">
                <a:ea typeface="DejaVu Sans" charset="0"/>
              </a:rPr>
              <a:t>is</a:t>
            </a:r>
            <a:r>
              <a:rPr lang="zh-CN" altLang="en-US" sz="2000" kern="50" dirty="0" smtClean="0">
                <a:ea typeface="DejaVu Sans" charset="0"/>
              </a:rPr>
              <a:t> </a:t>
            </a:r>
            <a:r>
              <a:rPr lang="en-US" altLang="zh-CN" sz="2000" kern="50" dirty="0" smtClean="0">
                <a:ea typeface="DejaVu Sans" charset="0"/>
              </a:rPr>
              <a:t>able</a:t>
            </a:r>
            <a:r>
              <a:rPr lang="en-GB" altLang="zh-CN" sz="2000" kern="50" dirty="0" smtClean="0">
                <a:ea typeface="DejaVu Sans" charset="0"/>
              </a:rPr>
              <a:t> </a:t>
            </a:r>
            <a:r>
              <a:rPr lang="en-GB" altLang="zh-CN" sz="2000" kern="50" dirty="0">
                <a:ea typeface="DejaVu Sans" charset="0"/>
              </a:rPr>
              <a:t>to find the </a:t>
            </a:r>
            <a:r>
              <a:rPr lang="en-GB" altLang="zh-CN" sz="2000" kern="50" dirty="0" smtClean="0">
                <a:ea typeface="DejaVu Sans" charset="0"/>
              </a:rPr>
              <a:t>best</a:t>
            </a:r>
            <a:r>
              <a:rPr lang="zh-CN" altLang="en-US" sz="2000" kern="50" dirty="0" smtClean="0">
                <a:ea typeface="DejaVu Sans" charset="0"/>
              </a:rPr>
              <a:t> </a:t>
            </a:r>
            <a:r>
              <a:rPr lang="en-US" altLang="zh-CN" sz="2000" kern="50" dirty="0" smtClean="0">
                <a:ea typeface="DejaVu Sans" charset="0"/>
              </a:rPr>
              <a:t>several</a:t>
            </a:r>
            <a:r>
              <a:rPr lang="en-GB" altLang="zh-CN" sz="2000" kern="50" dirty="0" smtClean="0">
                <a:ea typeface="DejaVu Sans" charset="0"/>
              </a:rPr>
              <a:t> answers </a:t>
            </a:r>
            <a:r>
              <a:rPr lang="en-GB" altLang="zh-CN" sz="2000" kern="50" dirty="0">
                <a:ea typeface="DejaVu Sans" charset="0"/>
              </a:rPr>
              <a:t>for a query from a </a:t>
            </a:r>
            <a:r>
              <a:rPr lang="en-GB" altLang="zh-CN" sz="2000" kern="50" dirty="0" smtClean="0">
                <a:ea typeface="DejaVu Sans" charset="0"/>
              </a:rPr>
              <a:t>graph</a:t>
            </a:r>
            <a:r>
              <a:rPr lang="en-US" altLang="zh-CN" sz="2000" kern="50" dirty="0" smtClean="0">
                <a:ea typeface="DejaVu Sans" charset="0"/>
              </a:rPr>
              <a:t>.</a:t>
            </a:r>
            <a:r>
              <a:rPr lang="zh-CN" altLang="zh-CN" sz="2000" dirty="0" smtClean="0"/>
              <a:t> </a:t>
            </a:r>
            <a:endParaRPr lang="zh-CN" altLang="en-US" sz="2000" dirty="0"/>
          </a:p>
        </p:txBody>
      </p:sp>
      <p:pic>
        <p:nvPicPr>
          <p:cNvPr id="24" name="图片 2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153" y="1280048"/>
            <a:ext cx="1829435" cy="1039495"/>
          </a:xfrm>
          <a:prstGeom prst="rect">
            <a:avLst/>
          </a:prstGeom>
        </p:spPr>
      </p:pic>
      <p:pic>
        <p:nvPicPr>
          <p:cNvPr id="25" name="图片 2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153" y="1280048"/>
            <a:ext cx="1829435" cy="1039495"/>
          </a:xfrm>
          <a:prstGeom prst="rect">
            <a:avLst/>
          </a:prstGeom>
        </p:spPr>
      </p:pic>
      <p:pic>
        <p:nvPicPr>
          <p:cNvPr id="26" name="图片 2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152" y="1280048"/>
            <a:ext cx="1829435" cy="1039495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3"/>
          <a:stretch>
            <a:fillRect/>
          </a:stretch>
        </p:blipFill>
        <p:spPr>
          <a:xfrm>
            <a:off x="4038818" y="689237"/>
            <a:ext cx="3908107" cy="2221118"/>
          </a:xfrm>
          <a:prstGeom prst="rect">
            <a:avLst/>
          </a:prstGeom>
          <a:ln w="19050"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716" y="1736694"/>
            <a:ext cx="2070099" cy="1067649"/>
          </a:xfrm>
          <a:prstGeom prst="rect">
            <a:avLst/>
          </a:prstGeom>
          <a:ln w="19050"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</p:pic>
      <p:grpSp>
        <p:nvGrpSpPr>
          <p:cNvPr id="43" name="组 42"/>
          <p:cNvGrpSpPr/>
          <p:nvPr/>
        </p:nvGrpSpPr>
        <p:grpSpPr>
          <a:xfrm>
            <a:off x="1535807" y="4591156"/>
            <a:ext cx="4351655" cy="1272540"/>
            <a:chOff x="278615" y="3527856"/>
            <a:chExt cx="4351655" cy="1272540"/>
          </a:xfrm>
        </p:grpSpPr>
        <p:sp>
          <p:nvSpPr>
            <p:cNvPr id="44" name="矩形 43"/>
            <p:cNvSpPr/>
            <p:nvPr/>
          </p:nvSpPr>
          <p:spPr>
            <a:xfrm>
              <a:off x="1767690" y="3527856"/>
              <a:ext cx="2862580" cy="1272540"/>
            </a:xfrm>
            <a:prstGeom prst="rect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45" name="组 44"/>
            <p:cNvGrpSpPr/>
            <p:nvPr/>
          </p:nvGrpSpPr>
          <p:grpSpPr>
            <a:xfrm>
              <a:off x="278615" y="3781221"/>
              <a:ext cx="1489075" cy="689610"/>
              <a:chOff x="278615" y="3781221"/>
              <a:chExt cx="1489075" cy="689610"/>
            </a:xfrm>
          </p:grpSpPr>
          <p:pic>
            <p:nvPicPr>
              <p:cNvPr id="46" name="图片 45"/>
              <p:cNvPicPr/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8615" y="3781221"/>
                <a:ext cx="1369695" cy="689610"/>
              </a:xfrm>
              <a:prstGeom prst="rect">
                <a:avLst/>
              </a:prstGeom>
            </p:spPr>
          </p:pic>
          <p:sp>
            <p:nvSpPr>
              <p:cNvPr id="47" name="右箭头 46"/>
              <p:cNvSpPr/>
              <p:nvPr/>
            </p:nvSpPr>
            <p:spPr>
              <a:xfrm>
                <a:off x="1310490" y="4041571"/>
                <a:ext cx="457200" cy="254000"/>
              </a:xfrm>
              <a:prstGeom prst="rightArrow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8" name="组 47"/>
          <p:cNvGrpSpPr/>
          <p:nvPr/>
        </p:nvGrpSpPr>
        <p:grpSpPr>
          <a:xfrm>
            <a:off x="5886192" y="4842616"/>
            <a:ext cx="1480185" cy="638175"/>
            <a:chOff x="4629000" y="3779316"/>
            <a:chExt cx="1480185" cy="638175"/>
          </a:xfrm>
        </p:grpSpPr>
        <p:pic>
          <p:nvPicPr>
            <p:cNvPr id="49" name="图片 48"/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9490" y="3779316"/>
              <a:ext cx="1369695" cy="638175"/>
            </a:xfrm>
            <a:prstGeom prst="rect">
              <a:avLst/>
            </a:prstGeom>
          </p:spPr>
        </p:pic>
        <p:sp>
          <p:nvSpPr>
            <p:cNvPr id="50" name="右箭头 49"/>
            <p:cNvSpPr/>
            <p:nvPr/>
          </p:nvSpPr>
          <p:spPr>
            <a:xfrm>
              <a:off x="4629000" y="4041571"/>
              <a:ext cx="457200" cy="254000"/>
            </a:xfrm>
            <a:prstGeom prst="rightArrow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4</a:t>
            </a:fld>
            <a:endParaRPr kumimoji="1"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754833" y="2909722"/>
            <a:ext cx="47199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kern="50" smtClean="0">
                <a:ea typeface="DejaVu Sans" charset="0"/>
              </a:rPr>
              <a:t>Freebase</a:t>
            </a:r>
            <a:endParaRPr lang="zh-CN" altLang="en-US" sz="2400" kern="50" dirty="0" smtClean="0">
              <a:ea typeface="DejaVu Sans" charset="0"/>
            </a:endParaRPr>
          </a:p>
        </p:txBody>
      </p:sp>
      <p:sp>
        <p:nvSpPr>
          <p:cNvPr id="19" name="内容占位符 2"/>
          <p:cNvSpPr>
            <a:spLocks noGrp="1"/>
          </p:cNvSpPr>
          <p:nvPr>
            <p:ph idx="1"/>
          </p:nvPr>
        </p:nvSpPr>
        <p:spPr>
          <a:xfrm>
            <a:off x="228839" y="273186"/>
            <a:ext cx="7886700" cy="579864"/>
          </a:xfrm>
          <a:noFill/>
          <a:ln w="22225">
            <a:noFill/>
          </a:ln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altLang="zh-CN" sz="3200" dirty="0" smtClean="0">
                <a:solidFill>
                  <a:srgbClr val="393D42"/>
                </a:solidFill>
              </a:rPr>
              <a:t>Query</a:t>
            </a:r>
            <a:r>
              <a:rPr lang="zh-CN" altLang="en-US" sz="3200" dirty="0" smtClean="0">
                <a:solidFill>
                  <a:srgbClr val="393D42"/>
                </a:solidFill>
              </a:rPr>
              <a:t> </a:t>
            </a:r>
            <a:r>
              <a:rPr lang="en-US" altLang="zh-CN" sz="3200" dirty="0" smtClean="0">
                <a:solidFill>
                  <a:srgbClr val="393D42"/>
                </a:solidFill>
              </a:rPr>
              <a:t>system</a:t>
            </a:r>
            <a:r>
              <a:rPr lang="zh-CN" altLang="en-US" sz="3200" dirty="0" smtClean="0">
                <a:solidFill>
                  <a:srgbClr val="393D42"/>
                </a:solidFill>
              </a:rPr>
              <a:t> </a:t>
            </a:r>
            <a:r>
              <a:rPr lang="en-US" altLang="zh-CN" sz="3200" dirty="0" smtClean="0">
                <a:solidFill>
                  <a:srgbClr val="393D42"/>
                </a:solidFill>
              </a:rPr>
              <a:t>example</a:t>
            </a:r>
            <a:endParaRPr lang="zh-CN" altLang="en-US" sz="3200" dirty="0">
              <a:solidFill>
                <a:srgbClr val="393D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360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47 -0.00093 L -0.21267 0.5044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69" y="25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153" y="1280048"/>
            <a:ext cx="1829435" cy="1039495"/>
          </a:xfrm>
          <a:prstGeom prst="rect">
            <a:avLst/>
          </a:prstGeom>
        </p:spPr>
      </p:pic>
      <p:pic>
        <p:nvPicPr>
          <p:cNvPr id="26" name="图片 2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153" y="1280048"/>
            <a:ext cx="1829435" cy="1039495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152" y="1280048"/>
            <a:ext cx="1829435" cy="1039495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3"/>
          <a:stretch>
            <a:fillRect/>
          </a:stretch>
        </p:blipFill>
        <p:spPr>
          <a:xfrm>
            <a:off x="4038818" y="689237"/>
            <a:ext cx="3908107" cy="2221118"/>
          </a:xfrm>
          <a:prstGeom prst="rect">
            <a:avLst/>
          </a:prstGeom>
          <a:ln w="19050"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</p:pic>
      <p:grpSp>
        <p:nvGrpSpPr>
          <p:cNvPr id="9" name="组 8"/>
          <p:cNvGrpSpPr/>
          <p:nvPr/>
        </p:nvGrpSpPr>
        <p:grpSpPr>
          <a:xfrm>
            <a:off x="5877302" y="3728191"/>
            <a:ext cx="1828165" cy="1880235"/>
            <a:chOff x="4628365" y="3772332"/>
            <a:chExt cx="1828165" cy="1880235"/>
          </a:xfrm>
        </p:grpSpPr>
        <p:pic>
          <p:nvPicPr>
            <p:cNvPr id="5" name="图片 4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3935" y="5014392"/>
              <a:ext cx="1712595" cy="638175"/>
            </a:xfrm>
            <a:prstGeom prst="rect">
              <a:avLst/>
            </a:prstGeom>
          </p:spPr>
        </p:pic>
        <p:pic>
          <p:nvPicPr>
            <p:cNvPr id="6" name="图片 5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6315" y="3772332"/>
              <a:ext cx="1369695" cy="638175"/>
            </a:xfrm>
            <a:prstGeom prst="rect">
              <a:avLst/>
            </a:prstGeom>
          </p:spPr>
        </p:pic>
        <p:sp>
          <p:nvSpPr>
            <p:cNvPr id="11" name="右箭头 10"/>
            <p:cNvSpPr/>
            <p:nvPr/>
          </p:nvSpPr>
          <p:spPr>
            <a:xfrm>
              <a:off x="4628365" y="3997122"/>
              <a:ext cx="457200" cy="254000"/>
            </a:xfrm>
            <a:prstGeom prst="rightArrow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2" name="右箭头 11"/>
            <p:cNvSpPr/>
            <p:nvPr/>
          </p:nvSpPr>
          <p:spPr>
            <a:xfrm>
              <a:off x="4628365" y="5174412"/>
              <a:ext cx="457200" cy="254000"/>
            </a:xfrm>
            <a:prstGeom prst="rightArrow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 2"/>
          <p:cNvGrpSpPr/>
          <p:nvPr/>
        </p:nvGrpSpPr>
        <p:grpSpPr>
          <a:xfrm>
            <a:off x="1414522" y="3483716"/>
            <a:ext cx="4464685" cy="2408555"/>
            <a:chOff x="165585" y="3527857"/>
            <a:chExt cx="4464685" cy="2408555"/>
          </a:xfrm>
        </p:grpSpPr>
        <p:pic>
          <p:nvPicPr>
            <p:cNvPr id="4" name="图片 3"/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585" y="5017567"/>
              <a:ext cx="1493520" cy="66929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870" y="3780587"/>
              <a:ext cx="1369695" cy="6896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1777850" y="3527857"/>
              <a:ext cx="2852420" cy="2408555"/>
            </a:xfrm>
            <a:prstGeom prst="rect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3" name="右箭头 12"/>
            <p:cNvSpPr/>
            <p:nvPr/>
          </p:nvSpPr>
          <p:spPr>
            <a:xfrm>
              <a:off x="1308585" y="4033317"/>
              <a:ext cx="457200" cy="254000"/>
            </a:xfrm>
            <a:prstGeom prst="rightArrow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4" name="右箭头 13"/>
            <p:cNvSpPr/>
            <p:nvPr/>
          </p:nvSpPr>
          <p:spPr>
            <a:xfrm>
              <a:off x="1308585" y="5180127"/>
              <a:ext cx="457200" cy="254000"/>
            </a:xfrm>
            <a:prstGeom prst="rightArrow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4916398" y="3827567"/>
            <a:ext cx="1017419" cy="50863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COMPUTA-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-TIONS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35149" y="5035020"/>
            <a:ext cx="1017419" cy="50863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COMPUTA-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-TIONS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9702" y="970268"/>
            <a:ext cx="2070099" cy="1067649"/>
          </a:xfrm>
          <a:prstGeom prst="rect">
            <a:avLst/>
          </a:prstGeom>
          <a:ln w="19050"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5777" y="1704244"/>
            <a:ext cx="2109754" cy="983551"/>
          </a:xfrm>
          <a:prstGeom prst="rect">
            <a:avLst/>
          </a:prstGeom>
          <a:ln w="19050"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</p:pic>
      <p:sp>
        <p:nvSpPr>
          <p:cNvPr id="28" name="矩形 27"/>
          <p:cNvSpPr/>
          <p:nvPr/>
        </p:nvSpPr>
        <p:spPr>
          <a:xfrm>
            <a:off x="1825390" y="6152591"/>
            <a:ext cx="55393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/>
              <a:t>M</a:t>
            </a:r>
            <a:r>
              <a:rPr lang="en-US" altLang="zh-CN" sz="2000" dirty="0" smtClean="0"/>
              <a:t>emory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usage</a:t>
            </a:r>
            <a:r>
              <a:rPr lang="zh-CN" altLang="en-US" sz="2000" dirty="0" smtClean="0"/>
              <a:t> </a:t>
            </a:r>
            <a:r>
              <a:rPr lang="en-US" altLang="zh-CN" sz="2000" dirty="0" smtClean="0">
                <a:solidFill>
                  <a:srgbClr val="9F3230"/>
                </a:solidFill>
              </a:rPr>
              <a:t>doubles</a:t>
            </a:r>
            <a:r>
              <a:rPr lang="en-US" altLang="zh-CN" sz="2000" dirty="0" smtClean="0"/>
              <a:t>.</a:t>
            </a:r>
            <a:r>
              <a:rPr lang="zh-CN" altLang="en-US" sz="2000" dirty="0"/>
              <a:t> </a:t>
            </a:r>
            <a:r>
              <a:rPr lang="en-US" altLang="zh-CN" sz="2000" dirty="0" smtClean="0"/>
              <a:t>Running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time</a:t>
            </a:r>
            <a:r>
              <a:rPr lang="zh-CN" altLang="en-US" sz="2000" dirty="0" smtClean="0"/>
              <a:t> </a:t>
            </a:r>
            <a:r>
              <a:rPr lang="en-US" altLang="zh-CN" sz="2000" dirty="0" smtClean="0">
                <a:solidFill>
                  <a:srgbClr val="9F3230"/>
                </a:solidFill>
              </a:rPr>
              <a:t>increases</a:t>
            </a:r>
            <a:r>
              <a:rPr lang="en-US" altLang="zh-CN" sz="2000" dirty="0" smtClean="0"/>
              <a:t>.</a:t>
            </a:r>
            <a:endParaRPr lang="zh-CN" altLang="en-US" sz="2000" dirty="0" smtClean="0"/>
          </a:p>
        </p:txBody>
      </p:sp>
      <p:sp>
        <p:nvSpPr>
          <p:cNvPr id="10" name="幻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41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1.48148E-6 L -0.21389 0.33518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94" y="1675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47 -0.00093 L -0.21267 0.5044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69" y="25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7130805" y="2364281"/>
            <a:ext cx="18309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kern="50" dirty="0" smtClean="0">
                <a:solidFill>
                  <a:srgbClr val="9F3230"/>
                </a:solidFill>
                <a:ea typeface="Times New Roman" charset="0"/>
              </a:rPr>
              <a:t>running</a:t>
            </a:r>
            <a:r>
              <a:rPr lang="zh-CN" altLang="en-US" sz="2000" kern="50" dirty="0" smtClean="0">
                <a:solidFill>
                  <a:srgbClr val="9F3230"/>
                </a:solidFill>
                <a:ea typeface="Times New Roman" charset="0"/>
              </a:rPr>
              <a:t> </a:t>
            </a:r>
            <a:r>
              <a:rPr lang="en-US" altLang="zh-CN" sz="2000" kern="50" dirty="0" smtClean="0">
                <a:solidFill>
                  <a:srgbClr val="9F3230"/>
                </a:solidFill>
                <a:ea typeface="Times New Roman" charset="0"/>
              </a:rPr>
              <a:t>time</a:t>
            </a:r>
            <a:r>
              <a:rPr lang="en-GB" altLang="zh-CN" sz="2000" kern="50" dirty="0" smtClean="0">
                <a:solidFill>
                  <a:srgbClr val="9F3230"/>
                </a:solidFill>
                <a:ea typeface="Times New Roman" charset="0"/>
              </a:rPr>
              <a:t>*</a:t>
            </a:r>
            <a:r>
              <a:rPr lang="en-GB" altLang="zh-CN" sz="2000" i="1" kern="50" dirty="0" smtClean="0">
                <a:solidFill>
                  <a:srgbClr val="9F3230"/>
                </a:solidFill>
                <a:ea typeface="Times New Roman" charset="0"/>
              </a:rPr>
              <a:t>n</a:t>
            </a:r>
            <a:r>
              <a:rPr lang="zh-CN" altLang="zh-CN" dirty="0" smtClean="0"/>
              <a:t> 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6840221" y="4250267"/>
            <a:ext cx="230377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kern="50" dirty="0" smtClean="0">
                <a:solidFill>
                  <a:srgbClr val="9F3230"/>
                </a:solidFill>
                <a:ea typeface="Times New Roman" charset="0"/>
              </a:rPr>
              <a:t>memory</a:t>
            </a:r>
            <a:r>
              <a:rPr lang="zh-CN" altLang="en-US" sz="2000" kern="50" dirty="0" smtClean="0">
                <a:solidFill>
                  <a:srgbClr val="9F3230"/>
                </a:solidFill>
                <a:ea typeface="Times New Roman" charset="0"/>
              </a:rPr>
              <a:t> </a:t>
            </a:r>
            <a:r>
              <a:rPr lang="en-US" altLang="zh-CN" sz="2000" kern="50" dirty="0" smtClean="0">
                <a:solidFill>
                  <a:srgbClr val="9F3230"/>
                </a:solidFill>
                <a:ea typeface="Times New Roman" charset="0"/>
              </a:rPr>
              <a:t>usage</a:t>
            </a:r>
            <a:r>
              <a:rPr lang="en-GB" altLang="zh-CN" sz="2000" kern="50" dirty="0" smtClean="0">
                <a:solidFill>
                  <a:srgbClr val="9F3230"/>
                </a:solidFill>
                <a:ea typeface="Times New Roman" charset="0"/>
              </a:rPr>
              <a:t>*</a:t>
            </a:r>
            <a:r>
              <a:rPr lang="en-US" altLang="zh-CN" sz="2000" i="1" kern="50" dirty="0" smtClean="0">
                <a:solidFill>
                  <a:srgbClr val="9F3230"/>
                </a:solidFill>
                <a:ea typeface="Times New Roman" charset="0"/>
              </a:rPr>
              <a:t>n</a:t>
            </a:r>
            <a:endParaRPr lang="zh-CN" altLang="en-US" sz="2000" dirty="0">
              <a:solidFill>
                <a:srgbClr val="9F3230"/>
              </a:solidFill>
            </a:endParaRPr>
          </a:p>
          <a:p>
            <a:pPr algn="ctr"/>
            <a:r>
              <a:rPr lang="en-GB" altLang="zh-CN" sz="2000" dirty="0" smtClean="0">
                <a:solidFill>
                  <a:srgbClr val="9F3230"/>
                </a:solidFill>
              </a:rPr>
              <a:t>limited</a:t>
            </a:r>
            <a:r>
              <a:rPr lang="zh-CN" altLang="en-US" sz="2000" dirty="0" smtClean="0">
                <a:solidFill>
                  <a:srgbClr val="9F3230"/>
                </a:solidFill>
              </a:rPr>
              <a:t> </a:t>
            </a:r>
            <a:r>
              <a:rPr lang="en-US" altLang="zh-CN" sz="2000" dirty="0" smtClean="0">
                <a:solidFill>
                  <a:srgbClr val="9F3230"/>
                </a:solidFill>
              </a:rPr>
              <a:t>jobs</a:t>
            </a:r>
            <a:endParaRPr lang="zh-CN" altLang="en-US" sz="2000" dirty="0" smtClean="0">
              <a:solidFill>
                <a:srgbClr val="9F3230"/>
              </a:solidFill>
            </a:endParaRPr>
          </a:p>
          <a:p>
            <a:pPr algn="ctr"/>
            <a:r>
              <a:rPr lang="en-US" altLang="zh-CN" sz="2000" dirty="0" smtClean="0">
                <a:solidFill>
                  <a:srgbClr val="9F3230"/>
                </a:solidFill>
              </a:rPr>
              <a:t>longer</a:t>
            </a:r>
            <a:r>
              <a:rPr lang="zh-CN" altLang="en-US" sz="2000" dirty="0" smtClean="0">
                <a:solidFill>
                  <a:srgbClr val="9F3230"/>
                </a:solidFill>
              </a:rPr>
              <a:t> </a:t>
            </a:r>
            <a:r>
              <a:rPr lang="en-US" altLang="zh-CN" sz="2000" dirty="0" smtClean="0">
                <a:solidFill>
                  <a:srgbClr val="9F3230"/>
                </a:solidFill>
              </a:rPr>
              <a:t>running</a:t>
            </a:r>
            <a:r>
              <a:rPr lang="zh-CN" altLang="en-US" sz="2000" dirty="0" smtClean="0">
                <a:solidFill>
                  <a:srgbClr val="9F3230"/>
                </a:solidFill>
              </a:rPr>
              <a:t> </a:t>
            </a:r>
            <a:r>
              <a:rPr lang="en-US" altLang="zh-CN" sz="2000" dirty="0" smtClean="0">
                <a:solidFill>
                  <a:srgbClr val="9F3230"/>
                </a:solidFill>
              </a:rPr>
              <a:t>time</a:t>
            </a:r>
            <a:r>
              <a:rPr lang="zh-CN" altLang="zh-CN" sz="2000" dirty="0" smtClean="0"/>
              <a:t> </a:t>
            </a:r>
            <a:endParaRPr lang="zh-CN" altLang="en-US" sz="2000" dirty="0">
              <a:solidFill>
                <a:srgbClr val="9F3230"/>
              </a:solidFill>
            </a:endParaRPr>
          </a:p>
        </p:txBody>
      </p:sp>
      <p:sp>
        <p:nvSpPr>
          <p:cNvPr id="32" name="矩形 31"/>
          <p:cNvSpPr>
            <a:spLocks noChangeArrowheads="1"/>
          </p:cNvSpPr>
          <p:nvPr/>
        </p:nvSpPr>
        <p:spPr bwMode="auto">
          <a:xfrm>
            <a:off x="2125493" y="3392680"/>
            <a:ext cx="2807335" cy="2708862"/>
          </a:xfrm>
          <a:prstGeom prst="rect">
            <a:avLst/>
          </a:prstGeom>
          <a:ln w="12700"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200" kern="100">
                <a:solidFill>
                  <a:srgbClr val="000000"/>
                </a:solidFill>
                <a:effectLst/>
                <a:ea typeface="宋体" charset="0"/>
                <a:cs typeface="Times New Roman" charset="0"/>
              </a:rPr>
              <a:t> </a:t>
            </a:r>
            <a:endParaRPr lang="zh-CN" sz="1200" kern="100">
              <a:effectLst/>
              <a:ea typeface="宋体" charset="0"/>
              <a:cs typeface="Times New Roman" charset="0"/>
            </a:endParaRPr>
          </a:p>
        </p:txBody>
      </p:sp>
      <p:grpSp>
        <p:nvGrpSpPr>
          <p:cNvPr id="10" name="组 9"/>
          <p:cNvGrpSpPr/>
          <p:nvPr/>
        </p:nvGrpSpPr>
        <p:grpSpPr>
          <a:xfrm>
            <a:off x="3777126" y="3859405"/>
            <a:ext cx="3251538" cy="1406525"/>
            <a:chOff x="3639930" y="4180802"/>
            <a:chExt cx="3251538" cy="1406525"/>
          </a:xfrm>
        </p:grpSpPr>
        <p:sp>
          <p:nvSpPr>
            <p:cNvPr id="38" name="文本框 37"/>
            <p:cNvSpPr txBox="1"/>
            <p:nvPr/>
          </p:nvSpPr>
          <p:spPr>
            <a:xfrm>
              <a:off x="5576682" y="4203048"/>
              <a:ext cx="1314786" cy="33083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kern="100" dirty="0">
                  <a:effectLst/>
                  <a:ea typeface="宋体" charset="0"/>
                  <a:cs typeface="Times New Roman" charset="0"/>
                </a:rPr>
                <a:t>ANSWER 1</a:t>
              </a:r>
              <a:endParaRPr lang="zh-CN" sz="1600" kern="100" dirty="0">
                <a:effectLst/>
                <a:ea typeface="宋体" charset="0"/>
                <a:cs typeface="Times New Roman" charset="0"/>
              </a:endParaRPr>
            </a:p>
          </p:txBody>
        </p:sp>
        <p:sp>
          <p:nvSpPr>
            <p:cNvPr id="40" name="矩形 39"/>
            <p:cNvSpPr>
              <a:spLocks noChangeArrowheads="1"/>
            </p:cNvSpPr>
            <p:nvPr/>
          </p:nvSpPr>
          <p:spPr bwMode="auto">
            <a:xfrm>
              <a:off x="3639931" y="4180802"/>
              <a:ext cx="911860" cy="431800"/>
            </a:xfrm>
            <a:prstGeom prst="rect">
              <a:avLst/>
            </a:prstGeom>
            <a:pattFill prst="ltUp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75000"/>
                </a:schemeClr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91440" tIns="0" rIns="91440" bIns="0" anchor="ctr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400" kern="100" dirty="0" smtClean="0">
                  <a:effectLst/>
                  <a:ea typeface="宋体" charset="0"/>
                  <a:cs typeface="Times New Roman" charset="0"/>
                </a:rPr>
                <a:t>DYNAMIC DATA</a:t>
              </a:r>
              <a:endParaRPr lang="zh-CN" sz="1400" kern="100" dirty="0">
                <a:effectLst/>
                <a:ea typeface="宋体" charset="0"/>
                <a:cs typeface="Times New Roman" charset="0"/>
              </a:endParaRPr>
            </a:p>
          </p:txBody>
        </p:sp>
        <p:cxnSp>
          <p:nvCxnSpPr>
            <p:cNvPr id="41" name="直线箭头连接符 40"/>
            <p:cNvCxnSpPr>
              <a:cxnSpLocks noChangeShapeType="1"/>
            </p:cNvCxnSpPr>
            <p:nvPr/>
          </p:nvCxnSpPr>
          <p:spPr bwMode="auto">
            <a:xfrm>
              <a:off x="4620371" y="4403052"/>
              <a:ext cx="995046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prstDash val="lg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7999"/>
                      </a:srgbClr>
                    </a:outerShdw>
                  </a:effectLst>
                </a14:hiddenEffects>
              </a:ext>
              <a:ext uri="{FAA26D3D-D897-4be2-8F04-BA451C77F1D7}">
                <ma14:placeholderFlag xmlns:ma14="http://schemas.microsoft.com/office/mac/drawingml/2011/main"/>
              </a:ext>
              <a:ext uri="{C572A759-6A51-4108-AA02-DFA0A04FC94B}">
                <ma14:wrappingTextBoxFlag xmlns:ma14="http://schemas.microsoft.com/office/mac/drawingml/2011/main"/>
              </a:ext>
            </a:extLst>
          </p:spPr>
        </p:cxnSp>
        <p:sp>
          <p:nvSpPr>
            <p:cNvPr id="36" name="矩形 35"/>
            <p:cNvSpPr>
              <a:spLocks noChangeArrowheads="1"/>
            </p:cNvSpPr>
            <p:nvPr/>
          </p:nvSpPr>
          <p:spPr bwMode="auto">
            <a:xfrm>
              <a:off x="3639930" y="5155527"/>
              <a:ext cx="911861" cy="431800"/>
            </a:xfrm>
            <a:prstGeom prst="rect">
              <a:avLst/>
            </a:prstGeom>
            <a:pattFill prst="ltUp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75000"/>
                </a:schemeClr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91440" tIns="0" rIns="91440" bIns="0" anchor="ctr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400" kern="100" dirty="0">
                  <a:effectLst/>
                  <a:ea typeface="宋体" charset="0"/>
                  <a:cs typeface="Times New Roman" charset="0"/>
                </a:rPr>
                <a:t>DYNAMIC DATA</a:t>
              </a:r>
              <a:endParaRPr lang="zh-CN" sz="1400" kern="100" dirty="0">
                <a:effectLst/>
                <a:ea typeface="宋体" charset="0"/>
                <a:cs typeface="Times New Roman" charset="0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576682" y="5130760"/>
              <a:ext cx="1314786" cy="28035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kern="100" dirty="0">
                  <a:effectLst/>
                  <a:ea typeface="宋体" charset="0"/>
                  <a:cs typeface="Times New Roman" charset="0"/>
                </a:rPr>
                <a:t>ANSWER 2</a:t>
              </a:r>
              <a:endParaRPr lang="zh-CN" sz="1600" kern="100" dirty="0">
                <a:effectLst/>
                <a:ea typeface="宋体" charset="0"/>
                <a:cs typeface="Times New Roman" charset="0"/>
              </a:endParaRPr>
            </a:p>
          </p:txBody>
        </p:sp>
        <p:cxnSp>
          <p:nvCxnSpPr>
            <p:cNvPr id="42" name="直线箭头连接符 41"/>
            <p:cNvCxnSpPr>
              <a:cxnSpLocks noChangeShapeType="1"/>
            </p:cNvCxnSpPr>
            <p:nvPr/>
          </p:nvCxnSpPr>
          <p:spPr bwMode="auto">
            <a:xfrm flipV="1">
              <a:off x="4620371" y="5292052"/>
              <a:ext cx="995046" cy="254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7999"/>
                      </a:srgbClr>
                    </a:outerShdw>
                  </a:effectLst>
                </a14:hiddenEffects>
              </a:ext>
              <a:ext uri="{FAA26D3D-D897-4be2-8F04-BA451C77F1D7}">
                <ma14:placeholderFlag xmlns:ma14="http://schemas.microsoft.com/office/mac/drawingml/2011/main"/>
              </a:ext>
              <a:ext uri="{C572A759-6A51-4108-AA02-DFA0A04FC94B}">
                <ma14:wrappingTextBoxFlag xmlns:ma14="http://schemas.microsoft.com/office/mac/drawingml/2011/main"/>
              </a:ext>
            </a:extLst>
          </p:spPr>
        </p:cxnSp>
      </p:grpSp>
      <p:grpSp>
        <p:nvGrpSpPr>
          <p:cNvPr id="8" name="组 7"/>
          <p:cNvGrpSpPr/>
          <p:nvPr/>
        </p:nvGrpSpPr>
        <p:grpSpPr>
          <a:xfrm>
            <a:off x="263019" y="3547620"/>
            <a:ext cx="4494548" cy="1811020"/>
            <a:chOff x="125823" y="3869017"/>
            <a:chExt cx="4494548" cy="1811020"/>
          </a:xfrm>
        </p:grpSpPr>
        <p:sp>
          <p:nvSpPr>
            <p:cNvPr id="33" name="矩形 32"/>
            <p:cNvSpPr>
              <a:spLocks noChangeArrowheads="1"/>
            </p:cNvSpPr>
            <p:nvPr/>
          </p:nvSpPr>
          <p:spPr bwMode="auto">
            <a:xfrm>
              <a:off x="2181339" y="3869017"/>
              <a:ext cx="2439032" cy="83439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kern="100" dirty="0">
                  <a:effectLst/>
                  <a:ea typeface="宋体" charset="0"/>
                  <a:cs typeface="Times New Roman" charset="0"/>
                </a:rPr>
                <a:t>JOB 1</a:t>
              </a:r>
              <a:endParaRPr lang="zh-CN" sz="1600" kern="100" dirty="0">
                <a:effectLst/>
                <a:ea typeface="宋体" charset="0"/>
                <a:cs typeface="Times New Roman" charset="0"/>
              </a:endParaRPr>
            </a:p>
          </p:txBody>
        </p:sp>
        <p:sp>
          <p:nvSpPr>
            <p:cNvPr id="39" name="矩形 38"/>
            <p:cNvSpPr>
              <a:spLocks noChangeArrowheads="1"/>
            </p:cNvSpPr>
            <p:nvPr/>
          </p:nvSpPr>
          <p:spPr bwMode="auto">
            <a:xfrm>
              <a:off x="2265791" y="4180802"/>
              <a:ext cx="1305559" cy="431800"/>
            </a:xfrm>
            <a:prstGeom prst="rect">
              <a:avLst/>
            </a:prstGeom>
            <a:pattFill prst="pct10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75000"/>
                </a:schemeClr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600" kern="100" dirty="0">
                  <a:effectLst/>
                  <a:ea typeface="宋体" charset="0"/>
                  <a:cs typeface="Times New Roman" charset="0"/>
                </a:rPr>
                <a:t>STATIC DATA</a:t>
              </a:r>
              <a:endParaRPr lang="zh-CN" sz="1600" kern="100" dirty="0">
                <a:effectLst/>
                <a:ea typeface="宋体" charset="0"/>
                <a:cs typeface="Times New Roman" charset="0"/>
              </a:endParaRPr>
            </a:p>
          </p:txBody>
        </p:sp>
        <p:cxnSp>
          <p:nvCxnSpPr>
            <p:cNvPr id="43" name="直线箭头连接符 42"/>
            <p:cNvCxnSpPr>
              <a:cxnSpLocks noChangeShapeType="1"/>
            </p:cNvCxnSpPr>
            <p:nvPr/>
          </p:nvCxnSpPr>
          <p:spPr bwMode="auto">
            <a:xfrm flipV="1">
              <a:off x="1008492" y="4403052"/>
              <a:ext cx="1172847" cy="254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prstDash val="lg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7999"/>
                      </a:srgbClr>
                    </a:outerShdw>
                  </a:effectLst>
                </a14:hiddenEffects>
              </a:ext>
              <a:ext uri="{FAA26D3D-D897-4be2-8F04-BA451C77F1D7}">
                <ma14:placeholderFlag xmlns:ma14="http://schemas.microsoft.com/office/mac/drawingml/2011/main"/>
              </a:ext>
              <a:ext uri="{C572A759-6A51-4108-AA02-DFA0A04FC94B}">
                <ma14:wrappingTextBoxFlag xmlns:ma14="http://schemas.microsoft.com/office/mac/drawingml/2011/main"/>
              </a:ext>
            </a:extLst>
          </p:spPr>
        </p:cxnSp>
        <p:sp>
          <p:nvSpPr>
            <p:cNvPr id="44" name="文本框 43"/>
            <p:cNvSpPr txBox="1"/>
            <p:nvPr/>
          </p:nvSpPr>
          <p:spPr>
            <a:xfrm>
              <a:off x="125823" y="4211555"/>
              <a:ext cx="1172846" cy="25273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kern="100" dirty="0">
                  <a:effectLst/>
                  <a:ea typeface="宋体" charset="0"/>
                  <a:cs typeface="Times New Roman" charset="0"/>
                </a:rPr>
                <a:t>QUERY 1</a:t>
              </a:r>
              <a:endParaRPr lang="zh-CN" sz="1600" kern="100" dirty="0">
                <a:effectLst/>
                <a:ea typeface="宋体" charset="0"/>
                <a:cs typeface="Times New Roman" charset="0"/>
              </a:endParaRPr>
            </a:p>
          </p:txBody>
        </p:sp>
        <p:sp>
          <p:nvSpPr>
            <p:cNvPr id="34" name="矩形 33"/>
            <p:cNvSpPr>
              <a:spLocks noChangeArrowheads="1"/>
            </p:cNvSpPr>
            <p:nvPr/>
          </p:nvSpPr>
          <p:spPr bwMode="auto">
            <a:xfrm>
              <a:off x="2190862" y="4824057"/>
              <a:ext cx="2429509" cy="85598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kern="100" dirty="0">
                  <a:effectLst/>
                  <a:ea typeface="宋体" charset="0"/>
                  <a:cs typeface="Times New Roman" charset="0"/>
                </a:rPr>
                <a:t>JOB 2</a:t>
              </a:r>
              <a:endParaRPr lang="zh-CN" sz="1600" kern="100" dirty="0">
                <a:effectLst/>
                <a:ea typeface="宋体" charset="0"/>
                <a:cs typeface="Times New Roman" charset="0"/>
              </a:endParaRPr>
            </a:p>
          </p:txBody>
        </p:sp>
        <p:sp>
          <p:nvSpPr>
            <p:cNvPr id="35" name="矩形 34"/>
            <p:cNvSpPr>
              <a:spLocks noChangeArrowheads="1"/>
            </p:cNvSpPr>
            <p:nvPr/>
          </p:nvSpPr>
          <p:spPr bwMode="auto">
            <a:xfrm>
              <a:off x="2265792" y="5155527"/>
              <a:ext cx="1305558" cy="431800"/>
            </a:xfrm>
            <a:prstGeom prst="rect">
              <a:avLst/>
            </a:prstGeom>
            <a:pattFill prst="pct10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75000"/>
                </a:schemeClr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sz="1600" kern="100" dirty="0">
                  <a:effectLst/>
                  <a:ea typeface="宋体" charset="0"/>
                  <a:cs typeface="Times New Roman" charset="0"/>
                </a:rPr>
                <a:t>STATIC DATA</a:t>
              </a:r>
              <a:endParaRPr lang="zh-CN" sz="1600" kern="100" dirty="0">
                <a:effectLst/>
                <a:ea typeface="宋体" charset="0"/>
                <a:cs typeface="Times New Roman" charset="0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25823" y="5136210"/>
              <a:ext cx="1144420" cy="24828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kern="100" dirty="0">
                  <a:effectLst/>
                  <a:ea typeface="宋体" charset="0"/>
                  <a:cs typeface="Times New Roman" charset="0"/>
                </a:rPr>
                <a:t>QUERY 2</a:t>
              </a:r>
              <a:endParaRPr lang="zh-CN" sz="1600" kern="100" dirty="0">
                <a:effectLst/>
                <a:ea typeface="宋体" charset="0"/>
                <a:cs typeface="Times New Roman" charset="0"/>
              </a:endParaRPr>
            </a:p>
          </p:txBody>
        </p:sp>
        <p:cxnSp>
          <p:nvCxnSpPr>
            <p:cNvPr id="46" name="直线箭头连接符 45"/>
            <p:cNvCxnSpPr>
              <a:cxnSpLocks noChangeShapeType="1"/>
            </p:cNvCxnSpPr>
            <p:nvPr/>
          </p:nvCxnSpPr>
          <p:spPr bwMode="auto">
            <a:xfrm>
              <a:off x="1008492" y="5294592"/>
              <a:ext cx="1177292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7999"/>
                      </a:srgbClr>
                    </a:outerShdw>
                  </a:effectLst>
                </a14:hiddenEffects>
              </a:ext>
              <a:ext uri="{FAA26D3D-D897-4be2-8F04-BA451C77F1D7}">
                <ma14:placeholderFlag xmlns:ma14="http://schemas.microsoft.com/office/mac/drawingml/2011/main"/>
              </a:ext>
              <a:ext uri="{C572A759-6A51-4108-AA02-DFA0A04FC94B}">
                <ma14:wrappingTextBoxFlag xmlns:ma14="http://schemas.microsoft.com/office/mac/drawingml/2011/main"/>
              </a:ext>
            </a:extLst>
          </p:spPr>
        </p:cxnSp>
      </p:grpSp>
      <p:sp>
        <p:nvSpPr>
          <p:cNvPr id="65" name="矩形 64"/>
          <p:cNvSpPr>
            <a:spLocks noChangeArrowheads="1"/>
          </p:cNvSpPr>
          <p:nvPr/>
        </p:nvSpPr>
        <p:spPr bwMode="auto">
          <a:xfrm>
            <a:off x="2125493" y="1944585"/>
            <a:ext cx="2807335" cy="1143073"/>
          </a:xfrm>
          <a:prstGeom prst="rect">
            <a:avLst/>
          </a:prstGeom>
          <a:ln w="12700"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200" kern="100">
                <a:solidFill>
                  <a:srgbClr val="000000"/>
                </a:solidFill>
                <a:effectLst/>
                <a:ea typeface="宋体" charset="0"/>
                <a:cs typeface="Times New Roman" charset="0"/>
              </a:rPr>
              <a:t> </a:t>
            </a:r>
            <a:endParaRPr lang="zh-CN" sz="1200" kern="10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713878" y="2433556"/>
            <a:ext cx="1194967" cy="33083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ANSWER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67" name="矩形 66"/>
          <p:cNvSpPr>
            <a:spLocks noChangeArrowheads="1"/>
          </p:cNvSpPr>
          <p:nvPr/>
        </p:nvSpPr>
        <p:spPr bwMode="auto">
          <a:xfrm>
            <a:off x="2402987" y="2411310"/>
            <a:ext cx="1305559" cy="431800"/>
          </a:xfrm>
          <a:prstGeom prst="rect">
            <a:avLst/>
          </a:prstGeom>
          <a:pattFill prst="pct10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STATIC DATA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68" name="矩形 67"/>
          <p:cNvSpPr>
            <a:spLocks noChangeArrowheads="1"/>
          </p:cNvSpPr>
          <p:nvPr/>
        </p:nvSpPr>
        <p:spPr bwMode="auto">
          <a:xfrm>
            <a:off x="3777127" y="2411310"/>
            <a:ext cx="911860" cy="431800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 smtClean="0">
                <a:effectLst/>
                <a:ea typeface="宋体" charset="0"/>
                <a:cs typeface="Times New Roman" charset="0"/>
              </a:rPr>
              <a:t>DYNAMIC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69" name="直线箭头连接符 68"/>
          <p:cNvCxnSpPr>
            <a:cxnSpLocks noChangeShapeType="1"/>
          </p:cNvCxnSpPr>
          <p:nvPr/>
        </p:nvCxnSpPr>
        <p:spPr bwMode="auto">
          <a:xfrm>
            <a:off x="4757567" y="2633560"/>
            <a:ext cx="995046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cxnSp>
        <p:nvCxnSpPr>
          <p:cNvPr id="70" name="直线箭头连接符 69"/>
          <p:cNvCxnSpPr>
            <a:cxnSpLocks noChangeShapeType="1"/>
          </p:cNvCxnSpPr>
          <p:nvPr/>
        </p:nvCxnSpPr>
        <p:spPr bwMode="auto">
          <a:xfrm flipV="1">
            <a:off x="1145688" y="2633560"/>
            <a:ext cx="1172847" cy="254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71" name="文本框 70"/>
          <p:cNvSpPr txBox="1"/>
          <p:nvPr/>
        </p:nvSpPr>
        <p:spPr>
          <a:xfrm>
            <a:off x="263019" y="2442063"/>
            <a:ext cx="1172846" cy="25273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QUERY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50723" y="2658229"/>
            <a:ext cx="1144420" cy="24828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solidFill>
                  <a:srgbClr val="9F3230"/>
                </a:solidFill>
                <a:effectLst/>
                <a:ea typeface="宋体" charset="0"/>
                <a:cs typeface="Times New Roman" charset="0"/>
              </a:rPr>
              <a:t>QUERY </a:t>
            </a:r>
            <a:r>
              <a:rPr lang="en-US" sz="1600" kern="100" dirty="0" smtClean="0">
                <a:solidFill>
                  <a:srgbClr val="9F3230"/>
                </a:solidFill>
                <a:effectLst/>
                <a:ea typeface="宋体" charset="0"/>
                <a:cs typeface="Times New Roman" charset="0"/>
              </a:rPr>
              <a:t>2</a:t>
            </a:r>
            <a:endParaRPr lang="zh-CN" sz="1600" kern="100" dirty="0">
              <a:solidFill>
                <a:srgbClr val="9F3230"/>
              </a:solidFill>
              <a:effectLst/>
              <a:ea typeface="宋体" charset="0"/>
              <a:cs typeface="Times New Roman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708546" y="2308206"/>
            <a:ext cx="1017419" cy="50863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COMPUTA-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-TIONS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1145688" y="815835"/>
            <a:ext cx="67656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smtClean="0"/>
              <a:t>So</a:t>
            </a:r>
            <a:r>
              <a:rPr lang="zh-CN" altLang="en-US" sz="2000" dirty="0" smtClean="0"/>
              <a:t> </a:t>
            </a:r>
            <a:r>
              <a:rPr lang="en-US" altLang="zh-CN" sz="2000" dirty="0"/>
              <a:t>w</a:t>
            </a:r>
            <a:r>
              <a:rPr lang="en-US" altLang="zh-CN" sz="2000" dirty="0" smtClean="0"/>
              <a:t>hen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executing</a:t>
            </a:r>
            <a:r>
              <a:rPr lang="zh-CN" altLang="en-US" sz="2000" dirty="0" smtClean="0"/>
              <a:t> </a:t>
            </a:r>
            <a:r>
              <a:rPr lang="en-US" altLang="zh-CN" sz="2000" dirty="0" smtClean="0">
                <a:solidFill>
                  <a:srgbClr val="9F3230"/>
                </a:solidFill>
              </a:rPr>
              <a:t>multiple</a:t>
            </a:r>
            <a:r>
              <a:rPr lang="zh-CN" altLang="en-US" sz="2000" dirty="0" smtClean="0">
                <a:solidFill>
                  <a:srgbClr val="9F3230"/>
                </a:solidFill>
              </a:rPr>
              <a:t> </a:t>
            </a:r>
            <a:r>
              <a:rPr lang="en-US" altLang="zh-CN" sz="2000" dirty="0" smtClean="0">
                <a:solidFill>
                  <a:srgbClr val="9F3230"/>
                </a:solidFill>
              </a:rPr>
              <a:t>concurrent</a:t>
            </a:r>
            <a:r>
              <a:rPr lang="zh-CN" altLang="en-US" sz="2000" dirty="0" smtClean="0">
                <a:solidFill>
                  <a:srgbClr val="9F3230"/>
                </a:solidFill>
              </a:rPr>
              <a:t> </a:t>
            </a:r>
            <a:r>
              <a:rPr lang="en-US" altLang="zh-CN" sz="2000" dirty="0" smtClean="0"/>
              <a:t>jobs…</a:t>
            </a:r>
            <a:endParaRPr lang="zh-CN" altLang="en-US" sz="2000" dirty="0"/>
          </a:p>
        </p:txBody>
      </p:sp>
      <p:sp>
        <p:nvSpPr>
          <p:cNvPr id="47" name="矩形 46"/>
          <p:cNvSpPr>
            <a:spLocks noChangeArrowheads="1"/>
          </p:cNvSpPr>
          <p:nvPr/>
        </p:nvSpPr>
        <p:spPr bwMode="auto">
          <a:xfrm>
            <a:off x="2402986" y="2403939"/>
            <a:ext cx="1305559" cy="431800"/>
          </a:xfrm>
          <a:prstGeom prst="rect">
            <a:avLst/>
          </a:prstGeom>
          <a:solidFill>
            <a:srgbClr val="9F3230">
              <a:alpha val="40000"/>
            </a:srgbClr>
          </a:solidFill>
          <a:ln>
            <a:solidFill>
              <a:srgbClr val="9F323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STATIC DATA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8" name="矩形 47"/>
          <p:cNvSpPr>
            <a:spLocks noChangeArrowheads="1"/>
          </p:cNvSpPr>
          <p:nvPr/>
        </p:nvSpPr>
        <p:spPr bwMode="auto">
          <a:xfrm>
            <a:off x="2806181" y="1915269"/>
            <a:ext cx="3205345" cy="431800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kern="100" dirty="0" smtClean="0">
                <a:solidFill>
                  <a:srgbClr val="9F3230"/>
                </a:solidFill>
                <a:effectLst/>
                <a:ea typeface="宋体" charset="0"/>
                <a:cs typeface="Times New Roman" charset="0"/>
              </a:rPr>
              <a:t>Can’t</a:t>
            </a:r>
            <a:r>
              <a:rPr lang="zh-CN" altLang="en-US" kern="100" dirty="0" smtClean="0">
                <a:solidFill>
                  <a:srgbClr val="9F3230"/>
                </a:solidFill>
                <a:effectLst/>
                <a:ea typeface="宋体" charset="0"/>
                <a:cs typeface="Times New Roman" charset="0"/>
              </a:rPr>
              <a:t> </a:t>
            </a:r>
            <a:r>
              <a:rPr lang="en-US" altLang="zh-CN" kern="100" dirty="0" smtClean="0">
                <a:solidFill>
                  <a:srgbClr val="9F3230"/>
                </a:solidFill>
                <a:effectLst/>
                <a:ea typeface="宋体" charset="0"/>
                <a:cs typeface="Times New Roman" charset="0"/>
              </a:rPr>
              <a:t>be</a:t>
            </a:r>
            <a:r>
              <a:rPr lang="zh-CN" altLang="en-US" kern="100" dirty="0" smtClean="0">
                <a:solidFill>
                  <a:srgbClr val="9F3230"/>
                </a:solidFill>
                <a:effectLst/>
                <a:ea typeface="宋体" charset="0"/>
                <a:cs typeface="Times New Roman" charset="0"/>
              </a:rPr>
              <a:t> </a:t>
            </a:r>
            <a:r>
              <a:rPr lang="en-US" altLang="zh-CN" kern="100" dirty="0" smtClean="0">
                <a:solidFill>
                  <a:srgbClr val="9F3230"/>
                </a:solidFill>
                <a:effectLst/>
                <a:ea typeface="宋体" charset="0"/>
                <a:cs typeface="Times New Roman" charset="0"/>
              </a:rPr>
              <a:t>shared</a:t>
            </a:r>
            <a:r>
              <a:rPr lang="zh-CN" altLang="en-US" kern="100" dirty="0" smtClean="0">
                <a:solidFill>
                  <a:srgbClr val="9F3230"/>
                </a:solidFill>
                <a:effectLst/>
                <a:ea typeface="宋体" charset="0"/>
                <a:cs typeface="Times New Roman" charset="0"/>
              </a:rPr>
              <a:t> </a:t>
            </a:r>
            <a:r>
              <a:rPr lang="en-US" altLang="zh-CN" kern="100" dirty="0" smtClean="0">
                <a:solidFill>
                  <a:srgbClr val="9F3230"/>
                </a:solidFill>
                <a:effectLst/>
                <a:ea typeface="宋体" charset="0"/>
                <a:cs typeface="Times New Roman" charset="0"/>
              </a:rPr>
              <a:t>among</a:t>
            </a:r>
            <a:r>
              <a:rPr lang="zh-CN" altLang="en-US" kern="100" dirty="0" smtClean="0">
                <a:solidFill>
                  <a:srgbClr val="9F3230"/>
                </a:solidFill>
                <a:effectLst/>
                <a:ea typeface="宋体" charset="0"/>
                <a:cs typeface="Times New Roman" charset="0"/>
              </a:rPr>
              <a:t> </a:t>
            </a:r>
            <a:r>
              <a:rPr lang="en-US" altLang="zh-CN" kern="100" dirty="0" smtClean="0">
                <a:solidFill>
                  <a:srgbClr val="9F3230"/>
                </a:solidFill>
                <a:effectLst/>
                <a:ea typeface="宋体" charset="0"/>
                <a:cs typeface="Times New Roman" charset="0"/>
              </a:rPr>
              <a:t>jobs.</a:t>
            </a:r>
            <a:endParaRPr lang="zh-CN" kern="100" dirty="0">
              <a:solidFill>
                <a:srgbClr val="9F3230"/>
              </a:solidFill>
              <a:effectLst/>
              <a:ea typeface="宋体" charset="0"/>
              <a:cs typeface="Times New Roman" charset="0"/>
            </a:endParaRPr>
          </a:p>
        </p:txBody>
      </p:sp>
      <p:pic>
        <p:nvPicPr>
          <p:cNvPr id="74" name="图片 7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174" y="2163733"/>
            <a:ext cx="1335181" cy="742781"/>
          </a:xfrm>
          <a:prstGeom prst="rect">
            <a:avLst/>
          </a:prstGeom>
        </p:spPr>
      </p:pic>
      <p:sp>
        <p:nvSpPr>
          <p:cNvPr id="75" name="矩形 74"/>
          <p:cNvSpPr>
            <a:spLocks noChangeArrowheads="1"/>
          </p:cNvSpPr>
          <p:nvPr/>
        </p:nvSpPr>
        <p:spPr bwMode="auto">
          <a:xfrm>
            <a:off x="2318535" y="2099525"/>
            <a:ext cx="2439032" cy="83439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JOB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7777" y="2975150"/>
            <a:ext cx="461665" cy="4861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dirty="0" smtClean="0">
                <a:solidFill>
                  <a:srgbClr val="A73937"/>
                </a:solidFill>
              </a:rPr>
              <a:t>…</a:t>
            </a:r>
            <a:endParaRPr kumimoji="1" lang="zh-CN" altLang="en-US" dirty="0">
              <a:solidFill>
                <a:srgbClr val="A73937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3369511" y="5597400"/>
            <a:ext cx="492443" cy="4861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sz="2000" dirty="0" smtClean="0"/>
              <a:t>…</a:t>
            </a:r>
            <a:endParaRPr kumimoji="1" lang="zh-CN" altLang="en-US" sz="2000" dirty="0"/>
          </a:p>
        </p:txBody>
      </p:sp>
      <p:sp>
        <p:nvSpPr>
          <p:cNvPr id="3" name="文本框 2"/>
          <p:cNvSpPr txBox="1"/>
          <p:nvPr/>
        </p:nvSpPr>
        <p:spPr>
          <a:xfrm>
            <a:off x="9621982" y="1915269"/>
            <a:ext cx="297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…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makes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hard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develop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answer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multiple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concurrent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graph.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323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2" grpId="0" animBg="1"/>
      <p:bldP spid="67" grpId="0" animBg="1"/>
      <p:bldP spid="68" grpId="0" animBg="1"/>
      <p:bldP spid="72" grpId="0"/>
      <p:bldP spid="73" grpId="0"/>
      <p:bldP spid="77" grpId="0"/>
      <p:bldP spid="47" grpId="0" animBg="1"/>
      <p:bldP spid="47" grpId="1" animBg="1"/>
      <p:bldP spid="48" grpId="0"/>
      <p:bldP spid="48" grpId="1"/>
      <p:bldP spid="75" grpId="0" animBg="1"/>
      <p:bldP spid="2" grpId="0"/>
      <p:bldP spid="5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>
            <a:spLocks/>
          </p:cNvSpPr>
          <p:nvPr/>
        </p:nvSpPr>
        <p:spPr>
          <a:xfrm>
            <a:off x="228839" y="273186"/>
            <a:ext cx="7886700" cy="579864"/>
          </a:xfrm>
          <a:prstGeom prst="rect">
            <a:avLst/>
          </a:prstGeom>
          <a:noFill/>
          <a:ln w="222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 smtClean="0">
                <a:solidFill>
                  <a:srgbClr val="393D42"/>
                </a:solidFill>
              </a:rPr>
              <a:t>Problem</a:t>
            </a:r>
            <a:endParaRPr lang="zh-CN" altLang="en-US" sz="3200" dirty="0">
              <a:solidFill>
                <a:srgbClr val="393D42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716128" y="1231335"/>
            <a:ext cx="7886700" cy="1693283"/>
          </a:xfrm>
          <a:ln w="22225">
            <a:noFill/>
          </a:ln>
        </p:spPr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 smtClean="0"/>
              <a:t>Many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researches</a:t>
            </a:r>
            <a:r>
              <a:rPr lang="zh-CN" altLang="en-US" sz="2400" dirty="0" smtClean="0"/>
              <a:t> </a:t>
            </a:r>
            <a:r>
              <a:rPr lang="en-US" altLang="zh-CN" sz="2400" dirty="0"/>
              <a:t>focus</a:t>
            </a:r>
            <a:r>
              <a:rPr lang="zh-CN" altLang="en-US" sz="2400" dirty="0"/>
              <a:t> </a:t>
            </a:r>
            <a:r>
              <a:rPr lang="en-US" altLang="zh-CN" sz="2400" dirty="0"/>
              <a:t>on</a:t>
            </a:r>
            <a:r>
              <a:rPr lang="zh-CN" altLang="en-US" sz="2400" dirty="0"/>
              <a:t> </a:t>
            </a:r>
            <a:r>
              <a:rPr lang="en-US" altLang="zh-CN" sz="2400" dirty="0"/>
              <a:t>developing</a:t>
            </a:r>
            <a:r>
              <a:rPr lang="zh-CN" altLang="en-US" sz="2400" dirty="0"/>
              <a:t> </a:t>
            </a:r>
            <a:r>
              <a:rPr lang="en-US" altLang="zh-CN" sz="2400" dirty="0"/>
              <a:t>query</a:t>
            </a:r>
            <a:r>
              <a:rPr lang="zh-CN" altLang="en-US" sz="2400" dirty="0"/>
              <a:t> </a:t>
            </a:r>
            <a:r>
              <a:rPr lang="en-US" altLang="zh-CN" sz="2400" dirty="0"/>
              <a:t>systems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answer</a:t>
            </a:r>
            <a:r>
              <a:rPr lang="zh-CN" altLang="en-US" sz="2400" dirty="0"/>
              <a:t> </a:t>
            </a:r>
            <a:r>
              <a:rPr lang="en-US" altLang="zh-CN" sz="2400" dirty="0"/>
              <a:t>queries</a:t>
            </a:r>
            <a:r>
              <a:rPr lang="zh-CN" altLang="en-US" sz="2400" dirty="0"/>
              <a:t> </a:t>
            </a:r>
            <a:r>
              <a:rPr lang="en-US" altLang="zh-CN" sz="2400" dirty="0"/>
              <a:t>on</a:t>
            </a:r>
            <a:r>
              <a:rPr lang="zh-CN" altLang="en-US" sz="2400" dirty="0"/>
              <a:t> </a:t>
            </a:r>
            <a:r>
              <a:rPr lang="en-US" altLang="zh-CN" sz="2400" dirty="0" smtClean="0"/>
              <a:t>datasets</a:t>
            </a:r>
            <a:endParaRPr lang="zh-CN" altLang="en-US" sz="2400" dirty="0" smtClean="0"/>
          </a:p>
          <a:p>
            <a:pPr>
              <a:lnSpc>
                <a:spcPct val="100000"/>
              </a:lnSpc>
            </a:pPr>
            <a:r>
              <a:rPr kumimoji="1" lang="en-US" altLang="zh-CN" sz="2400" dirty="0" smtClean="0"/>
              <a:t>Single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job</a:t>
            </a:r>
            <a:endParaRPr kumimoji="1" lang="zh-CN" altLang="en-US" sz="2400" dirty="0" smtClean="0"/>
          </a:p>
          <a:p>
            <a:pPr>
              <a:lnSpc>
                <a:spcPct val="100000"/>
              </a:lnSpc>
            </a:pPr>
            <a:r>
              <a:rPr kumimoji="1" lang="en-US" altLang="zh-CN" sz="2400" dirty="0" smtClean="0"/>
              <a:t>Multiple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jobs</a:t>
            </a:r>
            <a:endParaRPr kumimoji="1"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9601200" y="2015836"/>
            <a:ext cx="31588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mtClean="0"/>
              <a:t>Challenges,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solution</a:t>
            </a:r>
            <a:endParaRPr kumimoji="1" lang="zh-CN" altLang="en-US" dirty="0" smtClean="0"/>
          </a:p>
          <a:p>
            <a:endParaRPr kumimoji="1" lang="zh-CN" altLang="en-US" dirty="0"/>
          </a:p>
          <a:p>
            <a:endParaRPr kumimoji="1" lang="zh-CN" altLang="en-US" dirty="0" smtClean="0"/>
          </a:p>
          <a:p>
            <a:r>
              <a:rPr kumimoji="1" lang="en-US" altLang="zh-CN" dirty="0" smtClean="0"/>
              <a:t>Related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work.</a:t>
            </a:r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014" y="2058241"/>
            <a:ext cx="476545" cy="45455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6709" y="2512792"/>
            <a:ext cx="490352" cy="445774"/>
          </a:xfrm>
          <a:prstGeom prst="rect">
            <a:avLst/>
          </a:prstGeom>
        </p:spPr>
      </p:pic>
      <p:sp>
        <p:nvSpPr>
          <p:cNvPr id="11" name="内容占位符 2"/>
          <p:cNvSpPr txBox="1">
            <a:spLocks/>
          </p:cNvSpPr>
          <p:nvPr/>
        </p:nvSpPr>
        <p:spPr>
          <a:xfrm>
            <a:off x="228839" y="3447064"/>
            <a:ext cx="7886700" cy="579864"/>
          </a:xfrm>
          <a:prstGeom prst="rect">
            <a:avLst/>
          </a:prstGeom>
          <a:noFill/>
          <a:ln w="222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 smtClean="0">
                <a:solidFill>
                  <a:srgbClr val="393D42"/>
                </a:solidFill>
              </a:rPr>
              <a:t>Related</a:t>
            </a:r>
            <a:r>
              <a:rPr lang="zh-CN" altLang="en-US" sz="3200" dirty="0" smtClean="0">
                <a:solidFill>
                  <a:srgbClr val="393D42"/>
                </a:solidFill>
              </a:rPr>
              <a:t> </a:t>
            </a:r>
            <a:r>
              <a:rPr lang="en-US" altLang="zh-CN" sz="3200" dirty="0" smtClean="0">
                <a:solidFill>
                  <a:srgbClr val="393D42"/>
                </a:solidFill>
              </a:rPr>
              <a:t>solutions</a:t>
            </a:r>
            <a:endParaRPr lang="zh-CN" altLang="en-US" sz="3200" dirty="0">
              <a:solidFill>
                <a:srgbClr val="393D42"/>
              </a:solidFill>
            </a:endParaRPr>
          </a:p>
        </p:txBody>
      </p:sp>
      <p:sp>
        <p:nvSpPr>
          <p:cNvPr id="12" name="内容占位符 2"/>
          <p:cNvSpPr txBox="1">
            <a:spLocks/>
          </p:cNvSpPr>
          <p:nvPr/>
        </p:nvSpPr>
        <p:spPr>
          <a:xfrm>
            <a:off x="716128" y="4338832"/>
            <a:ext cx="7886700" cy="838536"/>
          </a:xfrm>
          <a:prstGeom prst="rect">
            <a:avLst/>
          </a:prstGeom>
          <a:ln w="222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2400" dirty="0" smtClean="0"/>
              <a:t>Store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sharable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data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in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disk</a:t>
            </a:r>
            <a:endParaRPr kumimoji="1" lang="zh-CN" altLang="en-US" sz="2400" dirty="0" smtClean="0"/>
          </a:p>
          <a:p>
            <a:pPr>
              <a:lnSpc>
                <a:spcPct val="100000"/>
              </a:lnSpc>
            </a:pPr>
            <a:r>
              <a:rPr kumimoji="1" lang="en-US" altLang="zh-CN" sz="2400" dirty="0" smtClean="0"/>
              <a:t>Focus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on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a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specific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system</a:t>
            </a:r>
            <a:endParaRPr kumimoji="1" lang="zh-CN" altLang="en-US" sz="2400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714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1" grpId="0"/>
      <p:bldP spid="1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47278" y="1541527"/>
            <a:ext cx="8039521" cy="3725417"/>
          </a:xfrm>
          <a:ln w="22225">
            <a:noFill/>
          </a:ln>
        </p:spPr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sz="2400" dirty="0" smtClean="0"/>
              <a:t>Help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/>
              <a:t>to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develop</a:t>
            </a:r>
            <a:r>
              <a:rPr kumimoji="1" lang="zh-CN" altLang="en-US" sz="2400" dirty="0"/>
              <a:t> </a:t>
            </a:r>
            <a:r>
              <a:rPr lang="en-US" altLang="zh-CN" sz="2400" dirty="0" smtClean="0"/>
              <a:t>query</a:t>
            </a:r>
            <a:r>
              <a:rPr lang="zh-CN" altLang="en-US" sz="2400" dirty="0" smtClean="0"/>
              <a:t> </a:t>
            </a:r>
            <a:r>
              <a:rPr lang="en-US" altLang="zh-CN" sz="2400" dirty="0"/>
              <a:t>systems</a:t>
            </a:r>
            <a:r>
              <a:rPr lang="zh-CN" altLang="en-US" sz="2400" dirty="0"/>
              <a:t> </a:t>
            </a:r>
            <a:r>
              <a:rPr lang="en-US" altLang="zh-CN" sz="2400" dirty="0"/>
              <a:t>to process concurrent queries </a:t>
            </a:r>
            <a:r>
              <a:rPr lang="en-US" altLang="zh-CN" sz="2400" dirty="0" smtClean="0"/>
              <a:t>efficiently</a:t>
            </a:r>
            <a:r>
              <a:rPr lang="zh-CN" altLang="en-US" sz="2400" dirty="0"/>
              <a:t> </a:t>
            </a:r>
            <a:r>
              <a:rPr lang="en-US" altLang="zh-CN" sz="2400" dirty="0" smtClean="0"/>
              <a:t>by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sharing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in-memory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static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data</a:t>
            </a:r>
            <a:endParaRPr lang="zh-CN" altLang="en-US" sz="2400" dirty="0" smtClean="0"/>
          </a:p>
          <a:p>
            <a:pPr marL="0" indent="0">
              <a:lnSpc>
                <a:spcPct val="100000"/>
              </a:lnSpc>
              <a:buNone/>
            </a:pPr>
            <a:endParaRPr lang="zh-CN" altLang="en-US" sz="24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 smtClean="0"/>
              <a:t>Challenges:</a:t>
            </a:r>
            <a:endParaRPr lang="zh-CN" altLang="en-US" sz="2400" dirty="0" smtClean="0"/>
          </a:p>
          <a:p>
            <a:r>
              <a:rPr lang="en-US" altLang="zh-CN" sz="2400" dirty="0" smtClean="0">
                <a:solidFill>
                  <a:srgbClr val="393D42"/>
                </a:solidFill>
              </a:rPr>
              <a:t>An</a:t>
            </a:r>
            <a:r>
              <a:rPr lang="zh-CN" altLang="en-US" sz="2400" dirty="0" smtClean="0">
                <a:solidFill>
                  <a:srgbClr val="393D42"/>
                </a:solidFill>
              </a:rPr>
              <a:t> </a:t>
            </a:r>
            <a:r>
              <a:rPr lang="en-US" altLang="zh-CN" sz="2400" dirty="0" smtClean="0">
                <a:solidFill>
                  <a:srgbClr val="393D42"/>
                </a:solidFill>
              </a:rPr>
              <a:t>API</a:t>
            </a:r>
            <a:endParaRPr lang="zh-CN" altLang="en-US" sz="2400" dirty="0"/>
          </a:p>
          <a:p>
            <a:r>
              <a:rPr lang="en-US" altLang="zh-CN" sz="2400" dirty="0" smtClean="0">
                <a:solidFill>
                  <a:srgbClr val="393D42"/>
                </a:solidFill>
              </a:rPr>
              <a:t>Generality</a:t>
            </a:r>
            <a:endParaRPr lang="zh-CN" altLang="en-US" sz="2400" dirty="0">
              <a:solidFill>
                <a:srgbClr val="393D42"/>
              </a:solidFill>
            </a:endParaRPr>
          </a:p>
          <a:p>
            <a:r>
              <a:rPr lang="en-US" altLang="zh-CN" sz="2400" dirty="0" smtClean="0">
                <a:solidFill>
                  <a:srgbClr val="393D42"/>
                </a:solidFill>
              </a:rPr>
              <a:t>Ability</a:t>
            </a:r>
            <a:r>
              <a:rPr lang="zh-CN" altLang="en-US" sz="2400" dirty="0" smtClean="0">
                <a:solidFill>
                  <a:srgbClr val="393D42"/>
                </a:solidFill>
              </a:rPr>
              <a:t> </a:t>
            </a:r>
            <a:r>
              <a:rPr lang="en-GB" altLang="zh-CN" sz="2400" dirty="0" smtClean="0">
                <a:solidFill>
                  <a:srgbClr val="393D42"/>
                </a:solidFill>
              </a:rPr>
              <a:t>to </a:t>
            </a:r>
            <a:r>
              <a:rPr lang="en-GB" altLang="zh-CN" sz="2400" dirty="0">
                <a:solidFill>
                  <a:srgbClr val="393D42"/>
                </a:solidFill>
              </a:rPr>
              <a:t>work in a distributed </a:t>
            </a:r>
            <a:r>
              <a:rPr lang="en-GB" altLang="zh-CN" sz="2400" dirty="0" smtClean="0">
                <a:solidFill>
                  <a:srgbClr val="393D42"/>
                </a:solidFill>
              </a:rPr>
              <a:t>environment</a:t>
            </a:r>
            <a:endParaRPr lang="zh-CN" altLang="en-US" sz="2400" dirty="0" smtClean="0">
              <a:solidFill>
                <a:srgbClr val="393D42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 sz="2400" dirty="0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228839" y="273186"/>
            <a:ext cx="7886700" cy="579864"/>
          </a:xfrm>
          <a:prstGeom prst="rect">
            <a:avLst/>
          </a:prstGeom>
          <a:noFill/>
          <a:ln w="222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200" dirty="0" smtClean="0">
                <a:solidFill>
                  <a:srgbClr val="393D42"/>
                </a:solidFill>
              </a:rPr>
              <a:t>Solution:</a:t>
            </a:r>
            <a:r>
              <a:rPr lang="zh-CN" altLang="en-US" sz="3200" dirty="0">
                <a:solidFill>
                  <a:srgbClr val="393D42"/>
                </a:solidFill>
              </a:rPr>
              <a:t> </a:t>
            </a:r>
            <a:r>
              <a:rPr lang="en-US" altLang="zh-CN" sz="3200" dirty="0" err="1" smtClean="0">
                <a:solidFill>
                  <a:srgbClr val="393D42"/>
                </a:solidFill>
              </a:rPr>
              <a:t>ParQ</a:t>
            </a:r>
            <a:endParaRPr lang="zh-CN" altLang="en-US" sz="3200" dirty="0">
              <a:solidFill>
                <a:srgbClr val="393D42"/>
              </a:solidFill>
            </a:endParaRPr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245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>
            <a:spLocks noChangeArrowheads="1"/>
          </p:cNvSpPr>
          <p:nvPr/>
        </p:nvSpPr>
        <p:spPr bwMode="auto">
          <a:xfrm>
            <a:off x="3144633" y="3368336"/>
            <a:ext cx="2807970" cy="253494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spcAft>
                <a:spcPts val="0"/>
              </a:spcAft>
            </a:pPr>
            <a:r>
              <a:rPr lang="en-US" sz="1200" kern="100" dirty="0">
                <a:solidFill>
                  <a:srgbClr val="000000"/>
                </a:solidFill>
                <a:effectLst/>
                <a:ea typeface="宋体" charset="0"/>
                <a:cs typeface="Times New Roman" charset="0"/>
              </a:rPr>
              <a:t> </a:t>
            </a:r>
            <a:endParaRPr lang="zh-CN" sz="2000" kern="100" dirty="0">
              <a:solidFill>
                <a:srgbClr val="9F3230"/>
              </a:solidFill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34" name="直线箭头连接符 33"/>
          <p:cNvCxnSpPr>
            <a:cxnSpLocks noChangeShapeType="1"/>
            <a:stCxn id="37" idx="3"/>
          </p:cNvCxnSpPr>
          <p:nvPr/>
        </p:nvCxnSpPr>
        <p:spPr bwMode="auto">
          <a:xfrm flipV="1">
            <a:off x="4335258" y="3995083"/>
            <a:ext cx="373380" cy="428307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66" name="矩形 65"/>
          <p:cNvSpPr>
            <a:spLocks noChangeArrowheads="1"/>
          </p:cNvSpPr>
          <p:nvPr/>
        </p:nvSpPr>
        <p:spPr bwMode="auto">
          <a:xfrm>
            <a:off x="4749259" y="3490481"/>
            <a:ext cx="1019810" cy="80962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600" kern="100" dirty="0" smtClean="0">
                <a:effectLst/>
                <a:ea typeface="宋体" charset="0"/>
                <a:cs typeface="Times New Roman" charset="0"/>
              </a:rPr>
              <a:t>QP</a:t>
            </a:r>
            <a:r>
              <a:rPr lang="zh-CN" altLang="en-US" sz="1600" kern="100" dirty="0" smtClean="0">
                <a:effectLst/>
                <a:ea typeface="宋体" charset="0"/>
                <a:cs typeface="Times New Roman" charset="0"/>
              </a:rPr>
              <a:t> </a:t>
            </a:r>
            <a:r>
              <a:rPr lang="en-US" altLang="zh-CN" sz="1600" kern="100" dirty="0" smtClean="0">
                <a:effectLst/>
                <a:ea typeface="宋体" charset="0"/>
                <a:cs typeface="Times New Roman" charset="0"/>
              </a:rPr>
              <a:t>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4741023" y="3483907"/>
            <a:ext cx="1019810" cy="809625"/>
          </a:xfrm>
          <a:prstGeom prst="rect">
            <a:avLst/>
          </a:prstGeom>
          <a:ln w="25400">
            <a:solidFill>
              <a:srgbClr val="B74946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600" b="1" kern="100" dirty="0" smtClean="0">
                <a:solidFill>
                  <a:srgbClr val="B74946"/>
                </a:solidFill>
                <a:effectLst/>
                <a:ea typeface="宋体" charset="0"/>
                <a:cs typeface="Times New Roman" charset="0"/>
              </a:rPr>
              <a:t>QP</a:t>
            </a:r>
            <a:r>
              <a:rPr lang="zh-CN" altLang="en-US" sz="1600" b="1" kern="100" dirty="0" smtClean="0">
                <a:solidFill>
                  <a:srgbClr val="B74946"/>
                </a:solidFill>
                <a:effectLst/>
                <a:ea typeface="宋体" charset="0"/>
                <a:cs typeface="Times New Roman" charset="0"/>
              </a:rPr>
              <a:t> </a:t>
            </a:r>
            <a:r>
              <a:rPr lang="en-US" sz="1600" b="1" kern="100" dirty="0" smtClean="0">
                <a:solidFill>
                  <a:srgbClr val="B74946"/>
                </a:solidFill>
                <a:effectLst/>
                <a:ea typeface="宋体" charset="0"/>
                <a:cs typeface="Times New Roman" charset="0"/>
              </a:rPr>
              <a:t>1</a:t>
            </a:r>
            <a:endParaRPr lang="zh-CN" sz="1600" b="1" kern="100" dirty="0">
              <a:solidFill>
                <a:srgbClr val="B74946"/>
              </a:solidFill>
              <a:effectLst/>
              <a:ea typeface="宋体" charset="0"/>
              <a:cs typeface="Times New Roman" charset="0"/>
            </a:endParaRPr>
          </a:p>
        </p:txBody>
      </p:sp>
      <p:sp>
        <p:nvSpPr>
          <p:cNvPr id="67" name="矩形 66"/>
          <p:cNvSpPr>
            <a:spLocks noChangeArrowheads="1"/>
          </p:cNvSpPr>
          <p:nvPr/>
        </p:nvSpPr>
        <p:spPr bwMode="auto">
          <a:xfrm>
            <a:off x="3270344" y="4006101"/>
            <a:ext cx="1073150" cy="84772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600" kern="100" dirty="0" smtClean="0">
                <a:ea typeface="宋体" charset="0"/>
                <a:cs typeface="Times New Roman" charset="0"/>
              </a:rPr>
              <a:t>DL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68" name="矩形 67"/>
          <p:cNvSpPr>
            <a:spLocks noChangeArrowheads="1"/>
          </p:cNvSpPr>
          <p:nvPr/>
        </p:nvSpPr>
        <p:spPr bwMode="auto">
          <a:xfrm>
            <a:off x="4749259" y="4549026"/>
            <a:ext cx="1019810" cy="84899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600" kern="100" dirty="0" smtClean="0">
                <a:effectLst/>
                <a:ea typeface="宋体" charset="0"/>
                <a:cs typeface="Times New Roman" charset="0"/>
              </a:rPr>
              <a:t>QP</a:t>
            </a:r>
            <a:r>
              <a:rPr lang="zh-CN" altLang="en-US" sz="1600" kern="100" dirty="0" smtClean="0">
                <a:effectLst/>
                <a:ea typeface="宋体" charset="0"/>
                <a:cs typeface="Times New Roman" charset="0"/>
              </a:rPr>
              <a:t> </a:t>
            </a:r>
            <a:r>
              <a:rPr lang="en-US" altLang="zh-CN" sz="1600" kern="100" dirty="0" smtClean="0">
                <a:effectLst/>
                <a:ea typeface="宋体" charset="0"/>
                <a:cs typeface="Times New Roman" charset="0"/>
              </a:rPr>
              <a:t>2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27" name="矩形 26"/>
          <p:cNvSpPr>
            <a:spLocks noChangeArrowheads="1"/>
          </p:cNvSpPr>
          <p:nvPr/>
        </p:nvSpPr>
        <p:spPr bwMode="auto">
          <a:xfrm>
            <a:off x="3144633" y="528078"/>
            <a:ext cx="2807335" cy="2486994"/>
          </a:xfrm>
          <a:prstGeom prst="rect">
            <a:avLst/>
          </a:prstGeom>
          <a:ln w="12700"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200" kern="100">
                <a:solidFill>
                  <a:srgbClr val="000000"/>
                </a:solidFill>
                <a:effectLst/>
                <a:ea typeface="宋体" charset="0"/>
                <a:cs typeface="Times New Roman" charset="0"/>
              </a:rPr>
              <a:t> </a:t>
            </a:r>
            <a:endParaRPr lang="zh-CN" sz="1200" kern="10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28" name="矩形 27"/>
          <p:cNvSpPr>
            <a:spLocks noChangeArrowheads="1"/>
          </p:cNvSpPr>
          <p:nvPr/>
        </p:nvSpPr>
        <p:spPr bwMode="auto">
          <a:xfrm>
            <a:off x="3337675" y="683017"/>
            <a:ext cx="2439032" cy="83439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JOB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3347198" y="1638057"/>
            <a:ext cx="2429509" cy="85598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JOB 2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30" name="矩形 29"/>
          <p:cNvSpPr>
            <a:spLocks noChangeArrowheads="1"/>
          </p:cNvSpPr>
          <p:nvPr/>
        </p:nvSpPr>
        <p:spPr bwMode="auto">
          <a:xfrm>
            <a:off x="3422128" y="1969527"/>
            <a:ext cx="1305558" cy="431800"/>
          </a:xfrm>
          <a:prstGeom prst="rect">
            <a:avLst/>
          </a:prstGeom>
          <a:pattFill prst="pct10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STATIC DATA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31" name="矩形 30"/>
          <p:cNvSpPr>
            <a:spLocks noChangeArrowheads="1"/>
          </p:cNvSpPr>
          <p:nvPr/>
        </p:nvSpPr>
        <p:spPr bwMode="auto">
          <a:xfrm>
            <a:off x="4796266" y="1969527"/>
            <a:ext cx="911861" cy="431800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DYNAMIC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33" name="直线箭头连接符 32"/>
          <p:cNvCxnSpPr>
            <a:cxnSpLocks noChangeShapeType="1"/>
          </p:cNvCxnSpPr>
          <p:nvPr/>
        </p:nvCxnSpPr>
        <p:spPr bwMode="auto">
          <a:xfrm>
            <a:off x="2122918" y="4255432"/>
            <a:ext cx="113919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cxnSp>
        <p:nvCxnSpPr>
          <p:cNvPr id="36" name="直线箭头连接符 35"/>
          <p:cNvCxnSpPr>
            <a:cxnSpLocks noChangeShapeType="1"/>
          </p:cNvCxnSpPr>
          <p:nvPr/>
        </p:nvCxnSpPr>
        <p:spPr bwMode="auto">
          <a:xfrm>
            <a:off x="2122918" y="4503717"/>
            <a:ext cx="1139190" cy="5715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3262108" y="3999527"/>
            <a:ext cx="1073150" cy="847725"/>
          </a:xfrm>
          <a:prstGeom prst="rect">
            <a:avLst/>
          </a:prstGeom>
          <a:ln w="25400">
            <a:solidFill>
              <a:srgbClr val="FF6E65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600" b="1" kern="100" dirty="0" smtClean="0">
                <a:solidFill>
                  <a:srgbClr val="FF6E65"/>
                </a:solidFill>
                <a:ea typeface="宋体" charset="0"/>
                <a:cs typeface="Times New Roman" charset="0"/>
              </a:rPr>
              <a:t>DL</a:t>
            </a:r>
            <a:endParaRPr lang="zh-CN" sz="1600" b="1" kern="100" dirty="0">
              <a:solidFill>
                <a:srgbClr val="FF6E65"/>
              </a:solidFill>
              <a:effectLst/>
              <a:ea typeface="宋体" charset="0"/>
              <a:cs typeface="Times New Roman" charset="0"/>
            </a:endParaRPr>
          </a:p>
        </p:txBody>
      </p: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3321230" y="4265499"/>
            <a:ext cx="943142" cy="524846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000000"/>
                </a:solidFill>
                <a:effectLst/>
                <a:ea typeface="宋体" charset="0"/>
                <a:cs typeface="Times New Roman" charset="0"/>
              </a:rPr>
              <a:t>STATIC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39" name="直线箭头连接符 38"/>
          <p:cNvCxnSpPr>
            <a:cxnSpLocks noChangeShapeType="1"/>
          </p:cNvCxnSpPr>
          <p:nvPr/>
        </p:nvCxnSpPr>
        <p:spPr bwMode="auto">
          <a:xfrm>
            <a:off x="4353038" y="4509432"/>
            <a:ext cx="377825" cy="421005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40" name="矩形 39"/>
          <p:cNvSpPr>
            <a:spLocks noChangeArrowheads="1"/>
          </p:cNvSpPr>
          <p:nvPr/>
        </p:nvSpPr>
        <p:spPr bwMode="auto">
          <a:xfrm>
            <a:off x="4739137" y="4553915"/>
            <a:ext cx="1019810" cy="848995"/>
          </a:xfrm>
          <a:prstGeom prst="rect">
            <a:avLst/>
          </a:prstGeom>
          <a:ln w="25400">
            <a:solidFill>
              <a:srgbClr val="B74946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600" b="1" kern="100" dirty="0" smtClean="0">
                <a:solidFill>
                  <a:srgbClr val="B74946"/>
                </a:solidFill>
                <a:ea typeface="宋体" charset="0"/>
                <a:cs typeface="Times New Roman" charset="0"/>
              </a:rPr>
              <a:t>QP</a:t>
            </a:r>
            <a:r>
              <a:rPr lang="en-US" sz="1600" b="1" kern="100" dirty="0" smtClean="0">
                <a:solidFill>
                  <a:srgbClr val="B74946"/>
                </a:solidFill>
                <a:effectLst/>
                <a:ea typeface="宋体" charset="0"/>
                <a:cs typeface="Times New Roman" charset="0"/>
              </a:rPr>
              <a:t> </a:t>
            </a:r>
            <a:r>
              <a:rPr lang="en-US" sz="1600" b="1" kern="100" dirty="0">
                <a:solidFill>
                  <a:srgbClr val="B74946"/>
                </a:solidFill>
                <a:effectLst/>
                <a:ea typeface="宋体" charset="0"/>
                <a:cs typeface="Times New Roman" charset="0"/>
              </a:rPr>
              <a:t>2</a:t>
            </a:r>
            <a:endParaRPr lang="zh-CN" sz="1600" b="1" kern="100" dirty="0">
              <a:solidFill>
                <a:srgbClr val="B74946"/>
              </a:solidFill>
              <a:effectLst/>
              <a:ea typeface="宋体" charset="0"/>
              <a:cs typeface="Times New Roman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733018" y="1944760"/>
            <a:ext cx="1314786" cy="280354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ANSWER 2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733018" y="1017048"/>
            <a:ext cx="1314786" cy="33083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ANSWER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3" name="矩形 42"/>
          <p:cNvSpPr>
            <a:spLocks noChangeArrowheads="1"/>
          </p:cNvSpPr>
          <p:nvPr/>
        </p:nvSpPr>
        <p:spPr bwMode="auto">
          <a:xfrm>
            <a:off x="3422127" y="994802"/>
            <a:ext cx="1305559" cy="431800"/>
          </a:xfrm>
          <a:prstGeom prst="rect">
            <a:avLst/>
          </a:prstGeom>
          <a:pattFill prst="pct10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STATIC DATA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4" name="矩形 43"/>
          <p:cNvSpPr>
            <a:spLocks noChangeArrowheads="1"/>
          </p:cNvSpPr>
          <p:nvPr/>
        </p:nvSpPr>
        <p:spPr bwMode="auto">
          <a:xfrm>
            <a:off x="4796267" y="994802"/>
            <a:ext cx="911860" cy="431800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 smtClean="0">
                <a:effectLst/>
                <a:ea typeface="宋体" charset="0"/>
                <a:cs typeface="Times New Roman" charset="0"/>
              </a:rPr>
              <a:t>DYNAMIC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5" name="矩形 44"/>
          <p:cNvSpPr>
            <a:spLocks noChangeArrowheads="1"/>
          </p:cNvSpPr>
          <p:nvPr/>
        </p:nvSpPr>
        <p:spPr bwMode="auto">
          <a:xfrm>
            <a:off x="4796902" y="3798725"/>
            <a:ext cx="902335" cy="431800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DYNAMIC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6" name="矩形 45"/>
          <p:cNvSpPr>
            <a:spLocks noChangeArrowheads="1"/>
          </p:cNvSpPr>
          <p:nvPr/>
        </p:nvSpPr>
        <p:spPr bwMode="auto">
          <a:xfrm>
            <a:off x="4796901" y="4875581"/>
            <a:ext cx="897890" cy="431800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DYNAMIC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282794" y="4048030"/>
            <a:ext cx="1007129" cy="318527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QUERY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282794" y="4345334"/>
            <a:ext cx="935355" cy="337503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QUERY 2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769829" y="3686229"/>
            <a:ext cx="1133068" cy="308853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ANSWER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769829" y="4856352"/>
            <a:ext cx="1133068" cy="30201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>
                <a:effectLst/>
                <a:ea typeface="宋体" charset="0"/>
                <a:cs typeface="Times New Roman" charset="0"/>
              </a:rPr>
              <a:t>ANSWER 2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51" name="直线箭头连接符 50"/>
          <p:cNvCxnSpPr>
            <a:cxnSpLocks noChangeShapeType="1"/>
          </p:cNvCxnSpPr>
          <p:nvPr/>
        </p:nvCxnSpPr>
        <p:spPr bwMode="auto">
          <a:xfrm>
            <a:off x="5777978" y="3876337"/>
            <a:ext cx="1063625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cxnSp>
        <p:nvCxnSpPr>
          <p:cNvPr id="52" name="直线箭头连接符 51"/>
          <p:cNvCxnSpPr>
            <a:cxnSpLocks noChangeShapeType="1"/>
          </p:cNvCxnSpPr>
          <p:nvPr/>
        </p:nvCxnSpPr>
        <p:spPr bwMode="auto">
          <a:xfrm>
            <a:off x="5777343" y="5011717"/>
            <a:ext cx="1063625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cxnSp>
        <p:nvCxnSpPr>
          <p:cNvPr id="53" name="直线箭头连接符 52"/>
          <p:cNvCxnSpPr>
            <a:cxnSpLocks noChangeShapeType="1"/>
          </p:cNvCxnSpPr>
          <p:nvPr/>
        </p:nvCxnSpPr>
        <p:spPr bwMode="auto">
          <a:xfrm>
            <a:off x="5708128" y="1217052"/>
            <a:ext cx="1063625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cxnSp>
        <p:nvCxnSpPr>
          <p:cNvPr id="54" name="直线箭头连接符 53"/>
          <p:cNvCxnSpPr>
            <a:cxnSpLocks noChangeShapeType="1"/>
          </p:cNvCxnSpPr>
          <p:nvPr/>
        </p:nvCxnSpPr>
        <p:spPr bwMode="auto">
          <a:xfrm flipV="1">
            <a:off x="5776707" y="2106052"/>
            <a:ext cx="995046" cy="254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cxnSp>
        <p:nvCxnSpPr>
          <p:cNvPr id="55" name="直线箭头连接符 54"/>
          <p:cNvCxnSpPr>
            <a:cxnSpLocks noChangeShapeType="1"/>
          </p:cNvCxnSpPr>
          <p:nvPr/>
        </p:nvCxnSpPr>
        <p:spPr bwMode="auto">
          <a:xfrm flipV="1">
            <a:off x="2164828" y="1217052"/>
            <a:ext cx="1172847" cy="254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56" name="文本框 55"/>
          <p:cNvSpPr txBox="1"/>
          <p:nvPr/>
        </p:nvSpPr>
        <p:spPr>
          <a:xfrm>
            <a:off x="1282159" y="1025555"/>
            <a:ext cx="1172846" cy="25273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QUERY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282159" y="1950210"/>
            <a:ext cx="1144420" cy="24828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QUERY 2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58" name="直线箭头连接符 57"/>
          <p:cNvCxnSpPr>
            <a:cxnSpLocks noChangeShapeType="1"/>
          </p:cNvCxnSpPr>
          <p:nvPr/>
        </p:nvCxnSpPr>
        <p:spPr bwMode="auto">
          <a:xfrm>
            <a:off x="2164828" y="2108592"/>
            <a:ext cx="1177292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2" name="矩形 1"/>
          <p:cNvSpPr/>
          <p:nvPr/>
        </p:nvSpPr>
        <p:spPr>
          <a:xfrm>
            <a:off x="3262108" y="815141"/>
            <a:ext cx="1534158" cy="1781131"/>
          </a:xfrm>
          <a:prstGeom prst="rect">
            <a:avLst/>
          </a:prstGeom>
          <a:noFill/>
          <a:ln w="38100">
            <a:solidFill>
              <a:srgbClr val="FF6E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EB4AD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4623402" y="924382"/>
            <a:ext cx="1365126" cy="618715"/>
          </a:xfrm>
          <a:prstGeom prst="rect">
            <a:avLst/>
          </a:prstGeom>
          <a:noFill/>
          <a:ln w="38100">
            <a:solidFill>
              <a:srgbClr val="B749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EB4AD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4617874" y="1896362"/>
            <a:ext cx="1365126" cy="618715"/>
          </a:xfrm>
          <a:prstGeom prst="rect">
            <a:avLst/>
          </a:prstGeom>
          <a:noFill/>
          <a:ln w="38100">
            <a:solidFill>
              <a:srgbClr val="B749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EB4AD"/>
              </a:solidFill>
            </a:endParaRPr>
          </a:p>
        </p:txBody>
      </p:sp>
      <p:cxnSp>
        <p:nvCxnSpPr>
          <p:cNvPr id="16" name="曲线连接符 15"/>
          <p:cNvCxnSpPr>
            <a:stCxn id="63" idx="1"/>
            <a:endCxn id="35" idx="1"/>
          </p:cNvCxnSpPr>
          <p:nvPr/>
        </p:nvCxnSpPr>
        <p:spPr>
          <a:xfrm rot="10800000" flipH="1" flipV="1">
            <a:off x="4623401" y="1233740"/>
            <a:ext cx="117621" cy="2654980"/>
          </a:xfrm>
          <a:prstGeom prst="curvedConnector3">
            <a:avLst>
              <a:gd name="adj1" fmla="val -289159"/>
            </a:avLst>
          </a:prstGeom>
          <a:ln w="25400">
            <a:solidFill>
              <a:srgbClr val="B7494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曲线连接符 19"/>
          <p:cNvCxnSpPr>
            <a:stCxn id="64" idx="3"/>
            <a:endCxn id="40" idx="3"/>
          </p:cNvCxnSpPr>
          <p:nvPr/>
        </p:nvCxnSpPr>
        <p:spPr>
          <a:xfrm flipH="1">
            <a:off x="5758947" y="2205720"/>
            <a:ext cx="224053" cy="2772693"/>
          </a:xfrm>
          <a:prstGeom prst="curvedConnector3">
            <a:avLst>
              <a:gd name="adj1" fmla="val -181662"/>
            </a:avLst>
          </a:prstGeom>
          <a:ln w="25400">
            <a:solidFill>
              <a:srgbClr val="B7494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曲线连接符 21"/>
          <p:cNvCxnSpPr>
            <a:stCxn id="2" idx="1"/>
            <a:endCxn id="37" idx="1"/>
          </p:cNvCxnSpPr>
          <p:nvPr/>
        </p:nvCxnSpPr>
        <p:spPr>
          <a:xfrm rot="10800000" flipV="1">
            <a:off x="3262108" y="1705706"/>
            <a:ext cx="12700" cy="2717683"/>
          </a:xfrm>
          <a:prstGeom prst="curvedConnector3">
            <a:avLst>
              <a:gd name="adj1" fmla="val 3731709"/>
            </a:avLst>
          </a:prstGeom>
          <a:ln w="25400">
            <a:solidFill>
              <a:srgbClr val="FF6E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>
            <a:spLocks noChangeArrowheads="1"/>
          </p:cNvSpPr>
          <p:nvPr/>
        </p:nvSpPr>
        <p:spPr bwMode="auto">
          <a:xfrm>
            <a:off x="3425304" y="994802"/>
            <a:ext cx="1305559" cy="431800"/>
          </a:xfrm>
          <a:prstGeom prst="rect">
            <a:avLst/>
          </a:prstGeom>
          <a:solidFill>
            <a:srgbClr val="D4756F">
              <a:alpha val="20000"/>
            </a:srgbClr>
          </a:solidFill>
          <a:ln w="44450">
            <a:noFill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100" dirty="0">
                <a:cs typeface="Times New Roman" charset="0"/>
              </a:rPr>
              <a:t>STATIC DATA</a:t>
            </a:r>
            <a:endParaRPr lang="zh-CN" altLang="zh-CN" sz="1600" kern="100" dirty="0">
              <a:cs typeface="Times New Roman" charset="0"/>
            </a:endParaRPr>
          </a:p>
        </p:txBody>
      </p:sp>
      <p:sp>
        <p:nvSpPr>
          <p:cNvPr id="65" name="矩形 64"/>
          <p:cNvSpPr>
            <a:spLocks noChangeArrowheads="1"/>
          </p:cNvSpPr>
          <p:nvPr/>
        </p:nvSpPr>
        <p:spPr bwMode="auto">
          <a:xfrm>
            <a:off x="3428795" y="1969527"/>
            <a:ext cx="1298891" cy="431800"/>
          </a:xfrm>
          <a:prstGeom prst="rect">
            <a:avLst/>
          </a:prstGeom>
          <a:solidFill>
            <a:srgbClr val="D4756F">
              <a:alpha val="20000"/>
            </a:srgbClr>
          </a:solidFill>
          <a:ln w="44450">
            <a:noFill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cs typeface="Times New Roman" charset="0"/>
              </a:rPr>
              <a:t>STATIC DATA</a:t>
            </a:r>
            <a:endParaRPr lang="zh-CN" altLang="zh-CN" sz="1600" kern="100" dirty="0">
              <a:cs typeface="Times New Roman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 flipH="1">
            <a:off x="4419909" y="2629391"/>
            <a:ext cx="615553" cy="56359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sz="2800" dirty="0" smtClean="0"/>
              <a:t>…</a:t>
            </a:r>
            <a:endParaRPr kumimoji="1" lang="zh-CN" altLang="en-US" sz="2800" dirty="0"/>
          </a:p>
        </p:txBody>
      </p:sp>
      <p:sp>
        <p:nvSpPr>
          <p:cNvPr id="69" name="文本框 68"/>
          <p:cNvSpPr txBox="1"/>
          <p:nvPr/>
        </p:nvSpPr>
        <p:spPr>
          <a:xfrm flipH="1">
            <a:off x="5079238" y="5480470"/>
            <a:ext cx="615553" cy="56359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sz="2800" dirty="0" smtClean="0"/>
              <a:t>…</a:t>
            </a:r>
            <a:endParaRPr kumimoji="1" lang="zh-CN" altLang="en-US" sz="2800" dirty="0"/>
          </a:p>
        </p:txBody>
      </p:sp>
      <p:sp>
        <p:nvSpPr>
          <p:cNvPr id="71" name="文本框 70"/>
          <p:cNvSpPr txBox="1"/>
          <p:nvPr/>
        </p:nvSpPr>
        <p:spPr>
          <a:xfrm>
            <a:off x="1161855" y="4805470"/>
            <a:ext cx="2185343" cy="606443"/>
          </a:xfrm>
          <a:prstGeom prst="rect">
            <a:avLst/>
          </a:prstGeom>
          <a:solidFill>
            <a:srgbClr val="A73937"/>
          </a:solidFill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3200" kern="100" dirty="0" smtClean="0">
                <a:solidFill>
                  <a:schemeClr val="bg1"/>
                </a:solidFill>
                <a:effectLst/>
                <a:ea typeface="宋体" charset="0"/>
                <a:cs typeface="Times New Roman" charset="0"/>
              </a:rPr>
              <a:t>Data</a:t>
            </a:r>
            <a:r>
              <a:rPr lang="zh-CN" altLang="en-US" sz="3200" kern="100" dirty="0" smtClean="0">
                <a:solidFill>
                  <a:schemeClr val="bg1"/>
                </a:solidFill>
                <a:effectLst/>
                <a:ea typeface="宋体" charset="0"/>
                <a:cs typeface="Times New Roman" charset="0"/>
              </a:rPr>
              <a:t> </a:t>
            </a:r>
            <a:r>
              <a:rPr lang="en-US" altLang="zh-CN" sz="3200" kern="100" dirty="0" smtClean="0">
                <a:solidFill>
                  <a:schemeClr val="bg1"/>
                </a:solidFill>
                <a:effectLst/>
                <a:ea typeface="宋体" charset="0"/>
                <a:cs typeface="Times New Roman" charset="0"/>
              </a:rPr>
              <a:t>Loader</a:t>
            </a:r>
            <a:endParaRPr lang="zh-CN" sz="3200" kern="100" dirty="0">
              <a:solidFill>
                <a:schemeClr val="bg1"/>
              </a:solidFill>
              <a:effectLst/>
              <a:ea typeface="宋体" charset="0"/>
              <a:cs typeface="Times New Roman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5653875" y="5629047"/>
            <a:ext cx="3053264" cy="606443"/>
          </a:xfrm>
          <a:prstGeom prst="rect">
            <a:avLst/>
          </a:prstGeom>
          <a:solidFill>
            <a:srgbClr val="A73937"/>
          </a:solidFill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3200" kern="100" dirty="0" smtClean="0">
                <a:solidFill>
                  <a:schemeClr val="bg1"/>
                </a:solidFill>
                <a:effectLst/>
                <a:ea typeface="宋体" charset="0"/>
                <a:cs typeface="Times New Roman" charset="0"/>
              </a:rPr>
              <a:t>Query</a:t>
            </a:r>
            <a:r>
              <a:rPr lang="zh-CN" altLang="en-US" sz="3200" kern="100" dirty="0" smtClean="0">
                <a:solidFill>
                  <a:schemeClr val="bg1"/>
                </a:solidFill>
                <a:effectLst/>
                <a:ea typeface="宋体" charset="0"/>
                <a:cs typeface="Times New Roman" charset="0"/>
              </a:rPr>
              <a:t> </a:t>
            </a:r>
            <a:r>
              <a:rPr lang="en-US" altLang="zh-CN" sz="3200" kern="100" dirty="0" smtClean="0">
                <a:solidFill>
                  <a:schemeClr val="bg1"/>
                </a:solidFill>
                <a:effectLst/>
                <a:ea typeface="宋体" charset="0"/>
                <a:cs typeface="Times New Roman" charset="0"/>
              </a:rPr>
              <a:t>Processor</a:t>
            </a:r>
            <a:endParaRPr lang="zh-CN" sz="3200" kern="100" dirty="0">
              <a:solidFill>
                <a:schemeClr val="bg1"/>
              </a:solidFill>
              <a:effectLst/>
              <a:ea typeface="宋体" charset="0"/>
              <a:cs typeface="Times New Roman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9288" y="3224762"/>
            <a:ext cx="8513955" cy="3188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9</a:t>
            </a:fld>
            <a:endParaRPr kumimoji="1" lang="zh-CN" altLang="en-US"/>
          </a:p>
        </p:txBody>
      </p:sp>
      <p:sp>
        <p:nvSpPr>
          <p:cNvPr id="59" name="内容占位符 2"/>
          <p:cNvSpPr>
            <a:spLocks noGrp="1"/>
          </p:cNvSpPr>
          <p:nvPr>
            <p:ph idx="1"/>
          </p:nvPr>
        </p:nvSpPr>
        <p:spPr>
          <a:xfrm>
            <a:off x="228839" y="273186"/>
            <a:ext cx="7886700" cy="579864"/>
          </a:xfrm>
          <a:noFill/>
          <a:ln w="22225">
            <a:noFill/>
          </a:ln>
        </p:spPr>
        <p:txBody>
          <a:bodyPr anchor="ctr">
            <a:noAutofit/>
          </a:bodyPr>
          <a:lstStyle/>
          <a:p>
            <a:r>
              <a:rPr lang="en-US" altLang="zh-CN" sz="3200" kern="50" smtClean="0">
                <a:solidFill>
                  <a:srgbClr val="393D42"/>
                </a:solidFill>
                <a:ea typeface="DejaVu Sans" charset="0"/>
              </a:rPr>
              <a:t>Design</a:t>
            </a:r>
            <a:endParaRPr lang="zh-CN" altLang="en-US" sz="3200" dirty="0">
              <a:solidFill>
                <a:srgbClr val="393D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4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5" grpId="1" animBg="1"/>
      <p:bldP spid="37" grpId="0" animBg="1"/>
      <p:bldP spid="37" grpId="1" animBg="1"/>
      <p:bldP spid="40" grpId="0" animBg="1"/>
      <p:bldP spid="40" grpId="1" animBg="1"/>
      <p:bldP spid="2" grpId="0" animBg="1"/>
      <p:bldP spid="2" grpId="1" animBg="1"/>
      <p:bldP spid="63" grpId="0" animBg="1"/>
      <p:bldP spid="63" grpId="1" animBg="1"/>
      <p:bldP spid="64" grpId="0" animBg="1"/>
      <p:bldP spid="64" grpId="1" animBg="1"/>
      <p:bldP spid="62" grpId="0" animBg="1"/>
      <p:bldP spid="62" grpId="1" animBg="1"/>
      <p:bldP spid="65" grpId="0" animBg="1"/>
      <p:bldP spid="65" grpId="1" animBg="1"/>
      <p:bldP spid="71" grpId="0" animBg="1"/>
      <p:bldP spid="71" grpId="1" animBg="1"/>
      <p:bldP spid="72" grpId="0" animBg="1"/>
      <p:bldP spid="72" grpId="1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>
            <a:spLocks noChangeArrowheads="1"/>
          </p:cNvSpPr>
          <p:nvPr/>
        </p:nvSpPr>
        <p:spPr bwMode="auto">
          <a:xfrm>
            <a:off x="3144633" y="3114113"/>
            <a:ext cx="2807970" cy="212344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spcAft>
                <a:spcPts val="0"/>
              </a:spcAft>
            </a:pPr>
            <a:r>
              <a:rPr lang="en-US" sz="1200" kern="100" dirty="0">
                <a:solidFill>
                  <a:srgbClr val="000000"/>
                </a:solidFill>
                <a:effectLst/>
                <a:ea typeface="宋体" charset="0"/>
                <a:cs typeface="Times New Roman" charset="0"/>
              </a:rPr>
              <a:t> </a:t>
            </a:r>
            <a:endParaRPr lang="zh-CN" sz="2000" kern="100" dirty="0">
              <a:solidFill>
                <a:srgbClr val="9F3230"/>
              </a:solidFill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43" name="直线箭头连接符 42"/>
          <p:cNvCxnSpPr>
            <a:cxnSpLocks noChangeShapeType="1"/>
          </p:cNvCxnSpPr>
          <p:nvPr/>
        </p:nvCxnSpPr>
        <p:spPr bwMode="auto">
          <a:xfrm flipV="1">
            <a:off x="4335258" y="3740859"/>
            <a:ext cx="373380" cy="428307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44" name="矩形 43"/>
          <p:cNvSpPr>
            <a:spLocks noChangeArrowheads="1"/>
          </p:cNvSpPr>
          <p:nvPr/>
        </p:nvSpPr>
        <p:spPr bwMode="auto">
          <a:xfrm>
            <a:off x="4749259" y="3236257"/>
            <a:ext cx="1019810" cy="80962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600" kern="100" dirty="0" smtClean="0">
                <a:effectLst/>
                <a:ea typeface="宋体" charset="0"/>
                <a:cs typeface="Times New Roman" charset="0"/>
              </a:rPr>
              <a:t>QP</a:t>
            </a:r>
            <a:r>
              <a:rPr lang="zh-CN" altLang="en-US" sz="1600" kern="100" dirty="0" smtClean="0">
                <a:effectLst/>
                <a:ea typeface="宋体" charset="0"/>
                <a:cs typeface="Times New Roman" charset="0"/>
              </a:rPr>
              <a:t> </a:t>
            </a:r>
            <a:r>
              <a:rPr lang="en-US" altLang="zh-CN" sz="1600" kern="100" dirty="0" smtClean="0">
                <a:effectLst/>
                <a:ea typeface="宋体" charset="0"/>
                <a:cs typeface="Times New Roman" charset="0"/>
              </a:rPr>
              <a:t>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5" name="矩形 44"/>
          <p:cNvSpPr>
            <a:spLocks noChangeArrowheads="1"/>
          </p:cNvSpPr>
          <p:nvPr/>
        </p:nvSpPr>
        <p:spPr bwMode="auto">
          <a:xfrm>
            <a:off x="3270344" y="3751877"/>
            <a:ext cx="1073150" cy="84772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600" kern="100" dirty="0" smtClean="0">
                <a:ea typeface="宋体" charset="0"/>
                <a:cs typeface="Times New Roman" charset="0"/>
              </a:rPr>
              <a:t>DL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6" name="矩形 45"/>
          <p:cNvSpPr>
            <a:spLocks noChangeArrowheads="1"/>
          </p:cNvSpPr>
          <p:nvPr/>
        </p:nvSpPr>
        <p:spPr bwMode="auto">
          <a:xfrm>
            <a:off x="4749259" y="4294802"/>
            <a:ext cx="1019810" cy="84899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600" kern="100" dirty="0" smtClean="0">
                <a:effectLst/>
                <a:ea typeface="宋体" charset="0"/>
                <a:cs typeface="Times New Roman" charset="0"/>
              </a:rPr>
              <a:t>QP</a:t>
            </a:r>
            <a:r>
              <a:rPr lang="zh-CN" altLang="en-US" sz="1600" kern="100" dirty="0" smtClean="0">
                <a:effectLst/>
                <a:ea typeface="宋体" charset="0"/>
                <a:cs typeface="Times New Roman" charset="0"/>
              </a:rPr>
              <a:t> </a:t>
            </a:r>
            <a:r>
              <a:rPr lang="en-US" altLang="zh-CN" sz="1600" kern="100" dirty="0" smtClean="0">
                <a:effectLst/>
                <a:ea typeface="宋体" charset="0"/>
                <a:cs typeface="Times New Roman" charset="0"/>
              </a:rPr>
              <a:t>2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7" name="矩形 46"/>
          <p:cNvSpPr>
            <a:spLocks noChangeArrowheads="1"/>
          </p:cNvSpPr>
          <p:nvPr/>
        </p:nvSpPr>
        <p:spPr bwMode="auto">
          <a:xfrm>
            <a:off x="3144633" y="528077"/>
            <a:ext cx="2807335" cy="2068195"/>
          </a:xfrm>
          <a:prstGeom prst="rect">
            <a:avLst/>
          </a:prstGeom>
          <a:ln w="12700"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200" kern="100">
                <a:solidFill>
                  <a:srgbClr val="000000"/>
                </a:solidFill>
                <a:effectLst/>
                <a:ea typeface="宋体" charset="0"/>
                <a:cs typeface="Times New Roman" charset="0"/>
              </a:rPr>
              <a:t> </a:t>
            </a:r>
            <a:endParaRPr lang="zh-CN" sz="1200" kern="10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8" name="矩形 47"/>
          <p:cNvSpPr>
            <a:spLocks noChangeArrowheads="1"/>
          </p:cNvSpPr>
          <p:nvPr/>
        </p:nvSpPr>
        <p:spPr bwMode="auto">
          <a:xfrm>
            <a:off x="3337675" y="683017"/>
            <a:ext cx="2439032" cy="83439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JOB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9" name="矩形 48"/>
          <p:cNvSpPr>
            <a:spLocks noChangeArrowheads="1"/>
          </p:cNvSpPr>
          <p:nvPr/>
        </p:nvSpPr>
        <p:spPr bwMode="auto">
          <a:xfrm>
            <a:off x="3347198" y="1638057"/>
            <a:ext cx="2429509" cy="85598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JOB 2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50" name="矩形 49"/>
          <p:cNvSpPr>
            <a:spLocks noChangeArrowheads="1"/>
          </p:cNvSpPr>
          <p:nvPr/>
        </p:nvSpPr>
        <p:spPr bwMode="auto">
          <a:xfrm>
            <a:off x="3422128" y="1969527"/>
            <a:ext cx="1305558" cy="431800"/>
          </a:xfrm>
          <a:prstGeom prst="rect">
            <a:avLst/>
          </a:prstGeom>
          <a:pattFill prst="pct10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STATIC DATA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51" name="矩形 50"/>
          <p:cNvSpPr>
            <a:spLocks noChangeArrowheads="1"/>
          </p:cNvSpPr>
          <p:nvPr/>
        </p:nvSpPr>
        <p:spPr bwMode="auto">
          <a:xfrm>
            <a:off x="4796266" y="1969527"/>
            <a:ext cx="911861" cy="431800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DYNAMIC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52" name="直线箭头连接符 51"/>
          <p:cNvCxnSpPr>
            <a:cxnSpLocks noChangeShapeType="1"/>
          </p:cNvCxnSpPr>
          <p:nvPr/>
        </p:nvCxnSpPr>
        <p:spPr bwMode="auto">
          <a:xfrm>
            <a:off x="2122918" y="4001208"/>
            <a:ext cx="113919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cxnSp>
        <p:nvCxnSpPr>
          <p:cNvPr id="53" name="直线箭头连接符 52"/>
          <p:cNvCxnSpPr>
            <a:cxnSpLocks noChangeShapeType="1"/>
          </p:cNvCxnSpPr>
          <p:nvPr/>
        </p:nvCxnSpPr>
        <p:spPr bwMode="auto">
          <a:xfrm>
            <a:off x="2122918" y="4249493"/>
            <a:ext cx="1139190" cy="5715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sp>
        <p:nvSpPr>
          <p:cNvPr id="54" name="矩形 53"/>
          <p:cNvSpPr>
            <a:spLocks noChangeArrowheads="1"/>
          </p:cNvSpPr>
          <p:nvPr/>
        </p:nvSpPr>
        <p:spPr bwMode="auto">
          <a:xfrm>
            <a:off x="3321230" y="4011275"/>
            <a:ext cx="943142" cy="524846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000000"/>
                </a:solidFill>
                <a:effectLst/>
                <a:ea typeface="宋体" charset="0"/>
                <a:cs typeface="Times New Roman" charset="0"/>
              </a:rPr>
              <a:t>STATIC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55" name="直线箭头连接符 54"/>
          <p:cNvCxnSpPr>
            <a:cxnSpLocks noChangeShapeType="1"/>
          </p:cNvCxnSpPr>
          <p:nvPr/>
        </p:nvCxnSpPr>
        <p:spPr bwMode="auto">
          <a:xfrm>
            <a:off x="4353038" y="4255208"/>
            <a:ext cx="377825" cy="421005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56" name="文本框 55"/>
          <p:cNvSpPr txBox="1"/>
          <p:nvPr/>
        </p:nvSpPr>
        <p:spPr>
          <a:xfrm>
            <a:off x="6733018" y="1944760"/>
            <a:ext cx="1314786" cy="280354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ANSWER 2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733018" y="1017048"/>
            <a:ext cx="1314786" cy="33083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ANSWER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58" name="矩形 57"/>
          <p:cNvSpPr>
            <a:spLocks noChangeArrowheads="1"/>
          </p:cNvSpPr>
          <p:nvPr/>
        </p:nvSpPr>
        <p:spPr bwMode="auto">
          <a:xfrm>
            <a:off x="3422127" y="994802"/>
            <a:ext cx="1305559" cy="431800"/>
          </a:xfrm>
          <a:prstGeom prst="rect">
            <a:avLst/>
          </a:prstGeom>
          <a:pattFill prst="pct10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STATIC DATA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59" name="矩形 58"/>
          <p:cNvSpPr>
            <a:spLocks noChangeArrowheads="1"/>
          </p:cNvSpPr>
          <p:nvPr/>
        </p:nvSpPr>
        <p:spPr bwMode="auto">
          <a:xfrm>
            <a:off x="4796267" y="994802"/>
            <a:ext cx="911860" cy="431800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 smtClean="0">
                <a:effectLst/>
                <a:ea typeface="宋体" charset="0"/>
                <a:cs typeface="Times New Roman" charset="0"/>
              </a:rPr>
              <a:t>DYNAMIC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60" name="矩形 59"/>
          <p:cNvSpPr>
            <a:spLocks noChangeArrowheads="1"/>
          </p:cNvSpPr>
          <p:nvPr/>
        </p:nvSpPr>
        <p:spPr bwMode="auto">
          <a:xfrm>
            <a:off x="4796902" y="3544501"/>
            <a:ext cx="902335" cy="431800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DYNAMIC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61" name="矩形 60"/>
          <p:cNvSpPr>
            <a:spLocks noChangeArrowheads="1"/>
          </p:cNvSpPr>
          <p:nvPr/>
        </p:nvSpPr>
        <p:spPr bwMode="auto">
          <a:xfrm>
            <a:off x="4796901" y="4621357"/>
            <a:ext cx="897890" cy="431800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DYNAMIC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282794" y="3793806"/>
            <a:ext cx="1007129" cy="318527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QUERY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1282794" y="4091110"/>
            <a:ext cx="935355" cy="337503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QUERY 2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769829" y="3432005"/>
            <a:ext cx="1133068" cy="308853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ANSWER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769829" y="4602128"/>
            <a:ext cx="1133068" cy="30201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>
                <a:effectLst/>
                <a:ea typeface="宋体" charset="0"/>
                <a:cs typeface="Times New Roman" charset="0"/>
              </a:rPr>
              <a:t>ANSWER 2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66" name="直线箭头连接符 65"/>
          <p:cNvCxnSpPr>
            <a:cxnSpLocks noChangeShapeType="1"/>
          </p:cNvCxnSpPr>
          <p:nvPr/>
        </p:nvCxnSpPr>
        <p:spPr bwMode="auto">
          <a:xfrm>
            <a:off x="5777978" y="3622113"/>
            <a:ext cx="1063625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cxnSp>
        <p:nvCxnSpPr>
          <p:cNvPr id="67" name="直线箭头连接符 66"/>
          <p:cNvCxnSpPr>
            <a:cxnSpLocks noChangeShapeType="1"/>
          </p:cNvCxnSpPr>
          <p:nvPr/>
        </p:nvCxnSpPr>
        <p:spPr bwMode="auto">
          <a:xfrm>
            <a:off x="5777343" y="4757493"/>
            <a:ext cx="1063625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cxnSp>
        <p:nvCxnSpPr>
          <p:cNvPr id="68" name="直线箭头连接符 67"/>
          <p:cNvCxnSpPr>
            <a:cxnSpLocks noChangeShapeType="1"/>
          </p:cNvCxnSpPr>
          <p:nvPr/>
        </p:nvCxnSpPr>
        <p:spPr bwMode="auto">
          <a:xfrm>
            <a:off x="5708128" y="1217052"/>
            <a:ext cx="1063625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cxnSp>
        <p:nvCxnSpPr>
          <p:cNvPr id="69" name="直线箭头连接符 68"/>
          <p:cNvCxnSpPr>
            <a:cxnSpLocks noChangeShapeType="1"/>
          </p:cNvCxnSpPr>
          <p:nvPr/>
        </p:nvCxnSpPr>
        <p:spPr bwMode="auto">
          <a:xfrm flipV="1">
            <a:off x="5776707" y="2106052"/>
            <a:ext cx="995046" cy="254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cxnSp>
        <p:nvCxnSpPr>
          <p:cNvPr id="70" name="直线箭头连接符 69"/>
          <p:cNvCxnSpPr>
            <a:cxnSpLocks noChangeShapeType="1"/>
          </p:cNvCxnSpPr>
          <p:nvPr/>
        </p:nvCxnSpPr>
        <p:spPr bwMode="auto">
          <a:xfrm flipV="1">
            <a:off x="2164828" y="1217052"/>
            <a:ext cx="1172847" cy="254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71" name="文本框 70"/>
          <p:cNvSpPr txBox="1"/>
          <p:nvPr/>
        </p:nvSpPr>
        <p:spPr>
          <a:xfrm>
            <a:off x="1282159" y="1025555"/>
            <a:ext cx="1172846" cy="25273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QUERY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282159" y="1950210"/>
            <a:ext cx="1144420" cy="24828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QUERY 2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73" name="直线箭头连接符 72"/>
          <p:cNvCxnSpPr>
            <a:cxnSpLocks noChangeShapeType="1"/>
          </p:cNvCxnSpPr>
          <p:nvPr/>
        </p:nvCxnSpPr>
        <p:spPr bwMode="auto">
          <a:xfrm>
            <a:off x="2164828" y="2108592"/>
            <a:ext cx="1177292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74" name="矩形 73"/>
          <p:cNvSpPr>
            <a:spLocks noChangeArrowheads="1"/>
          </p:cNvSpPr>
          <p:nvPr/>
        </p:nvSpPr>
        <p:spPr bwMode="auto">
          <a:xfrm>
            <a:off x="3416781" y="1969527"/>
            <a:ext cx="1305558" cy="431800"/>
          </a:xfrm>
          <a:prstGeom prst="rect">
            <a:avLst/>
          </a:prstGeom>
          <a:solidFill>
            <a:srgbClr val="CB605F">
              <a:alpha val="40000"/>
            </a:srgbClr>
          </a:solid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1600" kern="100" dirty="0" smtClean="0">
                <a:effectLst/>
                <a:ea typeface="宋体" charset="0"/>
                <a:cs typeface="Times New Roman" charset="0"/>
              </a:rPr>
              <a:t>STATIC DATA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75" name="矩形 74"/>
          <p:cNvSpPr>
            <a:spLocks noChangeArrowheads="1"/>
          </p:cNvSpPr>
          <p:nvPr/>
        </p:nvSpPr>
        <p:spPr bwMode="auto">
          <a:xfrm>
            <a:off x="3315883" y="4011275"/>
            <a:ext cx="943142" cy="524846"/>
          </a:xfrm>
          <a:prstGeom prst="rect">
            <a:avLst/>
          </a:prstGeom>
          <a:solidFill>
            <a:srgbClr val="CB605F">
              <a:alpha val="70000"/>
            </a:srgbClr>
          </a:solid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000000"/>
                </a:solidFill>
                <a:effectLst/>
                <a:ea typeface="宋体" charset="0"/>
                <a:cs typeface="Times New Roman" charset="0"/>
              </a:rPr>
              <a:t>STATIC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76" name="矩形 75"/>
          <p:cNvSpPr>
            <a:spLocks noChangeArrowheads="1"/>
          </p:cNvSpPr>
          <p:nvPr/>
        </p:nvSpPr>
        <p:spPr bwMode="auto">
          <a:xfrm>
            <a:off x="3416780" y="994802"/>
            <a:ext cx="1305559" cy="431800"/>
          </a:xfrm>
          <a:prstGeom prst="rect">
            <a:avLst/>
          </a:prstGeom>
          <a:solidFill>
            <a:srgbClr val="CB605F">
              <a:alpha val="40000"/>
            </a:srgbClr>
          </a:solid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600" kern="100" dirty="0" smtClean="0">
                <a:effectLst/>
                <a:ea typeface="宋体" charset="0"/>
                <a:cs typeface="Times New Roman" charset="0"/>
              </a:rPr>
              <a:t>STATIC DATA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10</a:t>
            </a:fld>
            <a:endParaRPr kumimoji="1" lang="zh-CN" altLang="en-US"/>
          </a:p>
        </p:txBody>
      </p:sp>
      <p:sp>
        <p:nvSpPr>
          <p:cNvPr id="38" name="内容占位符 2"/>
          <p:cNvSpPr>
            <a:spLocks noGrp="1"/>
          </p:cNvSpPr>
          <p:nvPr>
            <p:ph idx="1"/>
          </p:nvPr>
        </p:nvSpPr>
        <p:spPr>
          <a:xfrm>
            <a:off x="228839" y="273186"/>
            <a:ext cx="7886700" cy="579864"/>
          </a:xfrm>
          <a:noFill/>
          <a:ln w="22225">
            <a:noFill/>
          </a:ln>
        </p:spPr>
        <p:txBody>
          <a:bodyPr anchor="ctr">
            <a:noAutofit/>
          </a:bodyPr>
          <a:lstStyle/>
          <a:p>
            <a:r>
              <a:rPr lang="en-US" altLang="zh-CN" sz="3200" kern="50" smtClean="0">
                <a:solidFill>
                  <a:srgbClr val="393D42"/>
                </a:solidFill>
                <a:ea typeface="DejaVu Sans" charset="0"/>
              </a:rPr>
              <a:t>Design</a:t>
            </a:r>
            <a:endParaRPr lang="zh-CN" altLang="en-US" sz="3200" dirty="0">
              <a:solidFill>
                <a:srgbClr val="393D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873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5" grpId="0" animBg="1"/>
      <p:bldP spid="7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374509" y="1079528"/>
          <a:ext cx="4486836" cy="145280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4486836"/>
              </a:tblGrid>
              <a:tr h="4794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DataLoader</a:t>
                      </a:r>
                      <a:endParaRPr lang="zh-CN" altLang="en-US" sz="2000" dirty="0"/>
                    </a:p>
                  </a:txBody>
                  <a:tcPr anchor="ctr"/>
                </a:tc>
              </a:tr>
              <a:tr h="486690">
                <a:tc>
                  <a:txBody>
                    <a:bodyPr/>
                    <a:lstStyle/>
                    <a:p>
                      <a:r>
                        <a:rPr lang="en-US" altLang="zh-CN" sz="2000" dirty="0" err="1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DataLoader</a:t>
                      </a:r>
                      <a:r>
                        <a:rPr lang="en-US" altLang="zh-CN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(string</a:t>
                      </a:r>
                      <a:r>
                        <a:rPr lang="zh-CN" altLang="en-US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</a:t>
                      </a:r>
                      <a:r>
                        <a:rPr lang="en-US" altLang="zh-CN" sz="2000" dirty="0" err="1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workerID</a:t>
                      </a:r>
                      <a:r>
                        <a:rPr lang="en-US" altLang="zh-CN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)</a:t>
                      </a:r>
                      <a:endParaRPr lang="zh-CN" altLang="en-US" sz="2000" dirty="0" smtClean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486690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void</a:t>
                      </a:r>
                      <a:r>
                        <a:rPr lang="zh-CN" altLang="en-US" sz="2000" dirty="0" smtClean="0"/>
                        <a:t> </a:t>
                      </a:r>
                      <a:r>
                        <a:rPr lang="en-US" altLang="zh-CN" sz="2000" dirty="0" smtClean="0"/>
                        <a:t>loadData(</a:t>
                      </a:r>
                      <a:r>
                        <a:rPr lang="en-US" altLang="zh-CN" sz="2000" dirty="0" err="1" smtClean="0"/>
                        <a:t>sring</a:t>
                      </a:r>
                      <a:r>
                        <a:rPr lang="zh-CN" altLang="en-US" sz="2000" baseline="0" dirty="0" smtClean="0"/>
                        <a:t> </a:t>
                      </a:r>
                      <a:r>
                        <a:rPr lang="en-US" altLang="zh-CN" sz="2000" baseline="0" dirty="0" smtClean="0"/>
                        <a:t>path)</a:t>
                      </a:r>
                      <a:endParaRPr lang="zh-CN" altLang="en-US" sz="2000" baseline="0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540" y="1159918"/>
            <a:ext cx="3621314" cy="1292027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515668"/>
              </p:ext>
            </p:extLst>
          </p:nvPr>
        </p:nvGraphicFramePr>
        <p:xfrm>
          <a:off x="374509" y="2999768"/>
          <a:ext cx="4486836" cy="288635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4486836"/>
              </a:tblGrid>
              <a:tr h="4794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 smtClean="0"/>
                        <a:t>QueryProcessor</a:t>
                      </a:r>
                      <a:endParaRPr lang="zh-CN" altLang="en-US" sz="2000" dirty="0"/>
                    </a:p>
                  </a:txBody>
                  <a:tcPr anchor="ctr"/>
                </a:tc>
              </a:tr>
              <a:tr h="486690">
                <a:tc>
                  <a:txBody>
                    <a:bodyPr/>
                    <a:lstStyle/>
                    <a:p>
                      <a:r>
                        <a:rPr lang="en-US" altLang="zh-CN" sz="2000" dirty="0" err="1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QueryProcessor</a:t>
                      </a:r>
                      <a:r>
                        <a:rPr lang="en-US" altLang="zh-CN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(string</a:t>
                      </a:r>
                      <a:r>
                        <a:rPr lang="zh-CN" altLang="en-US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</a:t>
                      </a:r>
                      <a:r>
                        <a:rPr lang="en-US" altLang="zh-CN" sz="2000" dirty="0" err="1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workerID</a:t>
                      </a:r>
                      <a:r>
                        <a:rPr lang="en-US" altLang="zh-CN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)</a:t>
                      </a:r>
                      <a:endParaRPr lang="zh-CN" altLang="en-US" sz="2000" dirty="0" smtClean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4866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//methods</a:t>
                      </a:r>
                      <a:r>
                        <a:rPr lang="zh-CN" altLang="en-US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</a:t>
                      </a:r>
                      <a:r>
                        <a:rPr lang="en-US" altLang="zh-CN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to</a:t>
                      </a:r>
                      <a:r>
                        <a:rPr lang="zh-CN" altLang="en-US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</a:t>
                      </a:r>
                      <a:r>
                        <a:rPr lang="en-US" altLang="zh-CN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fetch</a:t>
                      </a:r>
                      <a:r>
                        <a:rPr lang="zh-CN" altLang="en-US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</a:t>
                      </a:r>
                      <a:r>
                        <a:rPr lang="en-US" altLang="zh-CN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data</a:t>
                      </a:r>
                      <a:endParaRPr lang="zh-CN" altLang="en-US" sz="2000" dirty="0" smtClean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altLang="zh-CN" sz="2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getInt</a:t>
                      </a:r>
                      <a:r>
                        <a:rPr lang="en-US" altLang="zh-CN" sz="2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(string index, string label)</a:t>
                      </a:r>
                      <a:endParaRPr lang="zh-CN" altLang="zh-CN" sz="20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altLang="zh-CN" sz="2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getFromVectorInt</a:t>
                      </a:r>
                      <a:r>
                        <a:rPr lang="en-US" altLang="zh-CN" sz="2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(string index, string label, string </a:t>
                      </a:r>
                      <a:r>
                        <a:rPr lang="en-US" altLang="zh-CN" sz="2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vectorIndex</a:t>
                      </a:r>
                      <a:r>
                        <a:rPr lang="en-US" altLang="zh-CN" sz="2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zh-CN" sz="20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540" y="3797907"/>
            <a:ext cx="3638429" cy="1290080"/>
          </a:xfrm>
          <a:prstGeom prst="rect">
            <a:avLst/>
          </a:prstGeom>
        </p:spPr>
      </p:pic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228839" y="273186"/>
            <a:ext cx="7886700" cy="579864"/>
          </a:xfrm>
          <a:noFill/>
          <a:ln w="22225">
            <a:noFill/>
          </a:ln>
        </p:spPr>
        <p:txBody>
          <a:bodyPr anchor="ctr">
            <a:noAutofit/>
          </a:bodyPr>
          <a:lstStyle/>
          <a:p>
            <a:r>
              <a:rPr lang="en-US" altLang="zh-CN" sz="3200" kern="50" dirty="0" smtClean="0">
                <a:solidFill>
                  <a:srgbClr val="393D42"/>
                </a:solidFill>
                <a:ea typeface="DejaVu Sans" charset="0"/>
              </a:rPr>
              <a:t>An</a:t>
            </a:r>
            <a:r>
              <a:rPr lang="zh-CN" altLang="en-US" sz="3200" kern="50" dirty="0" smtClean="0">
                <a:solidFill>
                  <a:srgbClr val="393D42"/>
                </a:solidFill>
                <a:ea typeface="DejaVu Sans" charset="0"/>
              </a:rPr>
              <a:t> </a:t>
            </a:r>
            <a:r>
              <a:rPr lang="en-US" altLang="zh-CN" sz="3200" kern="50" dirty="0" smtClean="0">
                <a:solidFill>
                  <a:srgbClr val="393D42"/>
                </a:solidFill>
                <a:ea typeface="DejaVu Sans" charset="0"/>
              </a:rPr>
              <a:t>API</a:t>
            </a:r>
            <a:endParaRPr lang="zh-CN" altLang="en-US" sz="3200" dirty="0">
              <a:solidFill>
                <a:srgbClr val="393D42"/>
              </a:solidFill>
            </a:endParaRPr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0098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374509" y="1079528"/>
          <a:ext cx="4486836" cy="145280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4486836"/>
              </a:tblGrid>
              <a:tr h="4794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DataLoader</a:t>
                      </a:r>
                      <a:endParaRPr lang="zh-CN" altLang="en-US" sz="2000" dirty="0"/>
                    </a:p>
                  </a:txBody>
                  <a:tcPr anchor="ctr"/>
                </a:tc>
              </a:tr>
              <a:tr h="486690">
                <a:tc>
                  <a:txBody>
                    <a:bodyPr/>
                    <a:lstStyle/>
                    <a:p>
                      <a:r>
                        <a:rPr lang="en-US" altLang="zh-CN" sz="2000" dirty="0" err="1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DataLoader</a:t>
                      </a:r>
                      <a:r>
                        <a:rPr lang="en-US" altLang="zh-CN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(string</a:t>
                      </a:r>
                      <a:r>
                        <a:rPr lang="zh-CN" altLang="en-US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</a:t>
                      </a:r>
                      <a:r>
                        <a:rPr lang="en-US" altLang="zh-CN" sz="2000" dirty="0" err="1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workerID</a:t>
                      </a:r>
                      <a:r>
                        <a:rPr lang="en-US" altLang="zh-CN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)</a:t>
                      </a:r>
                      <a:endParaRPr lang="zh-CN" altLang="en-US" sz="2000" dirty="0" smtClean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486690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void</a:t>
                      </a:r>
                      <a:r>
                        <a:rPr lang="zh-CN" altLang="en-US" sz="2000" dirty="0" smtClean="0"/>
                        <a:t> </a:t>
                      </a:r>
                      <a:r>
                        <a:rPr lang="en-US" altLang="zh-CN" sz="2000" dirty="0" smtClean="0"/>
                        <a:t>loadData(</a:t>
                      </a:r>
                      <a:r>
                        <a:rPr lang="en-US" altLang="zh-CN" sz="2000" dirty="0" err="1" smtClean="0"/>
                        <a:t>sring</a:t>
                      </a:r>
                      <a:r>
                        <a:rPr lang="zh-CN" altLang="en-US" sz="2000" baseline="0" dirty="0" smtClean="0"/>
                        <a:t> </a:t>
                      </a:r>
                      <a:r>
                        <a:rPr lang="en-US" altLang="zh-CN" sz="2000" baseline="0" dirty="0" smtClean="0"/>
                        <a:t>path)</a:t>
                      </a:r>
                      <a:endParaRPr lang="zh-CN" altLang="en-US" sz="2000" baseline="0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540" y="1159918"/>
            <a:ext cx="3621314" cy="129202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641" y="3036189"/>
            <a:ext cx="5295900" cy="16637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2241" y="4236063"/>
            <a:ext cx="6337300" cy="1752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内容占位符 2"/>
          <p:cNvSpPr>
            <a:spLocks noGrp="1"/>
          </p:cNvSpPr>
          <p:nvPr>
            <p:ph idx="1"/>
          </p:nvPr>
        </p:nvSpPr>
        <p:spPr>
          <a:xfrm>
            <a:off x="228839" y="273186"/>
            <a:ext cx="7886700" cy="579864"/>
          </a:xfrm>
          <a:noFill/>
          <a:ln w="22225">
            <a:noFill/>
          </a:ln>
        </p:spPr>
        <p:txBody>
          <a:bodyPr anchor="ctr">
            <a:noAutofit/>
          </a:bodyPr>
          <a:lstStyle/>
          <a:p>
            <a:r>
              <a:rPr lang="en-US" altLang="zh-CN" sz="3200" dirty="0">
                <a:solidFill>
                  <a:srgbClr val="393D42"/>
                </a:solidFill>
              </a:rPr>
              <a:t>Generality</a:t>
            </a:r>
            <a:endParaRPr lang="zh-CN" altLang="en-US" sz="3200" dirty="0">
              <a:solidFill>
                <a:srgbClr val="393D42"/>
              </a:solidFill>
            </a:endParaRPr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517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748164"/>
              </p:ext>
            </p:extLst>
          </p:nvPr>
        </p:nvGraphicFramePr>
        <p:xfrm>
          <a:off x="374509" y="1079528"/>
          <a:ext cx="4486836" cy="145280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4486836"/>
              </a:tblGrid>
              <a:tr h="4794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DataLoader</a:t>
                      </a:r>
                      <a:endParaRPr lang="zh-CN" altLang="en-US" sz="2000" dirty="0"/>
                    </a:p>
                  </a:txBody>
                  <a:tcPr anchor="ctr"/>
                </a:tc>
              </a:tr>
              <a:tr h="486690">
                <a:tc>
                  <a:txBody>
                    <a:bodyPr/>
                    <a:lstStyle/>
                    <a:p>
                      <a:r>
                        <a:rPr lang="en-US" altLang="zh-CN" sz="2000" dirty="0" err="1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DataLoader</a:t>
                      </a:r>
                      <a:r>
                        <a:rPr lang="en-US" altLang="zh-CN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(string</a:t>
                      </a:r>
                      <a:r>
                        <a:rPr lang="zh-CN" altLang="en-US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</a:t>
                      </a:r>
                      <a:r>
                        <a:rPr lang="en-US" altLang="zh-CN" sz="2000" dirty="0" err="1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workerID</a:t>
                      </a:r>
                      <a:r>
                        <a:rPr lang="en-US" altLang="zh-CN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)</a:t>
                      </a:r>
                      <a:endParaRPr lang="zh-CN" altLang="en-US" sz="2000" dirty="0" smtClean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486690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void</a:t>
                      </a:r>
                      <a:r>
                        <a:rPr lang="zh-CN" altLang="en-US" sz="2000" dirty="0" smtClean="0"/>
                        <a:t> </a:t>
                      </a:r>
                      <a:r>
                        <a:rPr lang="en-US" altLang="zh-CN" sz="2000" dirty="0" smtClean="0"/>
                        <a:t>loadData(</a:t>
                      </a:r>
                      <a:r>
                        <a:rPr lang="en-US" altLang="zh-CN" sz="2000" dirty="0" err="1" smtClean="0"/>
                        <a:t>sring</a:t>
                      </a:r>
                      <a:r>
                        <a:rPr lang="zh-CN" altLang="en-US" sz="2000" baseline="0" dirty="0" smtClean="0"/>
                        <a:t> </a:t>
                      </a:r>
                      <a:r>
                        <a:rPr lang="en-US" altLang="zh-CN" sz="2000" baseline="0" dirty="0" smtClean="0"/>
                        <a:t>path)</a:t>
                      </a:r>
                      <a:endParaRPr lang="zh-CN" altLang="en-US" sz="2000" baseline="0" dirty="0" smtClean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804428"/>
              </p:ext>
            </p:extLst>
          </p:nvPr>
        </p:nvGraphicFramePr>
        <p:xfrm>
          <a:off x="374510" y="3064435"/>
          <a:ext cx="4486836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5612"/>
                <a:gridCol w="1495612"/>
                <a:gridCol w="149561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label1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label2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type1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type2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index1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data1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data2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index2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data3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data3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TlToBr w="12700" cmpd="sng">
                      <a:noFill/>
                      <a:prstDash val="solid"/>
                    </a:lnTlToBr>
                  </a:tcPr>
                </a:tc>
              </a:tr>
            </a:tbl>
          </a:graphicData>
        </a:graphic>
      </p:graphicFrame>
      <p:sp>
        <p:nvSpPr>
          <p:cNvPr id="33" name="内容占位符 2"/>
          <p:cNvSpPr>
            <a:spLocks noGrp="1"/>
          </p:cNvSpPr>
          <p:nvPr>
            <p:ph idx="1"/>
          </p:nvPr>
        </p:nvSpPr>
        <p:spPr>
          <a:xfrm>
            <a:off x="5069540" y="3249453"/>
            <a:ext cx="4074460" cy="2914954"/>
          </a:xfrm>
          <a:ln w="22225">
            <a:noFill/>
          </a:ln>
        </p:spPr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D</a:t>
            </a:r>
            <a:r>
              <a:rPr lang="en-US" altLang="zh-CN" sz="2000" dirty="0" smtClean="0"/>
              <a:t>ata </a:t>
            </a:r>
            <a:r>
              <a:rPr lang="en-US" altLang="zh-CN" sz="2000" dirty="0"/>
              <a:t>loader expects </a:t>
            </a:r>
            <a:r>
              <a:rPr lang="en-US" altLang="zh-CN" sz="2000" dirty="0" smtClean="0"/>
              <a:t>static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data </a:t>
            </a:r>
            <a:r>
              <a:rPr lang="en-US" altLang="zh-CN" sz="2000" dirty="0"/>
              <a:t>to be in this format </a:t>
            </a:r>
            <a:r>
              <a:rPr lang="en-US" altLang="zh-CN" sz="2000" kern="50" dirty="0" smtClean="0">
                <a:ea typeface="DejaVu Sans" charset="0"/>
              </a:rPr>
              <a:t>:</a:t>
            </a:r>
            <a:r>
              <a:rPr lang="zh-CN" altLang="zh-CN" sz="2000" dirty="0" smtClean="0"/>
              <a:t> </a:t>
            </a:r>
            <a:endParaRPr lang="zh-CN" altLang="en-US" sz="2000" dirty="0" smtClean="0"/>
          </a:p>
          <a:p>
            <a:pPr>
              <a:lnSpc>
                <a:spcPct val="100000"/>
              </a:lnSpc>
            </a:pPr>
            <a:r>
              <a:rPr lang="en-US" altLang="zh-CN" sz="2000" dirty="0"/>
              <a:t>a</a:t>
            </a:r>
            <a:r>
              <a:rPr lang="en-GB" altLang="zh-CN" sz="2000" dirty="0" smtClean="0"/>
              <a:t> </a:t>
            </a:r>
            <a:r>
              <a:rPr lang="en-GB" altLang="zh-CN" sz="2000" dirty="0"/>
              <a:t>line represents a set of </a:t>
            </a:r>
            <a:r>
              <a:rPr lang="en-GB" altLang="zh-CN" sz="2000" dirty="0" smtClean="0"/>
              <a:t>data</a:t>
            </a:r>
            <a:r>
              <a:rPr lang="en-US" altLang="zh-CN" sz="2000" dirty="0" smtClean="0"/>
              <a:t>,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indexed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by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a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unique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identifier</a:t>
            </a:r>
            <a:r>
              <a:rPr lang="en-US" altLang="zh-CN" sz="2000" dirty="0"/>
              <a:t>;</a:t>
            </a:r>
            <a:r>
              <a:rPr lang="zh-CN" altLang="en-US" sz="2000" dirty="0" smtClean="0"/>
              <a:t> </a:t>
            </a:r>
          </a:p>
          <a:p>
            <a:pPr>
              <a:lnSpc>
                <a:spcPct val="100000"/>
              </a:lnSpc>
            </a:pPr>
            <a:r>
              <a:rPr lang="en-US" altLang="zh-CN" sz="2000" dirty="0"/>
              <a:t>t</a:t>
            </a:r>
            <a:r>
              <a:rPr lang="en-GB" altLang="zh-CN" sz="2000" dirty="0" smtClean="0"/>
              <a:t>he </a:t>
            </a:r>
            <a:r>
              <a:rPr lang="en-GB" altLang="zh-CN" sz="2000" dirty="0"/>
              <a:t>data in different lines should be organized in the same </a:t>
            </a:r>
            <a:r>
              <a:rPr lang="en-GB" altLang="zh-CN" sz="2000" dirty="0" smtClean="0"/>
              <a:t>sequence</a:t>
            </a:r>
            <a:r>
              <a:rPr lang="en-US" altLang="zh-CN" sz="2000" dirty="0"/>
              <a:t>;</a:t>
            </a:r>
            <a:endParaRPr lang="zh-CN" altLang="en-US" sz="2000" dirty="0"/>
          </a:p>
          <a:p>
            <a:pPr>
              <a:lnSpc>
                <a:spcPct val="100000"/>
              </a:lnSpc>
            </a:pPr>
            <a:r>
              <a:rPr lang="en-GB" altLang="zh-CN" sz="2000" dirty="0" smtClean="0"/>
              <a:t>users </a:t>
            </a:r>
            <a:r>
              <a:rPr lang="en-GB" altLang="zh-CN" sz="2000" dirty="0"/>
              <a:t>should assign </a:t>
            </a:r>
            <a:r>
              <a:rPr lang="en-GB" altLang="zh-CN" sz="2000" dirty="0" smtClean="0"/>
              <a:t>labels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and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data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types</a:t>
            </a:r>
            <a:r>
              <a:rPr lang="en-GB" altLang="zh-CN" sz="2000" dirty="0" smtClean="0"/>
              <a:t> </a:t>
            </a:r>
            <a:r>
              <a:rPr lang="en-GB" altLang="zh-CN" sz="2000" dirty="0"/>
              <a:t>to the </a:t>
            </a:r>
            <a:r>
              <a:rPr lang="en-GB" altLang="zh-CN" sz="2000" dirty="0" smtClean="0"/>
              <a:t>columns</a:t>
            </a:r>
            <a:r>
              <a:rPr lang="en-US" altLang="zh-CN" sz="2000" dirty="0"/>
              <a:t>.</a:t>
            </a:r>
            <a:endParaRPr kumimoji="1" lang="zh-CN" altLang="en-US" sz="2000" dirty="0"/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07136"/>
              </p:ext>
            </p:extLst>
          </p:nvPr>
        </p:nvGraphicFramePr>
        <p:xfrm>
          <a:off x="374509" y="3806115"/>
          <a:ext cx="4486836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5612"/>
                <a:gridCol w="1495612"/>
                <a:gridCol w="14956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index1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rgbClr val="D5E9E4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data1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rgbClr val="D5E9E4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data2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rgbClr val="D5E9E4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074489"/>
              </p:ext>
            </p:extLst>
          </p:nvPr>
        </p:nvGraphicFramePr>
        <p:xfrm>
          <a:off x="1813346" y="3064435"/>
          <a:ext cx="1609162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916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label1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rgbClr val="D2EAE8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type1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rgbClr val="D2EAE8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data1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rgbClr val="D2EAE8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data3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TlToBr w="12700" cmpd="sng">
                      <a:noFill/>
                      <a:prstDash val="solid"/>
                    </a:lnTlToBr>
                    <a:solidFill>
                      <a:srgbClr val="D2EAE8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540" y="1159918"/>
            <a:ext cx="3621314" cy="1292027"/>
          </a:xfrm>
          <a:prstGeom prst="rect">
            <a:avLst/>
          </a:prstGeom>
        </p:spPr>
      </p:pic>
      <p:sp>
        <p:nvSpPr>
          <p:cNvPr id="9" name="内容占位符 2"/>
          <p:cNvSpPr txBox="1">
            <a:spLocks/>
          </p:cNvSpPr>
          <p:nvPr/>
        </p:nvSpPr>
        <p:spPr>
          <a:xfrm>
            <a:off x="228839" y="273186"/>
            <a:ext cx="7886700" cy="579864"/>
          </a:xfrm>
          <a:prstGeom prst="rect">
            <a:avLst/>
          </a:prstGeom>
          <a:noFill/>
          <a:ln w="222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smtClean="0">
                <a:solidFill>
                  <a:srgbClr val="393D42"/>
                </a:solidFill>
              </a:rPr>
              <a:t>Generality</a:t>
            </a:r>
            <a:endParaRPr lang="zh-CN" altLang="en-US" sz="3200" dirty="0">
              <a:solidFill>
                <a:srgbClr val="393D42"/>
              </a:solidFill>
            </a:endParaRPr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73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04420"/>
              </p:ext>
            </p:extLst>
          </p:nvPr>
        </p:nvGraphicFramePr>
        <p:xfrm>
          <a:off x="374509" y="1079528"/>
          <a:ext cx="4486836" cy="145280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4486836"/>
              </a:tblGrid>
              <a:tr h="4794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DataLoader</a:t>
                      </a:r>
                      <a:endParaRPr lang="zh-CN" altLang="en-US" sz="2000" dirty="0"/>
                    </a:p>
                  </a:txBody>
                  <a:tcPr anchor="ctr"/>
                </a:tc>
              </a:tr>
              <a:tr h="486690">
                <a:tc>
                  <a:txBody>
                    <a:bodyPr/>
                    <a:lstStyle/>
                    <a:p>
                      <a:r>
                        <a:rPr lang="en-US" altLang="zh-CN" sz="2000" dirty="0" err="1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DataLoader</a:t>
                      </a:r>
                      <a:r>
                        <a:rPr lang="en-US" altLang="zh-CN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(string</a:t>
                      </a:r>
                      <a:r>
                        <a:rPr lang="zh-CN" altLang="en-US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</a:t>
                      </a:r>
                      <a:r>
                        <a:rPr lang="en-US" altLang="zh-CN" sz="2000" dirty="0" err="1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workerID</a:t>
                      </a:r>
                      <a:r>
                        <a:rPr lang="en-US" altLang="zh-CN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)</a:t>
                      </a:r>
                      <a:endParaRPr lang="zh-CN" altLang="en-US" sz="2000" dirty="0" smtClean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486690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void</a:t>
                      </a:r>
                      <a:r>
                        <a:rPr lang="zh-CN" altLang="en-US" sz="2000" dirty="0" smtClean="0"/>
                        <a:t> </a:t>
                      </a:r>
                      <a:r>
                        <a:rPr lang="en-US" altLang="zh-CN" sz="2000" dirty="0" smtClean="0"/>
                        <a:t>loadData(</a:t>
                      </a:r>
                      <a:r>
                        <a:rPr lang="en-US" altLang="zh-CN" sz="2000" dirty="0" err="1" smtClean="0"/>
                        <a:t>sring</a:t>
                      </a:r>
                      <a:r>
                        <a:rPr lang="zh-CN" altLang="en-US" sz="2000" baseline="0" dirty="0" smtClean="0"/>
                        <a:t> </a:t>
                      </a:r>
                      <a:r>
                        <a:rPr lang="en-US" altLang="zh-CN" sz="2000" baseline="0" dirty="0" smtClean="0"/>
                        <a:t>path)</a:t>
                      </a:r>
                      <a:endParaRPr lang="zh-CN" altLang="en-US" sz="2000" baseline="0" dirty="0" smtClean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081365"/>
              </p:ext>
            </p:extLst>
          </p:nvPr>
        </p:nvGraphicFramePr>
        <p:xfrm>
          <a:off x="374510" y="3064435"/>
          <a:ext cx="4486836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5612"/>
                <a:gridCol w="1495612"/>
                <a:gridCol w="149561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label1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label2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type1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type2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index1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data1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data2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index2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data3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data3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TlToBr w="12700" cmpd="sng">
                      <a:noFill/>
                      <a:prstDash val="solid"/>
                    </a:lnTlToBr>
                  </a:tcPr>
                </a:tc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916419"/>
              </p:ext>
            </p:extLst>
          </p:nvPr>
        </p:nvGraphicFramePr>
        <p:xfrm>
          <a:off x="374509" y="4706930"/>
          <a:ext cx="4486836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5612"/>
                <a:gridCol w="1495612"/>
                <a:gridCol w="1495612"/>
              </a:tblGrid>
              <a:tr h="370840">
                <a:tc>
                  <a:txBody>
                    <a:bodyPr/>
                    <a:lstStyle/>
                    <a:p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cap="none" spc="0" dirty="0" err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NodeType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cap="none" spc="0" dirty="0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Neighbor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B w="12700" cmpd="sng">
                      <a:noFill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cap="none" spc="0" dirty="0" err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int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cap="none" spc="0" dirty="0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vector&lt;</a:t>
                      </a:r>
                      <a:r>
                        <a:rPr lang="en-US" altLang="zh-CN" cap="none" spc="0" dirty="0" err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int</a:t>
                      </a:r>
                      <a:r>
                        <a:rPr lang="en-US" altLang="zh-CN" cap="none" spc="0" dirty="0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&gt;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cap="none" spc="0" dirty="0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0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-100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12</a:t>
                      </a:r>
                      <a:r>
                        <a:rPr lang="zh-CN" altLang="en-US" cap="none" spc="0" baseline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 </a:t>
                      </a:r>
                      <a:r>
                        <a:rPr lang="en-US" altLang="zh-CN" cap="none" spc="0" baseline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13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cap="none" spc="0" dirty="0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1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-100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12</a:t>
                      </a:r>
                      <a:r>
                        <a:rPr lang="zh-CN" altLang="en-US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 </a:t>
                      </a:r>
                      <a:r>
                        <a:rPr lang="en-US" altLang="zh-CN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13</a:t>
                      </a:r>
                      <a:r>
                        <a:rPr lang="zh-CN" altLang="en-US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 </a:t>
                      </a:r>
                      <a:r>
                        <a:rPr lang="en-US" altLang="zh-CN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14</a:t>
                      </a:r>
                      <a:r>
                        <a:rPr lang="zh-CN" altLang="en-US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 </a:t>
                      </a:r>
                      <a:r>
                        <a:rPr lang="en-US" altLang="zh-CN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15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</a:tr>
            </a:tbl>
          </a:graphicData>
        </a:graphic>
      </p:graphicFrame>
      <p:sp>
        <p:nvSpPr>
          <p:cNvPr id="36" name="文本框 35"/>
          <p:cNvSpPr txBox="1"/>
          <p:nvPr/>
        </p:nvSpPr>
        <p:spPr>
          <a:xfrm>
            <a:off x="5312054" y="5031617"/>
            <a:ext cx="34016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i="1" dirty="0" smtClean="0">
                <a:solidFill>
                  <a:srgbClr val="FF6E65"/>
                </a:solidFill>
              </a:rPr>
              <a:t>-100</a:t>
            </a:r>
            <a:r>
              <a:rPr kumimoji="1" lang="zh-CN" altLang="en-US" sz="2400" i="1" dirty="0" smtClean="0">
                <a:solidFill>
                  <a:srgbClr val="FF6E65"/>
                </a:solidFill>
              </a:rPr>
              <a:t> </a:t>
            </a:r>
            <a:r>
              <a:rPr kumimoji="1" lang="en-US" altLang="zh-CN" sz="2400" dirty="0" smtClean="0"/>
              <a:t>—&gt;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as</a:t>
            </a:r>
            <a:r>
              <a:rPr kumimoji="1" lang="zh-CN" altLang="en-US" sz="2400" dirty="0" smtClean="0"/>
              <a:t> </a:t>
            </a:r>
            <a:r>
              <a:rPr kumimoji="1" lang="en-US" altLang="zh-CN" sz="2400" i="1" dirty="0" err="1" smtClean="0">
                <a:solidFill>
                  <a:srgbClr val="546D6D"/>
                </a:solidFill>
              </a:rPr>
              <a:t>int</a:t>
            </a:r>
            <a:r>
              <a:rPr kumimoji="1" lang="en-US" altLang="zh-CN" sz="2400" dirty="0" smtClean="0"/>
              <a:t>,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labeled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by</a:t>
            </a:r>
            <a:r>
              <a:rPr kumimoji="1" lang="zh-CN" altLang="en-US" sz="2400" dirty="0" smtClean="0"/>
              <a:t> </a:t>
            </a:r>
            <a:r>
              <a:rPr kumimoji="1" lang="en-US" altLang="zh-CN" sz="2400" i="1" dirty="0" smtClean="0">
                <a:solidFill>
                  <a:srgbClr val="546D6D"/>
                </a:solidFill>
              </a:rPr>
              <a:t>0</a:t>
            </a:r>
            <a:r>
              <a:rPr kumimoji="1" lang="zh-CN" altLang="en-US" sz="2400" dirty="0" smtClean="0">
                <a:solidFill>
                  <a:srgbClr val="546D6D"/>
                </a:solidFill>
              </a:rPr>
              <a:t> </a:t>
            </a:r>
            <a:r>
              <a:rPr kumimoji="1" lang="en-US" altLang="zh-CN" sz="2400" dirty="0" smtClean="0"/>
              <a:t>and</a:t>
            </a:r>
            <a:r>
              <a:rPr kumimoji="1" lang="zh-CN" altLang="en-US" sz="2400" dirty="0" smtClean="0"/>
              <a:t> </a:t>
            </a:r>
            <a:r>
              <a:rPr kumimoji="1" lang="en-US" altLang="zh-CN" sz="2400" i="1" dirty="0" err="1" smtClean="0">
                <a:solidFill>
                  <a:srgbClr val="546D6D"/>
                </a:solidFill>
              </a:rPr>
              <a:t>NodeType</a:t>
            </a:r>
            <a:endParaRPr kumimoji="1" lang="zh-CN" altLang="en-US" sz="2400" i="1" dirty="0">
              <a:solidFill>
                <a:srgbClr val="546D6D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197521" y="5033834"/>
            <a:ext cx="42089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i="1" dirty="0" smtClean="0">
                <a:solidFill>
                  <a:srgbClr val="FF6E65"/>
                </a:solidFill>
              </a:rPr>
              <a:t>12</a:t>
            </a:r>
            <a:r>
              <a:rPr kumimoji="1" lang="zh-CN" altLang="en-US" sz="2400" i="1" dirty="0" smtClean="0">
                <a:solidFill>
                  <a:srgbClr val="FF6E65"/>
                </a:solidFill>
              </a:rPr>
              <a:t> </a:t>
            </a:r>
            <a:r>
              <a:rPr kumimoji="1" lang="en-US" altLang="zh-CN" sz="2400" i="1" dirty="0" smtClean="0">
                <a:solidFill>
                  <a:srgbClr val="FF6E65"/>
                </a:solidFill>
              </a:rPr>
              <a:t>13</a:t>
            </a:r>
            <a:r>
              <a:rPr kumimoji="1" lang="zh-CN" altLang="en-US" sz="2400" i="1" dirty="0" smtClean="0">
                <a:solidFill>
                  <a:srgbClr val="FF6E65"/>
                </a:solidFill>
              </a:rPr>
              <a:t> </a:t>
            </a:r>
            <a:r>
              <a:rPr kumimoji="1" lang="en-US" altLang="zh-CN" sz="2400" dirty="0" smtClean="0"/>
              <a:t>—&gt;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as</a:t>
            </a:r>
            <a:r>
              <a:rPr kumimoji="1" lang="zh-CN" altLang="en-US" sz="2400" dirty="0" smtClean="0"/>
              <a:t> </a:t>
            </a:r>
            <a:r>
              <a:rPr kumimoji="1" lang="en-US" altLang="zh-CN" sz="2400" i="1" dirty="0" smtClean="0">
                <a:solidFill>
                  <a:srgbClr val="546D6D"/>
                </a:solidFill>
              </a:rPr>
              <a:t>vector&lt;</a:t>
            </a:r>
            <a:r>
              <a:rPr kumimoji="1" lang="en-US" altLang="zh-CN" sz="2400" i="1" dirty="0" err="1" smtClean="0">
                <a:solidFill>
                  <a:srgbClr val="546D6D"/>
                </a:solidFill>
              </a:rPr>
              <a:t>int</a:t>
            </a:r>
            <a:r>
              <a:rPr kumimoji="1" lang="en-US" altLang="zh-CN" sz="2400" i="1" dirty="0" smtClean="0">
                <a:solidFill>
                  <a:srgbClr val="546D6D"/>
                </a:solidFill>
              </a:rPr>
              <a:t>&gt;</a:t>
            </a:r>
            <a:r>
              <a:rPr kumimoji="1" lang="en-US" altLang="zh-CN" sz="2400" dirty="0" smtClean="0"/>
              <a:t>,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labeled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by</a:t>
            </a:r>
            <a:r>
              <a:rPr kumimoji="1" lang="zh-CN" altLang="en-US" sz="2400" dirty="0" smtClean="0"/>
              <a:t> </a:t>
            </a:r>
            <a:r>
              <a:rPr kumimoji="1" lang="en-US" altLang="zh-CN" sz="2400" i="1" dirty="0" smtClean="0">
                <a:solidFill>
                  <a:srgbClr val="546D6D"/>
                </a:solidFill>
              </a:rPr>
              <a:t>0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and</a:t>
            </a:r>
            <a:r>
              <a:rPr kumimoji="1" lang="zh-CN" altLang="en-US" sz="2400" dirty="0" smtClean="0"/>
              <a:t> </a:t>
            </a:r>
            <a:r>
              <a:rPr kumimoji="1" lang="en-US" altLang="zh-CN" sz="2400" i="1" dirty="0" smtClean="0">
                <a:solidFill>
                  <a:srgbClr val="546D6D"/>
                </a:solidFill>
              </a:rPr>
              <a:t>Neighbor</a:t>
            </a:r>
            <a:endParaRPr kumimoji="1" lang="zh-CN" altLang="en-US" sz="2400" i="1" dirty="0">
              <a:solidFill>
                <a:srgbClr val="546D6D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903032"/>
              </p:ext>
            </p:extLst>
          </p:nvPr>
        </p:nvGraphicFramePr>
        <p:xfrm>
          <a:off x="1870121" y="5447116"/>
          <a:ext cx="149561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56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cap="none" spc="0" dirty="0" smtClean="0">
                          <a:ln w="0"/>
                          <a:solidFill>
                            <a:srgbClr val="9F3230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-</a:t>
                      </a:r>
                      <a:r>
                        <a:rPr lang="en-US" altLang="zh-CN" b="1" cap="none" spc="0" dirty="0" smtClean="0">
                          <a:ln w="0"/>
                          <a:solidFill>
                            <a:srgbClr val="FF6E65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100</a:t>
                      </a:r>
                      <a:endParaRPr lang="zh-CN" altLang="en-US" b="1" cap="none" spc="0" dirty="0">
                        <a:ln w="0"/>
                        <a:solidFill>
                          <a:srgbClr val="FF6E65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66681"/>
              </p:ext>
            </p:extLst>
          </p:nvPr>
        </p:nvGraphicFramePr>
        <p:xfrm>
          <a:off x="3365733" y="5447115"/>
          <a:ext cx="149561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56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cap="none" spc="0" dirty="0" smtClean="0">
                          <a:ln w="0"/>
                          <a:solidFill>
                            <a:srgbClr val="FF6E65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12</a:t>
                      </a:r>
                      <a:r>
                        <a:rPr lang="zh-CN" altLang="en-US" b="1" cap="none" spc="0" baseline="0" dirty="0" smtClean="0">
                          <a:ln w="0"/>
                          <a:solidFill>
                            <a:srgbClr val="FF6E65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 </a:t>
                      </a:r>
                      <a:r>
                        <a:rPr lang="en-US" altLang="zh-CN" b="1" cap="none" spc="0" baseline="0" dirty="0" smtClean="0">
                          <a:ln w="0"/>
                          <a:solidFill>
                            <a:srgbClr val="FF6E65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13</a:t>
                      </a:r>
                      <a:endParaRPr lang="zh-CN" altLang="en-US" b="1" cap="none" spc="0" dirty="0">
                        <a:ln w="0"/>
                        <a:solidFill>
                          <a:srgbClr val="FF6E65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540" y="1159918"/>
            <a:ext cx="3621314" cy="1292027"/>
          </a:xfrm>
          <a:prstGeom prst="rect">
            <a:avLst/>
          </a:prstGeom>
        </p:spPr>
      </p:pic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228839" y="273186"/>
            <a:ext cx="7886700" cy="579864"/>
          </a:xfrm>
          <a:noFill/>
          <a:ln w="22225">
            <a:noFill/>
          </a:ln>
        </p:spPr>
        <p:txBody>
          <a:bodyPr anchor="ctr">
            <a:noAutofit/>
          </a:bodyPr>
          <a:lstStyle/>
          <a:p>
            <a:r>
              <a:rPr lang="en-US" altLang="zh-CN" sz="3200" dirty="0">
                <a:solidFill>
                  <a:srgbClr val="393D42"/>
                </a:solidFill>
              </a:rPr>
              <a:t>Generality</a:t>
            </a:r>
            <a:endParaRPr lang="zh-CN" altLang="en-US" sz="3200" dirty="0">
              <a:solidFill>
                <a:srgbClr val="393D42"/>
              </a:solidFill>
            </a:endParaRPr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1897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6" grpId="1"/>
      <p:bldP spid="37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629523"/>
              </p:ext>
            </p:extLst>
          </p:nvPr>
        </p:nvGraphicFramePr>
        <p:xfrm>
          <a:off x="374509" y="1079528"/>
          <a:ext cx="4486836" cy="288635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4486836"/>
              </a:tblGrid>
              <a:tr h="4794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 smtClean="0"/>
                        <a:t>QueryProcessor</a:t>
                      </a:r>
                      <a:endParaRPr lang="zh-CN" altLang="en-US" sz="2000" dirty="0"/>
                    </a:p>
                  </a:txBody>
                  <a:tcPr anchor="ctr"/>
                </a:tc>
              </a:tr>
              <a:tr h="486690">
                <a:tc>
                  <a:txBody>
                    <a:bodyPr/>
                    <a:lstStyle/>
                    <a:p>
                      <a:r>
                        <a:rPr lang="en-US" altLang="zh-CN" sz="2000" dirty="0" err="1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QueryProcessor</a:t>
                      </a:r>
                      <a:r>
                        <a:rPr lang="en-US" altLang="zh-CN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(string</a:t>
                      </a:r>
                      <a:r>
                        <a:rPr lang="zh-CN" altLang="en-US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</a:t>
                      </a:r>
                      <a:r>
                        <a:rPr lang="en-US" altLang="zh-CN" sz="2000" dirty="0" err="1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workerID</a:t>
                      </a:r>
                      <a:r>
                        <a:rPr lang="en-US" altLang="zh-CN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)</a:t>
                      </a:r>
                      <a:endParaRPr lang="zh-CN" altLang="en-US" sz="2000" dirty="0" smtClean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4866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//methods</a:t>
                      </a:r>
                      <a:r>
                        <a:rPr lang="zh-CN" altLang="en-US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</a:t>
                      </a:r>
                      <a:r>
                        <a:rPr lang="en-US" altLang="zh-CN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to</a:t>
                      </a:r>
                      <a:r>
                        <a:rPr lang="zh-CN" altLang="en-US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</a:t>
                      </a:r>
                      <a:r>
                        <a:rPr lang="en-US" altLang="zh-CN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fetch</a:t>
                      </a:r>
                      <a:r>
                        <a:rPr lang="zh-CN" altLang="en-US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</a:t>
                      </a:r>
                      <a:r>
                        <a:rPr lang="en-US" altLang="zh-CN" sz="2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data</a:t>
                      </a:r>
                      <a:endParaRPr lang="zh-CN" altLang="en-US" sz="2000" dirty="0" smtClean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altLang="zh-CN" sz="2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get(string </a:t>
                      </a:r>
                      <a:r>
                        <a:rPr lang="en-US" altLang="zh-CN" sz="2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index, string label)</a:t>
                      </a:r>
                      <a:endParaRPr lang="zh-CN" altLang="zh-CN" sz="20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altLang="zh-CN" sz="2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getFromVector</a:t>
                      </a:r>
                      <a:r>
                        <a:rPr lang="en-US" altLang="zh-CN" sz="2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(string </a:t>
                      </a:r>
                      <a:r>
                        <a:rPr lang="en-US" altLang="zh-CN" sz="2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index, string label, string </a:t>
                      </a:r>
                      <a:r>
                        <a:rPr lang="en-US" altLang="zh-CN" sz="2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vectorIndex</a:t>
                      </a:r>
                      <a:r>
                        <a:rPr lang="en-US" altLang="zh-CN" sz="2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zh-CN" sz="20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998706" y="5216282"/>
            <a:ext cx="4075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i="1" dirty="0" smtClean="0">
                <a:solidFill>
                  <a:srgbClr val="546D6D"/>
                </a:solidFill>
              </a:rPr>
              <a:t>0</a:t>
            </a:r>
            <a:r>
              <a:rPr kumimoji="1" lang="en-US" altLang="zh-CN" sz="2400" dirty="0" smtClean="0"/>
              <a:t>,</a:t>
            </a:r>
            <a:r>
              <a:rPr kumimoji="1" lang="zh-CN" altLang="en-US" sz="2400" dirty="0" smtClean="0"/>
              <a:t> </a:t>
            </a:r>
            <a:r>
              <a:rPr kumimoji="1" lang="en-US" altLang="zh-CN" sz="2400" i="1" dirty="0" err="1" smtClean="0">
                <a:solidFill>
                  <a:srgbClr val="546D6D"/>
                </a:solidFill>
              </a:rPr>
              <a:t>NodeType</a:t>
            </a:r>
            <a:r>
              <a:rPr kumimoji="1" lang="en-US" altLang="zh-CN" sz="2400" dirty="0" smtClean="0"/>
              <a:t>,</a:t>
            </a:r>
            <a:r>
              <a:rPr kumimoji="1" lang="zh-CN" altLang="en-US" sz="2400" dirty="0" smtClean="0"/>
              <a:t> </a:t>
            </a:r>
            <a:r>
              <a:rPr kumimoji="1" lang="en-US" altLang="zh-CN" sz="2400" i="1" dirty="0" smtClean="0">
                <a:solidFill>
                  <a:srgbClr val="546D6D"/>
                </a:solidFill>
              </a:rPr>
              <a:t>integer</a:t>
            </a:r>
            <a:r>
              <a:rPr kumimoji="1" lang="zh-CN" altLang="en-US" sz="2400" i="1" dirty="0" smtClean="0">
                <a:solidFill>
                  <a:srgbClr val="546D6D"/>
                </a:solidFill>
              </a:rPr>
              <a:t> </a:t>
            </a:r>
            <a:r>
              <a:rPr kumimoji="1" lang="en-US" altLang="zh-CN" sz="2400" dirty="0" smtClean="0"/>
              <a:t>—&gt;</a:t>
            </a:r>
            <a:r>
              <a:rPr kumimoji="1" lang="zh-CN" altLang="en-US" sz="2400" dirty="0" smtClean="0"/>
              <a:t> </a:t>
            </a:r>
            <a:r>
              <a:rPr kumimoji="1" lang="en-US" altLang="zh-CN" sz="2400" i="1" dirty="0" smtClean="0">
                <a:solidFill>
                  <a:srgbClr val="FF6E65"/>
                </a:solidFill>
              </a:rPr>
              <a:t>-100</a:t>
            </a:r>
            <a:endParaRPr kumimoji="1" lang="zh-CN" altLang="en-US" sz="2400" i="1" dirty="0">
              <a:solidFill>
                <a:srgbClr val="FF6E65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94109" y="5238554"/>
            <a:ext cx="4484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i="1" dirty="0" smtClean="0">
                <a:solidFill>
                  <a:srgbClr val="546D6D"/>
                </a:solidFill>
              </a:rPr>
              <a:t>0</a:t>
            </a:r>
            <a:r>
              <a:rPr kumimoji="1" lang="en-US" altLang="zh-CN" sz="2400" dirty="0" smtClean="0"/>
              <a:t>,</a:t>
            </a:r>
            <a:r>
              <a:rPr kumimoji="1" lang="zh-CN" altLang="en-US" sz="2400" dirty="0" smtClean="0"/>
              <a:t> </a:t>
            </a:r>
            <a:r>
              <a:rPr kumimoji="1" lang="en-US" altLang="zh-CN" sz="2400" i="1" dirty="0" smtClean="0">
                <a:solidFill>
                  <a:srgbClr val="546D6D"/>
                </a:solidFill>
              </a:rPr>
              <a:t>Neighbor</a:t>
            </a:r>
            <a:r>
              <a:rPr kumimoji="1" lang="en-US" altLang="zh-CN" sz="2400" dirty="0" smtClean="0"/>
              <a:t>,</a:t>
            </a:r>
            <a:r>
              <a:rPr kumimoji="1" lang="zh-CN" altLang="en-US" sz="2400" dirty="0" smtClean="0"/>
              <a:t> </a:t>
            </a:r>
            <a:r>
              <a:rPr kumimoji="1" lang="en-US" altLang="zh-CN" sz="2400" i="1" dirty="0" smtClean="0">
                <a:solidFill>
                  <a:srgbClr val="546D6D"/>
                </a:solidFill>
              </a:rPr>
              <a:t>vector&lt;</a:t>
            </a:r>
            <a:r>
              <a:rPr kumimoji="1" lang="en-US" altLang="zh-CN" sz="2400" i="1" dirty="0" err="1" smtClean="0">
                <a:solidFill>
                  <a:srgbClr val="546D6D"/>
                </a:solidFill>
              </a:rPr>
              <a:t>int</a:t>
            </a:r>
            <a:r>
              <a:rPr kumimoji="1" lang="en-US" altLang="zh-CN" sz="2400" i="1" dirty="0" smtClean="0">
                <a:solidFill>
                  <a:srgbClr val="546D6D"/>
                </a:solidFill>
              </a:rPr>
              <a:t>&gt;</a:t>
            </a:r>
            <a:r>
              <a:rPr kumimoji="1" lang="zh-CN" altLang="en-US" sz="2400" i="1" dirty="0" smtClean="0">
                <a:solidFill>
                  <a:srgbClr val="546D6D"/>
                </a:solidFill>
              </a:rPr>
              <a:t> </a:t>
            </a:r>
            <a:r>
              <a:rPr kumimoji="1" lang="en-US" altLang="zh-CN" sz="2400" dirty="0" smtClean="0"/>
              <a:t>—&gt;</a:t>
            </a:r>
            <a:r>
              <a:rPr kumimoji="1" lang="zh-CN" altLang="en-US" sz="2400" dirty="0" smtClean="0"/>
              <a:t> </a:t>
            </a:r>
            <a:r>
              <a:rPr kumimoji="1" lang="en-US" altLang="zh-CN" sz="2400" i="1" dirty="0" smtClean="0">
                <a:solidFill>
                  <a:srgbClr val="FF6E65"/>
                </a:solidFill>
              </a:rPr>
              <a:t>12</a:t>
            </a:r>
            <a:r>
              <a:rPr kumimoji="1" lang="zh-CN" altLang="en-US" sz="2400" i="1" dirty="0" smtClean="0">
                <a:solidFill>
                  <a:srgbClr val="FF6E65"/>
                </a:solidFill>
              </a:rPr>
              <a:t> </a:t>
            </a:r>
            <a:r>
              <a:rPr kumimoji="1" lang="en-US" altLang="zh-CN" sz="2400" i="1" dirty="0" smtClean="0">
                <a:solidFill>
                  <a:srgbClr val="FF6E65"/>
                </a:solidFill>
              </a:rPr>
              <a:t>13</a:t>
            </a:r>
            <a:endParaRPr kumimoji="1" lang="zh-CN" altLang="en-US" sz="2400" i="1" dirty="0">
              <a:solidFill>
                <a:srgbClr val="FF6E65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792240"/>
              </p:ext>
            </p:extLst>
          </p:nvPr>
        </p:nvGraphicFramePr>
        <p:xfrm>
          <a:off x="374509" y="4706930"/>
          <a:ext cx="4486836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5612"/>
                <a:gridCol w="1495612"/>
                <a:gridCol w="1495612"/>
              </a:tblGrid>
              <a:tr h="370840">
                <a:tc>
                  <a:txBody>
                    <a:bodyPr/>
                    <a:lstStyle/>
                    <a:p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cap="none" spc="0" dirty="0" err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NodeType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cap="none" spc="0" dirty="0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Neighbor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B w="12700" cmpd="sng">
                      <a:noFill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cap="none" spc="0" dirty="0" err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int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cap="none" spc="0" dirty="0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vector&lt;</a:t>
                      </a:r>
                      <a:r>
                        <a:rPr lang="en-US" altLang="zh-CN" cap="none" spc="0" dirty="0" err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int</a:t>
                      </a:r>
                      <a:r>
                        <a:rPr lang="en-US" altLang="zh-CN" cap="none" spc="0" dirty="0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&gt;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cap="none" spc="0" dirty="0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0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cap="none" spc="0" dirty="0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1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542775"/>
              </p:ext>
            </p:extLst>
          </p:nvPr>
        </p:nvGraphicFramePr>
        <p:xfrm>
          <a:off x="1870121" y="5447116"/>
          <a:ext cx="149561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56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cap="none" spc="0" dirty="0" smtClean="0">
                          <a:ln w="0"/>
                          <a:solidFill>
                            <a:srgbClr val="9F3230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-</a:t>
                      </a:r>
                      <a:r>
                        <a:rPr lang="en-US" altLang="zh-CN" b="1" cap="none" spc="0" dirty="0" smtClean="0">
                          <a:ln w="0"/>
                          <a:solidFill>
                            <a:srgbClr val="FF6E65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100</a:t>
                      </a:r>
                      <a:endParaRPr lang="zh-CN" altLang="en-US" b="1" cap="none" spc="0" dirty="0">
                        <a:ln w="0"/>
                        <a:solidFill>
                          <a:srgbClr val="FF6E65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127903"/>
              </p:ext>
            </p:extLst>
          </p:nvPr>
        </p:nvGraphicFramePr>
        <p:xfrm>
          <a:off x="3365733" y="5447115"/>
          <a:ext cx="149561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56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cap="none" spc="0" dirty="0" smtClean="0">
                          <a:ln w="0"/>
                          <a:solidFill>
                            <a:srgbClr val="FF6E65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12</a:t>
                      </a:r>
                      <a:r>
                        <a:rPr lang="zh-CN" altLang="en-US" b="1" cap="none" spc="0" baseline="0" dirty="0" smtClean="0">
                          <a:ln w="0"/>
                          <a:solidFill>
                            <a:srgbClr val="FF6E65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 </a:t>
                      </a:r>
                      <a:r>
                        <a:rPr lang="en-US" altLang="zh-CN" b="1" cap="none" spc="0" baseline="0" dirty="0" smtClean="0">
                          <a:ln w="0"/>
                          <a:solidFill>
                            <a:srgbClr val="FF6E65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13</a:t>
                      </a:r>
                      <a:endParaRPr lang="zh-CN" altLang="en-US" b="1" cap="none" spc="0" dirty="0">
                        <a:ln w="0"/>
                        <a:solidFill>
                          <a:srgbClr val="FF6E65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540" y="1877667"/>
            <a:ext cx="3638429" cy="1290080"/>
          </a:xfrm>
          <a:prstGeom prst="rect">
            <a:avLst/>
          </a:prstGeom>
        </p:spPr>
      </p:pic>
      <p:sp>
        <p:nvSpPr>
          <p:cNvPr id="11" name="内容占位符 2"/>
          <p:cNvSpPr txBox="1">
            <a:spLocks/>
          </p:cNvSpPr>
          <p:nvPr/>
        </p:nvSpPr>
        <p:spPr>
          <a:xfrm>
            <a:off x="228839" y="273186"/>
            <a:ext cx="7886700" cy="579864"/>
          </a:xfrm>
          <a:prstGeom prst="rect">
            <a:avLst/>
          </a:prstGeom>
          <a:noFill/>
          <a:ln w="222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smtClean="0">
                <a:solidFill>
                  <a:srgbClr val="393D42"/>
                </a:solidFill>
              </a:rPr>
              <a:t>Generality</a:t>
            </a:r>
            <a:endParaRPr lang="zh-CN" altLang="en-US" sz="3200" dirty="0">
              <a:solidFill>
                <a:srgbClr val="393D42"/>
              </a:solidFill>
            </a:endParaRPr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052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606750" y="1528834"/>
            <a:ext cx="3625195" cy="258183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200" kern="100">
                <a:solidFill>
                  <a:srgbClr val="000000"/>
                </a:solidFill>
                <a:effectLst/>
                <a:ea typeface="宋体" charset="0"/>
                <a:cs typeface="Times New Roman" charset="0"/>
              </a:rPr>
              <a:t> </a:t>
            </a:r>
            <a:endParaRPr lang="zh-CN" sz="1200" kern="10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5" name="矩形 44"/>
          <p:cNvSpPr>
            <a:spLocks noChangeArrowheads="1"/>
          </p:cNvSpPr>
          <p:nvPr/>
        </p:nvSpPr>
        <p:spPr bwMode="auto">
          <a:xfrm>
            <a:off x="4657866" y="1997045"/>
            <a:ext cx="680654" cy="741604"/>
          </a:xfrm>
          <a:prstGeom prst="rect">
            <a:avLst/>
          </a:prstGeom>
          <a:pattFill prst="wdUpDiag">
            <a:fgClr>
              <a:srgbClr val="B2D6D2"/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2000" kern="100" dirty="0" smtClean="0">
                <a:effectLst/>
                <a:ea typeface="宋体" charset="0"/>
                <a:cs typeface="Times New Roman" charset="0"/>
              </a:rPr>
              <a:t>QP</a:t>
            </a:r>
            <a:r>
              <a:rPr lang="zh-CN" altLang="en-US" sz="2000" kern="100" dirty="0" smtClean="0">
                <a:effectLst/>
                <a:ea typeface="宋体" charset="0"/>
                <a:cs typeface="Times New Roman" charset="0"/>
              </a:rPr>
              <a:t>  </a:t>
            </a:r>
            <a:r>
              <a:rPr lang="en-US" altLang="zh-CN" sz="2000" kern="100" dirty="0" smtClean="0">
                <a:effectLst/>
                <a:ea typeface="宋体" charset="0"/>
                <a:cs typeface="Times New Roman" charset="0"/>
              </a:rPr>
              <a:t>0</a:t>
            </a:r>
            <a:endParaRPr lang="zh-CN" sz="20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4623607" y="1649856"/>
            <a:ext cx="1394797" cy="113344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kern="100" dirty="0" smtClean="0">
                <a:ea typeface="宋体" charset="0"/>
                <a:cs typeface="Times New Roman" charset="0"/>
              </a:rPr>
              <a:t>QP</a:t>
            </a:r>
            <a:r>
              <a:rPr lang="zh-CN" altLang="en-US" sz="2000" kern="100" dirty="0" smtClean="0">
                <a:ea typeface="宋体" charset="0"/>
                <a:cs typeface="Times New Roman" charset="0"/>
              </a:rPr>
              <a:t> </a:t>
            </a:r>
            <a:r>
              <a:rPr lang="en-US" altLang="zh-CN" sz="2000" kern="100" dirty="0" smtClean="0">
                <a:ea typeface="宋体" charset="0"/>
                <a:cs typeface="Times New Roman" charset="0"/>
              </a:rPr>
              <a:t>1</a:t>
            </a:r>
            <a:endParaRPr lang="zh-CN" sz="20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679487" y="1997045"/>
            <a:ext cx="612671" cy="695039"/>
          </a:xfrm>
          <a:prstGeom prst="rect">
            <a:avLst/>
          </a:prstGeom>
          <a:pattFill prst="wdUpDiag">
            <a:fgClr>
              <a:srgbClr val="B2D6D2"/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endParaRPr lang="zh-CN" sz="20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28" name="矩形 27"/>
          <p:cNvSpPr>
            <a:spLocks noChangeArrowheads="1"/>
          </p:cNvSpPr>
          <p:nvPr/>
        </p:nvSpPr>
        <p:spPr bwMode="auto">
          <a:xfrm>
            <a:off x="5331029" y="2002283"/>
            <a:ext cx="612671" cy="695039"/>
          </a:xfrm>
          <a:prstGeom prst="rect">
            <a:avLst/>
          </a:prstGeom>
          <a:pattFill prst="wdUpDiag">
            <a:fgClr>
              <a:srgbClr val="FEB4AD"/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endParaRPr lang="zh-CN" sz="20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6" name="矩形 45"/>
          <p:cNvSpPr>
            <a:spLocks noChangeArrowheads="1"/>
          </p:cNvSpPr>
          <p:nvPr/>
        </p:nvSpPr>
        <p:spPr bwMode="auto">
          <a:xfrm>
            <a:off x="4657425" y="3264318"/>
            <a:ext cx="680654" cy="752219"/>
          </a:xfrm>
          <a:prstGeom prst="rect">
            <a:avLst/>
          </a:prstGeom>
          <a:pattFill prst="wdUpDiag">
            <a:fgClr>
              <a:srgbClr val="B2D6D2"/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2000" kern="100" dirty="0" smtClean="0">
                <a:effectLst/>
                <a:ea typeface="宋体" charset="0"/>
                <a:cs typeface="Times New Roman" charset="0"/>
              </a:rPr>
              <a:t>QP</a:t>
            </a:r>
            <a:endParaRPr lang="zh-CN" altLang="en-US" sz="2000" kern="100" dirty="0">
              <a:ea typeface="宋体" charset="0"/>
              <a:cs typeface="Times New Roman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CN" sz="2000" kern="100" dirty="0" smtClean="0">
                <a:effectLst/>
                <a:ea typeface="宋体" charset="0"/>
                <a:cs typeface="Times New Roman" charset="0"/>
              </a:rPr>
              <a:t>0</a:t>
            </a:r>
            <a:endParaRPr lang="zh-CN" sz="20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3" name="矩形 42"/>
          <p:cNvSpPr>
            <a:spLocks noChangeArrowheads="1"/>
          </p:cNvSpPr>
          <p:nvPr/>
        </p:nvSpPr>
        <p:spPr bwMode="auto">
          <a:xfrm>
            <a:off x="2817407" y="2540070"/>
            <a:ext cx="644916" cy="746218"/>
          </a:xfrm>
          <a:prstGeom prst="rect">
            <a:avLst/>
          </a:prstGeom>
          <a:pattFill prst="pct90">
            <a:fgClr>
              <a:srgbClr val="B2D6D2"/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2000" kern="100" dirty="0" smtClean="0">
                <a:ea typeface="宋体" charset="0"/>
                <a:cs typeface="Times New Roman" charset="0"/>
              </a:rPr>
              <a:t>DL</a:t>
            </a:r>
            <a:r>
              <a:rPr lang="zh-CN" altLang="en-US" sz="2000" kern="100" dirty="0" smtClean="0">
                <a:ea typeface="宋体" charset="0"/>
                <a:cs typeface="Times New Roman" charset="0"/>
              </a:rPr>
              <a:t> </a:t>
            </a:r>
            <a:endParaRPr lang="zh-CN" altLang="en-US" sz="2000" kern="100" dirty="0">
              <a:ea typeface="宋体" charset="0"/>
              <a:cs typeface="Times New Roman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CN" sz="2000" kern="100" dirty="0" smtClean="0">
                <a:ea typeface="宋体" charset="0"/>
                <a:cs typeface="Times New Roman" charset="0"/>
              </a:rPr>
              <a:t>0</a:t>
            </a:r>
            <a:endParaRPr lang="zh-CN" sz="20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5" name="直线箭头连接符 4"/>
          <p:cNvCxnSpPr>
            <a:cxnSpLocks noChangeShapeType="1"/>
          </p:cNvCxnSpPr>
          <p:nvPr/>
        </p:nvCxnSpPr>
        <p:spPr bwMode="auto">
          <a:xfrm>
            <a:off x="1667110" y="2634072"/>
            <a:ext cx="1047149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cxnSp>
        <p:nvCxnSpPr>
          <p:cNvPr id="6" name="直线箭头连接符 5"/>
          <p:cNvCxnSpPr>
            <a:cxnSpLocks noChangeShapeType="1"/>
          </p:cNvCxnSpPr>
          <p:nvPr/>
        </p:nvCxnSpPr>
        <p:spPr bwMode="auto">
          <a:xfrm flipV="1">
            <a:off x="4202914" y="2212152"/>
            <a:ext cx="416168" cy="436038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cxnSp>
        <p:nvCxnSpPr>
          <p:cNvPr id="8" name="直线箭头连接符 7"/>
          <p:cNvCxnSpPr>
            <a:cxnSpLocks noChangeShapeType="1"/>
          </p:cNvCxnSpPr>
          <p:nvPr/>
        </p:nvCxnSpPr>
        <p:spPr bwMode="auto">
          <a:xfrm>
            <a:off x="1667110" y="2876817"/>
            <a:ext cx="1069796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cxnSp>
        <p:nvCxnSpPr>
          <p:cNvPr id="11" name="直线箭头连接符 10"/>
          <p:cNvCxnSpPr>
            <a:cxnSpLocks noChangeShapeType="1"/>
          </p:cNvCxnSpPr>
          <p:nvPr/>
        </p:nvCxnSpPr>
        <p:spPr bwMode="auto">
          <a:xfrm>
            <a:off x="4165714" y="2905783"/>
            <a:ext cx="471267" cy="525126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2725912" y="2183859"/>
            <a:ext cx="1477002" cy="119888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kern="100" dirty="0" smtClean="0">
                <a:ea typeface="宋体" charset="0"/>
                <a:cs typeface="Times New Roman" charset="0"/>
              </a:rPr>
              <a:t>DL</a:t>
            </a:r>
            <a:endParaRPr lang="zh-CN" sz="20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2809614" y="2540070"/>
            <a:ext cx="644916" cy="746218"/>
          </a:xfrm>
          <a:prstGeom prst="rect">
            <a:avLst/>
          </a:prstGeom>
          <a:pattFill prst="pct90">
            <a:fgClr>
              <a:srgbClr val="B2D6D2"/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endParaRPr lang="zh-CN" sz="20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4623606" y="2887012"/>
            <a:ext cx="1394797" cy="112952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kern="100" dirty="0" smtClean="0">
                <a:effectLst/>
                <a:ea typeface="宋体" charset="0"/>
                <a:cs typeface="Times New Roman" charset="0"/>
              </a:rPr>
              <a:t>QP</a:t>
            </a:r>
            <a:r>
              <a:rPr lang="zh-CN" altLang="en-US" sz="2000" kern="100" dirty="0" smtClean="0">
                <a:effectLst/>
                <a:ea typeface="宋体" charset="0"/>
                <a:cs typeface="Times New Roman" charset="0"/>
              </a:rPr>
              <a:t> </a:t>
            </a:r>
            <a:r>
              <a:rPr lang="en-US" altLang="zh-CN" sz="2000" kern="100" dirty="0" smtClean="0">
                <a:effectLst/>
                <a:ea typeface="宋体" charset="0"/>
                <a:cs typeface="Times New Roman" charset="0"/>
              </a:rPr>
              <a:t>2</a:t>
            </a:r>
            <a:endParaRPr lang="zh-CN" sz="20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51437" y="2393873"/>
            <a:ext cx="1256206" cy="397303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2000" kern="100" dirty="0">
                <a:effectLst/>
                <a:ea typeface="宋体" charset="0"/>
                <a:cs typeface="Times New Roman" charset="0"/>
              </a:rPr>
              <a:t>QUERY 1</a:t>
            </a:r>
            <a:endParaRPr lang="zh-CN" sz="20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1437" y="2691177"/>
            <a:ext cx="1166681" cy="420972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2000" kern="100" dirty="0">
                <a:effectLst/>
                <a:ea typeface="宋体" charset="0"/>
                <a:cs typeface="Times New Roman" charset="0"/>
              </a:rPr>
              <a:t>QUERY 2</a:t>
            </a:r>
            <a:endParaRPr lang="zh-CN" sz="20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980329" y="1997045"/>
            <a:ext cx="1413293" cy="385237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2000" kern="100" dirty="0">
                <a:effectLst/>
                <a:ea typeface="宋体" charset="0"/>
                <a:cs typeface="Times New Roman" charset="0"/>
              </a:rPr>
              <a:t>ANSWER 1</a:t>
            </a:r>
            <a:endParaRPr lang="zh-CN" sz="20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965101" y="3194388"/>
            <a:ext cx="1413292" cy="376709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2000" kern="100" dirty="0">
                <a:effectLst/>
                <a:ea typeface="宋体" charset="0"/>
                <a:cs typeface="Times New Roman" charset="0"/>
              </a:rPr>
              <a:t>ANSWER 2</a:t>
            </a:r>
            <a:endParaRPr lang="zh-CN" sz="20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19" name="直线箭头连接符 18"/>
          <p:cNvCxnSpPr>
            <a:cxnSpLocks noChangeShapeType="1"/>
          </p:cNvCxnSpPr>
          <p:nvPr/>
        </p:nvCxnSpPr>
        <p:spPr bwMode="auto">
          <a:xfrm>
            <a:off x="6028400" y="2209641"/>
            <a:ext cx="991850" cy="2511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cxnSp>
        <p:nvCxnSpPr>
          <p:cNvPr id="20" name="直线箭头连接符 19"/>
          <p:cNvCxnSpPr>
            <a:cxnSpLocks noChangeShapeType="1"/>
          </p:cNvCxnSpPr>
          <p:nvPr/>
        </p:nvCxnSpPr>
        <p:spPr bwMode="auto">
          <a:xfrm>
            <a:off x="6057274" y="3424909"/>
            <a:ext cx="952979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sp>
        <p:nvSpPr>
          <p:cNvPr id="27" name="矩形 26"/>
          <p:cNvSpPr>
            <a:spLocks noChangeArrowheads="1"/>
          </p:cNvSpPr>
          <p:nvPr/>
        </p:nvSpPr>
        <p:spPr bwMode="auto">
          <a:xfrm>
            <a:off x="3500354" y="2540070"/>
            <a:ext cx="644916" cy="746218"/>
          </a:xfrm>
          <a:prstGeom prst="rect">
            <a:avLst/>
          </a:prstGeom>
          <a:pattFill prst="pct90">
            <a:fgClr>
              <a:srgbClr val="FEB4AD"/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endParaRPr lang="zh-CN" sz="20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30" name="矩形 29"/>
          <p:cNvSpPr>
            <a:spLocks noChangeArrowheads="1"/>
          </p:cNvSpPr>
          <p:nvPr/>
        </p:nvSpPr>
        <p:spPr bwMode="auto">
          <a:xfrm>
            <a:off x="4679487" y="3250055"/>
            <a:ext cx="612671" cy="695039"/>
          </a:xfrm>
          <a:prstGeom prst="rect">
            <a:avLst/>
          </a:prstGeom>
          <a:pattFill prst="wdUpDiag">
            <a:fgClr>
              <a:srgbClr val="B2D6D2"/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endParaRPr lang="zh-CN" sz="20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31" name="矩形 30"/>
          <p:cNvSpPr>
            <a:spLocks noChangeArrowheads="1"/>
          </p:cNvSpPr>
          <p:nvPr/>
        </p:nvSpPr>
        <p:spPr bwMode="auto">
          <a:xfrm>
            <a:off x="5331029" y="3255293"/>
            <a:ext cx="612671" cy="695039"/>
          </a:xfrm>
          <a:prstGeom prst="rect">
            <a:avLst/>
          </a:prstGeom>
          <a:pattFill prst="wdUpDiag">
            <a:fgClr>
              <a:srgbClr val="FEB4AD"/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endParaRPr lang="zh-CN" sz="20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44" name="曲线连接符 43"/>
          <p:cNvCxnSpPr/>
          <p:nvPr/>
        </p:nvCxnSpPr>
        <p:spPr>
          <a:xfrm rot="16200000" flipH="1" flipV="1">
            <a:off x="1659181" y="4744283"/>
            <a:ext cx="6001" cy="736826"/>
          </a:xfrm>
          <a:prstGeom prst="curvedConnector3">
            <a:avLst>
              <a:gd name="adj1" fmla="val -3809365"/>
            </a:avLst>
          </a:prstGeom>
          <a:ln w="31750">
            <a:solidFill>
              <a:srgbClr val="546D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曲线连接符 46"/>
          <p:cNvCxnSpPr/>
          <p:nvPr/>
        </p:nvCxnSpPr>
        <p:spPr>
          <a:xfrm rot="5400000">
            <a:off x="2037078" y="5118606"/>
            <a:ext cx="12700" cy="1486618"/>
          </a:xfrm>
          <a:prstGeom prst="curvedConnector3">
            <a:avLst>
              <a:gd name="adj1" fmla="val 1800000"/>
            </a:avLst>
          </a:prstGeom>
          <a:ln w="31750">
            <a:solidFill>
              <a:srgbClr val="546D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>
            <a:spLocks noChangeArrowheads="1"/>
          </p:cNvSpPr>
          <p:nvPr/>
        </p:nvSpPr>
        <p:spPr bwMode="auto">
          <a:xfrm>
            <a:off x="847304" y="4707432"/>
            <a:ext cx="3625195" cy="152258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200" kern="100">
                <a:solidFill>
                  <a:srgbClr val="000000"/>
                </a:solidFill>
                <a:effectLst/>
                <a:ea typeface="宋体" charset="0"/>
                <a:cs typeface="Times New Roman" charset="0"/>
              </a:rPr>
              <a:t> </a:t>
            </a:r>
            <a:endParaRPr lang="zh-CN" sz="1200" kern="10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3133678" y="5121497"/>
            <a:ext cx="1413292" cy="815178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kern="100" dirty="0" smtClean="0">
                <a:effectLst/>
                <a:ea typeface="宋体" charset="0"/>
                <a:cs typeface="Times New Roman" charset="0"/>
              </a:rPr>
              <a:t>PHYSICAL</a:t>
            </a:r>
            <a:r>
              <a:rPr lang="zh-CN" altLang="en-US" sz="2000" kern="100" dirty="0" smtClean="0">
                <a:effectLst/>
                <a:ea typeface="宋体" charset="0"/>
                <a:cs typeface="Times New Roman" charset="0"/>
              </a:rPr>
              <a:t> </a:t>
            </a:r>
            <a:r>
              <a:rPr lang="en-US" altLang="zh-CN" sz="2000" kern="100" dirty="0" smtClean="0">
                <a:effectLst/>
                <a:ea typeface="宋体" charset="0"/>
                <a:cs typeface="Times New Roman" charset="0"/>
              </a:rPr>
              <a:t>MACHINE</a:t>
            </a:r>
            <a:r>
              <a:rPr lang="zh-CN" altLang="en-US" sz="2000" kern="100" dirty="0" smtClean="0">
                <a:effectLst/>
                <a:ea typeface="宋体" charset="0"/>
                <a:cs typeface="Times New Roman" charset="0"/>
              </a:rPr>
              <a:t> </a:t>
            </a:r>
            <a:r>
              <a:rPr lang="en-US" altLang="zh-CN" sz="2000" kern="100" dirty="0" smtClean="0">
                <a:ea typeface="宋体" charset="0"/>
                <a:cs typeface="Times New Roman" charset="0"/>
              </a:rPr>
              <a:t>0</a:t>
            </a:r>
            <a:endParaRPr lang="zh-CN" sz="20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85822" y="5024140"/>
            <a:ext cx="37977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err="1"/>
              <a:t>DataLoader</a:t>
            </a:r>
            <a:r>
              <a:rPr lang="en-US" altLang="zh-CN" sz="2400" dirty="0"/>
              <a:t>(string</a:t>
            </a:r>
            <a:r>
              <a:rPr lang="zh-CN" altLang="en-US" sz="2400" dirty="0"/>
              <a:t> </a:t>
            </a:r>
            <a:r>
              <a:rPr lang="en-US" altLang="zh-CN" sz="2400" dirty="0" err="1">
                <a:solidFill>
                  <a:srgbClr val="9F3230"/>
                </a:solidFill>
              </a:rPr>
              <a:t>workerID</a:t>
            </a:r>
            <a:r>
              <a:rPr lang="en-US" altLang="zh-CN" sz="2400" dirty="0"/>
              <a:t>)</a:t>
            </a:r>
            <a:r>
              <a:rPr lang="zh-CN" altLang="en-US" sz="2400" dirty="0"/>
              <a:t> </a:t>
            </a:r>
          </a:p>
        </p:txBody>
      </p:sp>
      <p:sp>
        <p:nvSpPr>
          <p:cNvPr id="3" name="矩形 2"/>
          <p:cNvSpPr/>
          <p:nvPr/>
        </p:nvSpPr>
        <p:spPr>
          <a:xfrm>
            <a:off x="4713535" y="5432939"/>
            <a:ext cx="43423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err="1"/>
              <a:t>QueryProcessor</a:t>
            </a:r>
            <a:r>
              <a:rPr lang="en-US" altLang="zh-CN" sz="2400" dirty="0"/>
              <a:t>(string</a:t>
            </a:r>
            <a:r>
              <a:rPr lang="zh-CN" altLang="en-US" sz="2400" dirty="0"/>
              <a:t> </a:t>
            </a:r>
            <a:r>
              <a:rPr lang="en-US" altLang="zh-CN" sz="2400" dirty="0" err="1">
                <a:solidFill>
                  <a:srgbClr val="9F3230"/>
                </a:solidFill>
              </a:rPr>
              <a:t>workerID</a:t>
            </a:r>
            <a:r>
              <a:rPr lang="en-US" altLang="zh-CN" sz="2400" dirty="0"/>
              <a:t>)</a:t>
            </a:r>
            <a:r>
              <a:rPr lang="zh-CN" altLang="en-US" sz="2400" dirty="0"/>
              <a:t> </a:t>
            </a:r>
          </a:p>
        </p:txBody>
      </p:sp>
      <p:sp>
        <p:nvSpPr>
          <p:cNvPr id="34" name="矩形 33"/>
          <p:cNvSpPr>
            <a:spLocks noChangeArrowheads="1"/>
          </p:cNvSpPr>
          <p:nvPr/>
        </p:nvSpPr>
        <p:spPr bwMode="auto">
          <a:xfrm>
            <a:off x="4679838" y="2006070"/>
            <a:ext cx="612671" cy="695039"/>
          </a:xfrm>
          <a:prstGeom prst="rect">
            <a:avLst/>
          </a:prstGeom>
          <a:pattFill prst="wdUpDiag">
            <a:fgClr>
              <a:srgbClr val="B2D6D2"/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2000" kern="100" dirty="0" smtClean="0">
                <a:effectLst/>
                <a:ea typeface="宋体" charset="0"/>
                <a:cs typeface="Times New Roman" charset="0"/>
              </a:rPr>
              <a:t>0</a:t>
            </a:r>
            <a:endParaRPr lang="zh-CN" sz="20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5331380" y="2011308"/>
            <a:ext cx="612671" cy="695039"/>
          </a:xfrm>
          <a:prstGeom prst="rect">
            <a:avLst/>
          </a:prstGeom>
          <a:pattFill prst="wdUpDiag">
            <a:fgClr>
              <a:srgbClr val="FEB4AD"/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2000" kern="100" dirty="0" smtClean="0">
                <a:effectLst/>
                <a:ea typeface="宋体" charset="0"/>
                <a:cs typeface="Times New Roman" charset="0"/>
              </a:rPr>
              <a:t>1</a:t>
            </a:r>
            <a:endParaRPr lang="zh-CN" sz="20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2809965" y="2549095"/>
            <a:ext cx="644916" cy="746218"/>
          </a:xfrm>
          <a:prstGeom prst="rect">
            <a:avLst/>
          </a:prstGeom>
          <a:pattFill prst="pct90">
            <a:fgClr>
              <a:srgbClr val="B2D6D2"/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2000" kern="100" dirty="0">
                <a:ea typeface="宋体" charset="0"/>
                <a:cs typeface="Times New Roman" charset="0"/>
              </a:rPr>
              <a:t>0</a:t>
            </a:r>
            <a:endParaRPr lang="zh-CN" sz="20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3505352" y="2540070"/>
            <a:ext cx="644916" cy="746218"/>
          </a:xfrm>
          <a:prstGeom prst="rect">
            <a:avLst/>
          </a:prstGeom>
          <a:pattFill prst="pct90">
            <a:fgClr>
              <a:srgbClr val="FEB4AD"/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2000" kern="100" dirty="0" smtClean="0">
                <a:effectLst/>
                <a:ea typeface="宋体" charset="0"/>
                <a:cs typeface="Times New Roman" charset="0"/>
              </a:rPr>
              <a:t>1</a:t>
            </a:r>
            <a:endParaRPr lang="zh-CN" sz="20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4679838" y="3259080"/>
            <a:ext cx="612671" cy="695039"/>
          </a:xfrm>
          <a:prstGeom prst="rect">
            <a:avLst/>
          </a:prstGeom>
          <a:pattFill prst="wdUpDiag">
            <a:fgClr>
              <a:srgbClr val="B2D6D2"/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2000" kern="100" dirty="0" smtClean="0">
                <a:effectLst/>
                <a:ea typeface="宋体" charset="0"/>
                <a:cs typeface="Times New Roman" charset="0"/>
              </a:rPr>
              <a:t>0</a:t>
            </a:r>
            <a:endParaRPr lang="zh-CN" sz="20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0" name="矩形 39"/>
          <p:cNvSpPr>
            <a:spLocks noChangeArrowheads="1"/>
          </p:cNvSpPr>
          <p:nvPr/>
        </p:nvSpPr>
        <p:spPr bwMode="auto">
          <a:xfrm>
            <a:off x="5331380" y="3264318"/>
            <a:ext cx="612671" cy="695039"/>
          </a:xfrm>
          <a:prstGeom prst="rect">
            <a:avLst/>
          </a:prstGeom>
          <a:pattFill prst="wdUpDiag">
            <a:fgClr>
              <a:srgbClr val="FEB4AD"/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2000" kern="100" dirty="0" smtClean="0">
                <a:effectLst/>
                <a:ea typeface="宋体" charset="0"/>
                <a:cs typeface="Times New Roman" charset="0"/>
              </a:rPr>
              <a:t>1</a:t>
            </a:r>
            <a:endParaRPr lang="zh-CN" sz="20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1" name="内容占位符 2"/>
          <p:cNvSpPr>
            <a:spLocks noGrp="1"/>
          </p:cNvSpPr>
          <p:nvPr>
            <p:ph idx="1"/>
          </p:nvPr>
        </p:nvSpPr>
        <p:spPr>
          <a:xfrm>
            <a:off x="228839" y="273186"/>
            <a:ext cx="7886700" cy="579864"/>
          </a:xfrm>
          <a:noFill/>
          <a:ln w="22225">
            <a:noFill/>
          </a:ln>
        </p:spPr>
        <p:txBody>
          <a:bodyPr anchor="ctr">
            <a:noAutofit/>
          </a:bodyPr>
          <a:lstStyle/>
          <a:p>
            <a:r>
              <a:rPr lang="en-US" altLang="zh-CN" sz="3200" dirty="0">
                <a:solidFill>
                  <a:srgbClr val="393D42"/>
                </a:solidFill>
              </a:rPr>
              <a:t>Ability</a:t>
            </a:r>
            <a:r>
              <a:rPr lang="zh-CN" altLang="en-US" sz="3200" dirty="0">
                <a:solidFill>
                  <a:srgbClr val="393D42"/>
                </a:solidFill>
              </a:rPr>
              <a:t> </a:t>
            </a:r>
            <a:r>
              <a:rPr lang="en-GB" altLang="zh-CN" sz="3200" dirty="0">
                <a:solidFill>
                  <a:srgbClr val="393D42"/>
                </a:solidFill>
              </a:rPr>
              <a:t>to work in a distributed environment</a:t>
            </a:r>
            <a:endParaRPr lang="zh-CN" altLang="en-US" sz="3200" dirty="0">
              <a:solidFill>
                <a:srgbClr val="393D42"/>
              </a:solidFill>
            </a:endParaRPr>
          </a:p>
        </p:txBody>
      </p:sp>
      <p:sp>
        <p:nvSpPr>
          <p:cNvPr id="14" name="幻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407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1.48148E-6 L -0.20191 0.37639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04" y="188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13 0.00602 L -0.32552 0.45602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128" y="2250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2.96296E-6 L -0.23837 0.26921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27" y="13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13" grpId="0" animBg="1"/>
      <p:bldP spid="28" grpId="0" animBg="1"/>
      <p:bldP spid="46" grpId="0" animBg="1"/>
      <p:bldP spid="43" grpId="0" animBg="1"/>
      <p:bldP spid="10" grpId="0" animBg="1"/>
      <p:bldP spid="27" grpId="0" animBg="1"/>
      <p:bldP spid="30" grpId="0" animBg="1"/>
      <p:bldP spid="31" grpId="0" animBg="1"/>
      <p:bldP spid="49" grpId="0" animBg="1"/>
      <p:bldP spid="50" grpId="0"/>
      <p:bldP spid="2" grpId="0"/>
      <p:bldP spid="3" grpId="0"/>
      <p:bldP spid="34" grpId="0" animBg="1"/>
      <p:bldP spid="35" grpId="0" animBg="1"/>
      <p:bldP spid="36" grpId="0" animBg="1"/>
      <p:bldP spid="37" grpId="0" animBg="1"/>
      <p:bldP spid="38" grpId="0" animBg="1"/>
      <p:bldP spid="4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27243" y="3801977"/>
            <a:ext cx="853931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solidFill>
                  <a:srgbClr val="9F3230"/>
                </a:solidFill>
              </a:rPr>
              <a:t>How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to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apply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err="1" smtClean="0">
                <a:solidFill>
                  <a:srgbClr val="9F3230"/>
                </a:solidFill>
              </a:rPr>
              <a:t>ParQ</a:t>
            </a:r>
            <a:r>
              <a:rPr lang="en-US" altLang="zh-CN" sz="2400" dirty="0" smtClean="0">
                <a:solidFill>
                  <a:srgbClr val="9F3230"/>
                </a:solidFill>
              </a:rPr>
              <a:t>?</a:t>
            </a:r>
            <a:endParaRPr lang="zh-CN" altLang="en-US" sz="2400" dirty="0" smtClean="0">
              <a:solidFill>
                <a:srgbClr val="9F3230"/>
              </a:solidFill>
            </a:endParaRPr>
          </a:p>
          <a:p>
            <a:endParaRPr lang="zh-CN" altLang="en-US" sz="2400" dirty="0" smtClean="0">
              <a:solidFill>
                <a:srgbClr val="9F3230"/>
              </a:solidFill>
            </a:endParaRPr>
          </a:p>
          <a:p>
            <a:pPr marL="457200" indent="-457200">
              <a:buAutoNum type="arabicPeriod"/>
            </a:pPr>
            <a:r>
              <a:rPr lang="en-US" altLang="zh-CN" sz="2400" dirty="0" smtClean="0"/>
              <a:t>Split</a:t>
            </a:r>
            <a:r>
              <a:rPr lang="zh-CN" altLang="en-US" sz="2400" dirty="0" smtClean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tasks</a:t>
            </a:r>
            <a:r>
              <a:rPr lang="zh-CN" altLang="en-US" sz="2400" dirty="0"/>
              <a:t> </a:t>
            </a:r>
            <a:r>
              <a:rPr lang="en-US" altLang="zh-CN" sz="2400" dirty="0"/>
              <a:t>into</a:t>
            </a:r>
            <a:r>
              <a:rPr lang="zh-CN" altLang="en-US" sz="2400" dirty="0"/>
              <a:t> </a:t>
            </a:r>
            <a:r>
              <a:rPr lang="en-US" altLang="zh-CN" sz="2400" dirty="0"/>
              <a:t>data</a:t>
            </a:r>
            <a:r>
              <a:rPr lang="zh-CN" altLang="en-US" sz="2400" dirty="0"/>
              <a:t> </a:t>
            </a:r>
            <a:r>
              <a:rPr lang="en-US" altLang="zh-CN" sz="2400" dirty="0"/>
              <a:t>loader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query</a:t>
            </a:r>
            <a:r>
              <a:rPr lang="zh-CN" altLang="en-US" sz="2400" dirty="0"/>
              <a:t> </a:t>
            </a:r>
            <a:r>
              <a:rPr lang="en-US" altLang="zh-CN" sz="2400" dirty="0" smtClean="0"/>
              <a:t>processor</a:t>
            </a:r>
            <a:endParaRPr lang="zh-CN" altLang="en-US" sz="2400" dirty="0" smtClean="0"/>
          </a:p>
          <a:p>
            <a:pPr marL="457200" indent="-457200">
              <a:buFontTx/>
              <a:buAutoNum type="arabicPeriod"/>
            </a:pPr>
            <a:r>
              <a:rPr lang="en-US" altLang="zh-CN" sz="2400" dirty="0" smtClean="0"/>
              <a:t>Represent</a:t>
            </a:r>
            <a:r>
              <a:rPr lang="zh-CN" altLang="en-US" sz="2400" dirty="0" smtClean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static</a:t>
            </a:r>
            <a:r>
              <a:rPr lang="zh-CN" altLang="en-US" sz="2400" dirty="0"/>
              <a:t> </a:t>
            </a:r>
            <a:r>
              <a:rPr lang="en-US" altLang="zh-CN" sz="2400" dirty="0"/>
              <a:t>data</a:t>
            </a:r>
            <a:r>
              <a:rPr lang="zh-CN" altLang="en-US" sz="2400" dirty="0"/>
              <a:t> </a:t>
            </a:r>
            <a:r>
              <a:rPr lang="en-US" altLang="zh-CN" sz="2400" dirty="0"/>
              <a:t>into</a:t>
            </a:r>
            <a:r>
              <a:rPr lang="zh-CN" altLang="en-US" sz="2400" dirty="0"/>
              <a:t> </a:t>
            </a:r>
            <a:r>
              <a:rPr lang="en-US" altLang="zh-CN" sz="2400" dirty="0"/>
              <a:t>required</a:t>
            </a:r>
            <a:r>
              <a:rPr lang="zh-CN" altLang="en-US" sz="2400" dirty="0"/>
              <a:t> </a:t>
            </a:r>
            <a:r>
              <a:rPr lang="en-US" altLang="zh-CN" sz="2400" dirty="0" smtClean="0"/>
              <a:t>format</a:t>
            </a:r>
            <a:endParaRPr lang="zh-CN" altLang="en-US" sz="2400" dirty="0">
              <a:solidFill>
                <a:srgbClr val="9F3230"/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en-US" altLang="zh-CN" sz="2400" dirty="0" smtClean="0"/>
              <a:t>Use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the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API</a:t>
            </a:r>
            <a:endParaRPr lang="zh-CN" altLang="en-US" sz="2400" dirty="0" smtClean="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144633" y="995311"/>
            <a:ext cx="2807970" cy="212344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spcAft>
                <a:spcPts val="0"/>
              </a:spcAft>
            </a:pPr>
            <a:r>
              <a:rPr lang="en-US" sz="2000" kern="100" dirty="0">
                <a:solidFill>
                  <a:srgbClr val="000000"/>
                </a:solidFill>
                <a:effectLst/>
                <a:ea typeface="宋体" charset="0"/>
                <a:cs typeface="Times New Roman" charset="0"/>
              </a:rPr>
              <a:t> </a:t>
            </a:r>
            <a:r>
              <a:rPr lang="en-US" altLang="zh-CN" sz="2000" kern="100" dirty="0" err="1" smtClean="0">
                <a:solidFill>
                  <a:srgbClr val="9F3230"/>
                </a:solidFill>
                <a:ea typeface="宋体" charset="0"/>
                <a:cs typeface="Times New Roman" charset="0"/>
              </a:rPr>
              <a:t>ParQ</a:t>
            </a:r>
            <a:endParaRPr lang="zh-CN" sz="2000" kern="100" dirty="0">
              <a:solidFill>
                <a:srgbClr val="9F3230"/>
              </a:solidFill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7" name="直线箭头连接符 6"/>
          <p:cNvCxnSpPr>
            <a:cxnSpLocks noChangeShapeType="1"/>
          </p:cNvCxnSpPr>
          <p:nvPr/>
        </p:nvCxnSpPr>
        <p:spPr bwMode="auto">
          <a:xfrm>
            <a:off x="2122918" y="1882406"/>
            <a:ext cx="113919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cxnSp>
        <p:nvCxnSpPr>
          <p:cNvPr id="8" name="直线箭头连接符 7"/>
          <p:cNvCxnSpPr>
            <a:cxnSpLocks noChangeShapeType="1"/>
          </p:cNvCxnSpPr>
          <p:nvPr/>
        </p:nvCxnSpPr>
        <p:spPr bwMode="auto">
          <a:xfrm flipV="1">
            <a:off x="4323828" y="1622056"/>
            <a:ext cx="384810" cy="421005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741023" y="1110881"/>
            <a:ext cx="1019810" cy="80962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600" kern="100" dirty="0" smtClean="0">
                <a:effectLst/>
                <a:ea typeface="宋体" charset="0"/>
                <a:cs typeface="Times New Roman" charset="0"/>
              </a:rPr>
              <a:t>QP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10" name="直线箭头连接符 9"/>
          <p:cNvCxnSpPr>
            <a:cxnSpLocks noChangeShapeType="1"/>
          </p:cNvCxnSpPr>
          <p:nvPr/>
        </p:nvCxnSpPr>
        <p:spPr bwMode="auto">
          <a:xfrm>
            <a:off x="2122918" y="2130691"/>
            <a:ext cx="1139190" cy="5715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3262108" y="1626501"/>
            <a:ext cx="1073150" cy="84772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600" kern="100" dirty="0" smtClean="0">
                <a:ea typeface="宋体" charset="0"/>
                <a:cs typeface="Times New Roman" charset="0"/>
              </a:rPr>
              <a:t>DL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3321230" y="1892473"/>
            <a:ext cx="943142" cy="524846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000000"/>
                </a:solidFill>
                <a:effectLst/>
                <a:ea typeface="宋体" charset="0"/>
                <a:cs typeface="Times New Roman" charset="0"/>
              </a:rPr>
              <a:t>STATIC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13" name="直线箭头连接符 12"/>
          <p:cNvCxnSpPr>
            <a:cxnSpLocks noChangeShapeType="1"/>
          </p:cNvCxnSpPr>
          <p:nvPr/>
        </p:nvCxnSpPr>
        <p:spPr bwMode="auto">
          <a:xfrm>
            <a:off x="4353038" y="2136406"/>
            <a:ext cx="377825" cy="421005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4741023" y="2169426"/>
            <a:ext cx="1019810" cy="8489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600" kern="100" dirty="0" smtClean="0">
                <a:effectLst/>
                <a:ea typeface="宋体" charset="0"/>
                <a:cs typeface="Times New Roman" charset="0"/>
              </a:rPr>
              <a:t>QP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4796902" y="1425699"/>
            <a:ext cx="902335" cy="431800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DYNAMIC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4796901" y="2502555"/>
            <a:ext cx="897890" cy="431800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DYNAMIC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82794" y="1675004"/>
            <a:ext cx="1007129" cy="318527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QUERY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282794" y="1972308"/>
            <a:ext cx="935355" cy="337503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QUERY 2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769829" y="1313203"/>
            <a:ext cx="1133068" cy="308853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ANSWER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769829" y="2483326"/>
            <a:ext cx="1133068" cy="30201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>
                <a:effectLst/>
                <a:ea typeface="宋体" charset="0"/>
                <a:cs typeface="Times New Roman" charset="0"/>
              </a:rPr>
              <a:t>ANSWER 2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21" name="直线箭头连接符 20"/>
          <p:cNvCxnSpPr>
            <a:cxnSpLocks noChangeShapeType="1"/>
          </p:cNvCxnSpPr>
          <p:nvPr/>
        </p:nvCxnSpPr>
        <p:spPr bwMode="auto">
          <a:xfrm>
            <a:off x="5777978" y="1503311"/>
            <a:ext cx="1063625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cxnSp>
        <p:nvCxnSpPr>
          <p:cNvPr id="22" name="直线箭头连接符 21"/>
          <p:cNvCxnSpPr>
            <a:cxnSpLocks noChangeShapeType="1"/>
          </p:cNvCxnSpPr>
          <p:nvPr/>
        </p:nvCxnSpPr>
        <p:spPr bwMode="auto">
          <a:xfrm>
            <a:off x="5777343" y="2638691"/>
            <a:ext cx="1063625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17</a:t>
            </a:fld>
            <a:endParaRPr kumimoji="1" lang="zh-CN" altLang="en-US"/>
          </a:p>
        </p:txBody>
      </p:sp>
      <p:sp>
        <p:nvSpPr>
          <p:cNvPr id="23" name="内容占位符 2"/>
          <p:cNvSpPr>
            <a:spLocks noGrp="1"/>
          </p:cNvSpPr>
          <p:nvPr>
            <p:ph idx="1"/>
          </p:nvPr>
        </p:nvSpPr>
        <p:spPr>
          <a:xfrm>
            <a:off x="228839" y="273186"/>
            <a:ext cx="7886700" cy="579864"/>
          </a:xfrm>
          <a:noFill/>
          <a:ln w="22225">
            <a:noFill/>
          </a:ln>
        </p:spPr>
        <p:txBody>
          <a:bodyPr anchor="ctr">
            <a:noAutofit/>
          </a:bodyPr>
          <a:lstStyle/>
          <a:p>
            <a:r>
              <a:rPr lang="en-US" altLang="zh-CN" sz="3200" dirty="0" smtClean="0">
                <a:solidFill>
                  <a:srgbClr val="393D42"/>
                </a:solidFill>
              </a:rPr>
              <a:t>Application</a:t>
            </a:r>
            <a:endParaRPr lang="zh-CN" altLang="en-US" sz="3200" dirty="0">
              <a:solidFill>
                <a:srgbClr val="393D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43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 2"/>
          <p:cNvGrpSpPr/>
          <p:nvPr/>
        </p:nvGrpSpPr>
        <p:grpSpPr>
          <a:xfrm>
            <a:off x="1200056" y="1579118"/>
            <a:ext cx="6645826" cy="1143073"/>
            <a:chOff x="1200056" y="2357271"/>
            <a:chExt cx="6645826" cy="1143073"/>
          </a:xfrm>
        </p:grpSpPr>
        <p:sp>
          <p:nvSpPr>
            <p:cNvPr id="11" name="矩形 10"/>
            <p:cNvSpPr>
              <a:spLocks noChangeArrowheads="1"/>
            </p:cNvSpPr>
            <p:nvPr/>
          </p:nvSpPr>
          <p:spPr bwMode="auto">
            <a:xfrm>
              <a:off x="3062530" y="2357271"/>
              <a:ext cx="2807335" cy="1143073"/>
            </a:xfrm>
            <a:prstGeom prst="rect">
              <a:avLst/>
            </a:prstGeom>
            <a:ln w="12700">
              <a:solidFill>
                <a:schemeClr val="bg1">
                  <a:lumMod val="75000"/>
                </a:schemeClr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200" kern="100">
                  <a:solidFill>
                    <a:srgbClr val="000000"/>
                  </a:solidFill>
                  <a:effectLst/>
                  <a:ea typeface="宋体" charset="0"/>
                  <a:cs typeface="Times New Roman" charset="0"/>
                </a:rPr>
                <a:t> </a:t>
              </a:r>
              <a:endParaRPr lang="zh-CN" sz="1200" kern="100">
                <a:effectLst/>
                <a:ea typeface="宋体" charset="0"/>
                <a:cs typeface="Times New Roman" charset="0"/>
              </a:endParaRPr>
            </a:p>
          </p:txBody>
        </p:sp>
        <p:sp>
          <p:nvSpPr>
            <p:cNvPr id="12" name="矩形 11"/>
            <p:cNvSpPr>
              <a:spLocks noChangeArrowheads="1"/>
            </p:cNvSpPr>
            <p:nvPr/>
          </p:nvSpPr>
          <p:spPr bwMode="auto">
            <a:xfrm>
              <a:off x="3255572" y="2512211"/>
              <a:ext cx="2439032" cy="834390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kern="100" dirty="0">
                  <a:effectLst/>
                  <a:ea typeface="宋体" charset="0"/>
                  <a:cs typeface="Times New Roman" charset="0"/>
                </a:rPr>
                <a:t>JOB 1</a:t>
              </a:r>
              <a:endParaRPr lang="zh-CN" sz="1600" kern="100" dirty="0">
                <a:effectLst/>
                <a:ea typeface="宋体" charset="0"/>
                <a:cs typeface="Times New Roman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650915" y="2846242"/>
              <a:ext cx="1194967" cy="33083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kern="100" dirty="0">
                  <a:effectLst/>
                  <a:ea typeface="宋体" charset="0"/>
                  <a:cs typeface="Times New Roman" charset="0"/>
                </a:rPr>
                <a:t>ANSWER 1</a:t>
              </a:r>
              <a:endParaRPr lang="zh-CN" sz="1600" kern="100" dirty="0">
                <a:effectLst/>
                <a:ea typeface="宋体" charset="0"/>
                <a:cs typeface="Times New Roman" charset="0"/>
              </a:endParaRPr>
            </a:p>
          </p:txBody>
        </p:sp>
        <p:sp>
          <p:nvSpPr>
            <p:cNvPr id="14" name="矩形 13"/>
            <p:cNvSpPr>
              <a:spLocks noChangeArrowheads="1"/>
            </p:cNvSpPr>
            <p:nvPr/>
          </p:nvSpPr>
          <p:spPr bwMode="auto">
            <a:xfrm>
              <a:off x="3340024" y="2823996"/>
              <a:ext cx="1305559" cy="431800"/>
            </a:xfrm>
            <a:prstGeom prst="rect">
              <a:avLst/>
            </a:prstGeom>
            <a:pattFill prst="pct10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75000"/>
                </a:schemeClr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600" kern="100" dirty="0">
                  <a:effectLst/>
                  <a:ea typeface="宋体" charset="0"/>
                  <a:cs typeface="Times New Roman" charset="0"/>
                </a:rPr>
                <a:t>STATIC DATA</a:t>
              </a:r>
              <a:endParaRPr lang="zh-CN" sz="1600" kern="100" dirty="0">
                <a:effectLst/>
                <a:ea typeface="宋体" charset="0"/>
                <a:cs typeface="Times New Roman" charset="0"/>
              </a:endParaRPr>
            </a:p>
          </p:txBody>
        </p:sp>
        <p:sp>
          <p:nvSpPr>
            <p:cNvPr id="15" name="矩形 14"/>
            <p:cNvSpPr>
              <a:spLocks noChangeArrowheads="1"/>
            </p:cNvSpPr>
            <p:nvPr/>
          </p:nvSpPr>
          <p:spPr bwMode="auto">
            <a:xfrm>
              <a:off x="4714164" y="2823996"/>
              <a:ext cx="911860" cy="431800"/>
            </a:xfrm>
            <a:prstGeom prst="rect">
              <a:avLst/>
            </a:prstGeom>
            <a:pattFill prst="ltUp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75000"/>
                </a:schemeClr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91440" tIns="0" rIns="91440" bIns="0" anchor="ctr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400" kern="100" dirty="0" smtClean="0">
                  <a:effectLst/>
                  <a:ea typeface="宋体" charset="0"/>
                  <a:cs typeface="Times New Roman" charset="0"/>
                </a:rPr>
                <a:t>DYNAMIC DATA</a:t>
              </a:r>
              <a:endParaRPr lang="zh-CN" sz="1400" kern="100" dirty="0">
                <a:effectLst/>
                <a:ea typeface="宋体" charset="0"/>
                <a:cs typeface="Times New Roman" charset="0"/>
              </a:endParaRPr>
            </a:p>
          </p:txBody>
        </p:sp>
        <p:cxnSp>
          <p:nvCxnSpPr>
            <p:cNvPr id="17" name="直线箭头连接符 16"/>
            <p:cNvCxnSpPr>
              <a:cxnSpLocks noChangeShapeType="1"/>
            </p:cNvCxnSpPr>
            <p:nvPr/>
          </p:nvCxnSpPr>
          <p:spPr bwMode="auto">
            <a:xfrm flipV="1">
              <a:off x="2082725" y="3046246"/>
              <a:ext cx="1172847" cy="254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prstDash val="lg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7999"/>
                      </a:srgbClr>
                    </a:outerShdw>
                  </a:effectLst>
                </a14:hiddenEffects>
              </a:ext>
              <a:ext uri="{FAA26D3D-D897-4be2-8F04-BA451C77F1D7}">
                <ma14:placeholderFlag xmlns:ma14="http://schemas.microsoft.com/office/mac/drawingml/2011/main"/>
              </a:ext>
              <a:ext uri="{C572A759-6A51-4108-AA02-DFA0A04FC94B}">
                <ma14:wrappingTextBoxFlag xmlns:ma14="http://schemas.microsoft.com/office/mac/drawingml/2011/main"/>
              </a:ext>
            </a:extLst>
          </p:spPr>
        </p:cxnSp>
        <p:sp>
          <p:nvSpPr>
            <p:cNvPr id="18" name="文本框 17"/>
            <p:cNvSpPr txBox="1"/>
            <p:nvPr/>
          </p:nvSpPr>
          <p:spPr>
            <a:xfrm>
              <a:off x="1200056" y="2854749"/>
              <a:ext cx="1172846" cy="25273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kern="100" dirty="0">
                  <a:effectLst/>
                  <a:ea typeface="宋体" charset="0"/>
                  <a:cs typeface="Times New Roman" charset="0"/>
                </a:rPr>
                <a:t>QUERY 1</a:t>
              </a:r>
              <a:endParaRPr lang="zh-CN" sz="1600" kern="100" dirty="0">
                <a:effectLst/>
                <a:ea typeface="宋体" charset="0"/>
                <a:cs typeface="Times New Roman" charset="0"/>
              </a:endParaRPr>
            </a:p>
          </p:txBody>
        </p:sp>
        <p:cxnSp>
          <p:nvCxnSpPr>
            <p:cNvPr id="16" name="直线箭头连接符 15"/>
            <p:cNvCxnSpPr>
              <a:cxnSpLocks noChangeShapeType="1"/>
            </p:cNvCxnSpPr>
            <p:nvPr/>
          </p:nvCxnSpPr>
          <p:spPr bwMode="auto">
            <a:xfrm>
              <a:off x="5694604" y="3046246"/>
              <a:ext cx="995046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prstDash val="lg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7999"/>
                      </a:srgbClr>
                    </a:outerShdw>
                  </a:effectLst>
                </a14:hiddenEffects>
              </a:ext>
              <a:ext uri="{FAA26D3D-D897-4be2-8F04-BA451C77F1D7}">
                <ma14:placeholderFlag xmlns:ma14="http://schemas.microsoft.com/office/mac/drawingml/2011/main"/>
              </a:ext>
              <a:ext uri="{C572A759-6A51-4108-AA02-DFA0A04FC94B}">
                <ma14:wrappingTextBoxFlag xmlns:ma14="http://schemas.microsoft.com/office/mac/drawingml/2011/main"/>
              </a:ext>
            </a:extLst>
          </p:spPr>
        </p:cxnSp>
      </p:grpSp>
      <p:sp>
        <p:nvSpPr>
          <p:cNvPr id="23" name="矩形 22"/>
          <p:cNvSpPr/>
          <p:nvPr/>
        </p:nvSpPr>
        <p:spPr>
          <a:xfrm>
            <a:off x="1561082" y="3166451"/>
            <a:ext cx="670201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6E65"/>
                </a:solidFill>
              </a:rPr>
              <a:t>if current job is data loader </a:t>
            </a:r>
          </a:p>
          <a:p>
            <a:r>
              <a:rPr lang="zh-CN" altLang="en-US" sz="2400" dirty="0"/>
              <a:t>	</a:t>
            </a:r>
            <a:r>
              <a:rPr lang="zh-CN" altLang="en-US" sz="2400" dirty="0" smtClean="0"/>
              <a:t>create </a:t>
            </a:r>
            <a:r>
              <a:rPr lang="zh-CN" altLang="en-US" sz="2400" dirty="0"/>
              <a:t>an instance of DataLoader</a:t>
            </a:r>
            <a:r>
              <a:rPr lang="zh-CN" altLang="en-US" sz="2400" dirty="0" smtClean="0"/>
              <a:t>;</a:t>
            </a:r>
          </a:p>
          <a:p>
            <a:r>
              <a:rPr lang="zh-CN" altLang="en-US" sz="2400" dirty="0"/>
              <a:t>	</a:t>
            </a:r>
            <a:r>
              <a:rPr lang="zh-CN" altLang="en-US" sz="2400" dirty="0" smtClean="0"/>
              <a:t>call </a:t>
            </a:r>
            <a:r>
              <a:rPr lang="zh-CN" altLang="en-US" sz="2400" dirty="0"/>
              <a:t>corresponding </a:t>
            </a:r>
            <a:r>
              <a:rPr lang="zh-CN" altLang="en-US" sz="2400" dirty="0" smtClean="0"/>
              <a:t>functions；    	terminate；</a:t>
            </a:r>
          </a:p>
          <a:p>
            <a:r>
              <a:rPr lang="zh-CN" altLang="en-US" sz="2400" dirty="0" smtClean="0">
                <a:solidFill>
                  <a:srgbClr val="FF6E65"/>
                </a:solidFill>
              </a:rPr>
              <a:t>else </a:t>
            </a:r>
            <a:r>
              <a:rPr lang="zh-CN" altLang="en-US" sz="2400" dirty="0">
                <a:solidFill>
                  <a:srgbClr val="FF6E65"/>
                </a:solidFill>
              </a:rPr>
              <a:t>if current job is query </a:t>
            </a:r>
            <a:r>
              <a:rPr lang="zh-CN" altLang="en-US" sz="2400" dirty="0" smtClean="0">
                <a:solidFill>
                  <a:srgbClr val="FF6E65"/>
                </a:solidFill>
              </a:rPr>
              <a:t>processor</a:t>
            </a:r>
          </a:p>
          <a:p>
            <a:r>
              <a:rPr lang="zh-CN" altLang="en-US" sz="2400" dirty="0"/>
              <a:t>	</a:t>
            </a:r>
            <a:r>
              <a:rPr lang="zh-CN" altLang="en-US" sz="2400" dirty="0" smtClean="0"/>
              <a:t>create </a:t>
            </a:r>
            <a:r>
              <a:rPr lang="zh-CN" altLang="en-US" sz="2400" dirty="0"/>
              <a:t>an instance of QueryProcessor;    </a:t>
            </a:r>
            <a:r>
              <a:rPr lang="zh-CN" altLang="en-US" sz="2400" dirty="0" smtClean="0"/>
              <a:t>	call </a:t>
            </a:r>
            <a:r>
              <a:rPr lang="zh-CN" altLang="en-US" sz="2400" dirty="0"/>
              <a:t>corresponding </a:t>
            </a:r>
            <a:r>
              <a:rPr lang="zh-CN" altLang="en-US" sz="2400" dirty="0" smtClean="0"/>
              <a:t>functions；    	terminate；</a:t>
            </a:r>
            <a:endParaRPr lang="zh-CN" altLang="en-US" sz="2400" dirty="0"/>
          </a:p>
        </p:txBody>
      </p:sp>
      <p:sp>
        <p:nvSpPr>
          <p:cNvPr id="24" name="矩形 23"/>
          <p:cNvSpPr/>
          <p:nvPr/>
        </p:nvSpPr>
        <p:spPr>
          <a:xfrm>
            <a:off x="929019" y="673194"/>
            <a:ext cx="71628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smtClean="0">
                <a:solidFill>
                  <a:srgbClr val="9F3230"/>
                </a:solidFill>
              </a:rPr>
              <a:t>1.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Split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the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tasks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into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data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loader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and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query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processor.</a:t>
            </a:r>
            <a:endParaRPr lang="zh-CN" altLang="en-US" sz="2400" dirty="0">
              <a:solidFill>
                <a:srgbClr val="9F3230"/>
              </a:solidFill>
            </a:endParaRPr>
          </a:p>
        </p:txBody>
      </p:sp>
      <p:grpSp>
        <p:nvGrpSpPr>
          <p:cNvPr id="26" name="组 25"/>
          <p:cNvGrpSpPr/>
          <p:nvPr/>
        </p:nvGrpSpPr>
        <p:grpSpPr>
          <a:xfrm>
            <a:off x="3255571" y="1699480"/>
            <a:ext cx="2507613" cy="919038"/>
            <a:chOff x="3269018" y="483215"/>
            <a:chExt cx="2507613" cy="919038"/>
          </a:xfrm>
        </p:grpSpPr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69018" y="483215"/>
              <a:ext cx="2507613" cy="902348"/>
            </a:xfrm>
            <a:prstGeom prst="rect">
              <a:avLst/>
            </a:prstGeom>
          </p:spPr>
        </p:pic>
        <p:grpSp>
          <p:nvGrpSpPr>
            <p:cNvPr id="28" name="组 27"/>
            <p:cNvGrpSpPr/>
            <p:nvPr/>
          </p:nvGrpSpPr>
          <p:grpSpPr>
            <a:xfrm>
              <a:off x="3277377" y="547802"/>
              <a:ext cx="2490894" cy="854451"/>
              <a:chOff x="3250474" y="565690"/>
              <a:chExt cx="2490894" cy="854451"/>
            </a:xfrm>
          </p:grpSpPr>
          <p:cxnSp>
            <p:nvCxnSpPr>
              <p:cNvPr id="34" name="直线箭头连接符 33"/>
              <p:cNvCxnSpPr>
                <a:cxnSpLocks noChangeShapeType="1"/>
              </p:cNvCxnSpPr>
              <p:nvPr/>
            </p:nvCxnSpPr>
            <p:spPr bwMode="auto">
              <a:xfrm>
                <a:off x="4355663" y="1060540"/>
                <a:ext cx="317075" cy="1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prstDash val="lgDash"/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40000" dist="20000" dir="5400000" rotWithShape="0">
                        <a:srgbClr val="000000">
                          <a:alpha val="37999"/>
                        </a:srgbClr>
                      </a:outerShdw>
                    </a:effectLst>
                  </a14:hiddenEffects>
                </a:ext>
                <a:ext uri="{FAA26D3D-D897-4be2-8F04-BA451C77F1D7}">
                  <ma14:placeholderFlag xmlns:ma14="http://schemas.microsoft.com/office/mac/drawingml/2011/main"/>
                </a:ext>
                <a:ext uri="{C572A759-6A51-4108-AA02-DFA0A04FC94B}">
                  <ma14:wrappingTextBoxFlag xmlns:ma14="http://schemas.microsoft.com/office/mac/drawingml/2011/main"/>
                </a:ext>
              </a:extLst>
            </p:spPr>
          </p:cxnSp>
          <p:sp>
            <p:nvSpPr>
              <p:cNvPr id="35" name="矩形 34"/>
              <p:cNvSpPr>
                <a:spLocks noChangeArrowheads="1"/>
              </p:cNvSpPr>
              <p:nvPr/>
            </p:nvSpPr>
            <p:spPr bwMode="auto">
              <a:xfrm>
                <a:off x="3250474" y="572416"/>
                <a:ext cx="1073150" cy="847725"/>
              </a:xfrm>
              <a:prstGeom prst="rect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vert="horz" wrap="square" lIns="91440" tIns="0" rIns="91440" bIns="4572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600" kern="100" dirty="0">
                    <a:effectLst/>
                    <a:ea typeface="宋体" charset="0"/>
                    <a:cs typeface="Times New Roman" charset="0"/>
                  </a:rPr>
                  <a:t>JOB 0</a:t>
                </a:r>
                <a:endParaRPr lang="zh-CN" sz="1600" kern="100" dirty="0">
                  <a:effectLst/>
                  <a:ea typeface="宋体" charset="0"/>
                  <a:cs typeface="Times New Roman" charset="0"/>
                </a:endParaRPr>
              </a:p>
            </p:txBody>
          </p:sp>
          <p:sp>
            <p:nvSpPr>
              <p:cNvPr id="36" name="矩形 35"/>
              <p:cNvSpPr>
                <a:spLocks noChangeArrowheads="1"/>
              </p:cNvSpPr>
              <p:nvPr/>
            </p:nvSpPr>
            <p:spPr bwMode="auto">
              <a:xfrm>
                <a:off x="3309596" y="838388"/>
                <a:ext cx="943142" cy="524846"/>
              </a:xfrm>
              <a:prstGeom prst="rect">
                <a:avLst/>
              </a:prstGeom>
              <a:pattFill prst="pct10">
                <a:fgClr>
                  <a:schemeClr val="bg1">
                    <a:lumMod val="75000"/>
                  </a:schemeClr>
                </a:fgClr>
                <a:bgClr>
                  <a:schemeClr val="bg1"/>
                </a:bgClr>
              </a:pattFill>
              <a:ln>
                <a:solidFill>
                  <a:schemeClr val="bg1">
                    <a:lumMod val="75000"/>
                  </a:schemeClr>
                </a:solidFill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400" kern="100" dirty="0">
                    <a:solidFill>
                      <a:srgbClr val="000000"/>
                    </a:solidFill>
                    <a:effectLst/>
                    <a:ea typeface="宋体" charset="0"/>
                    <a:cs typeface="Times New Roman" charset="0"/>
                  </a:rPr>
                  <a:t>STATIC DATA</a:t>
                </a:r>
                <a:endParaRPr lang="zh-CN" sz="1400" kern="100" dirty="0">
                  <a:effectLst/>
                  <a:ea typeface="宋体" charset="0"/>
                  <a:cs typeface="Times New Roman" charset="0"/>
                </a:endParaRPr>
              </a:p>
            </p:txBody>
          </p:sp>
          <p:sp>
            <p:nvSpPr>
              <p:cNvPr id="37" name="矩形 36"/>
              <p:cNvSpPr>
                <a:spLocks noChangeArrowheads="1"/>
              </p:cNvSpPr>
              <p:nvPr/>
            </p:nvSpPr>
            <p:spPr bwMode="auto">
              <a:xfrm>
                <a:off x="4668218" y="565690"/>
                <a:ext cx="1073150" cy="847725"/>
              </a:xfrm>
              <a:prstGeom prst="rect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vert="horz" wrap="square" lIns="91440" tIns="0" rIns="91440" bIns="4572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600" kern="100" dirty="0">
                    <a:effectLst/>
                    <a:ea typeface="宋体" charset="0"/>
                    <a:cs typeface="Times New Roman" charset="0"/>
                  </a:rPr>
                  <a:t>JOB </a:t>
                </a:r>
                <a:r>
                  <a:rPr lang="en-US" altLang="zh-CN" sz="1600" kern="100" dirty="0" smtClean="0">
                    <a:effectLst/>
                    <a:ea typeface="宋体" charset="0"/>
                    <a:cs typeface="Times New Roman" charset="0"/>
                  </a:rPr>
                  <a:t>1</a:t>
                </a:r>
                <a:endParaRPr lang="zh-CN" sz="1600" kern="100" dirty="0">
                  <a:effectLst/>
                  <a:ea typeface="宋体" charset="0"/>
                  <a:cs typeface="Times New Roman" charset="0"/>
                </a:endParaRPr>
              </a:p>
            </p:txBody>
          </p:sp>
          <p:sp>
            <p:nvSpPr>
              <p:cNvPr id="38" name="矩形 37"/>
              <p:cNvSpPr>
                <a:spLocks noChangeArrowheads="1"/>
              </p:cNvSpPr>
              <p:nvPr/>
            </p:nvSpPr>
            <p:spPr bwMode="auto">
              <a:xfrm>
                <a:off x="4753625" y="838388"/>
                <a:ext cx="902336" cy="524846"/>
              </a:xfrm>
              <a:prstGeom prst="rect">
                <a:avLst/>
              </a:prstGeom>
              <a:pattFill prst="ltUpDiag">
                <a:fgClr>
                  <a:schemeClr val="bg1">
                    <a:lumMod val="75000"/>
                  </a:schemeClr>
                </a:fgClr>
                <a:bgClr>
                  <a:schemeClr val="bg1"/>
                </a:bgClr>
              </a:pattFill>
              <a:ln>
                <a:solidFill>
                  <a:schemeClr val="bg1">
                    <a:lumMod val="75000"/>
                  </a:schemeClr>
                </a:solidFill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vert="horz" wrap="square" lIns="91440" tIns="0" rIns="91440" bIns="0" anchor="ctr" anchorCtr="0" upright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400" kern="100" dirty="0">
                    <a:effectLst/>
                    <a:ea typeface="宋体" charset="0"/>
                    <a:cs typeface="Times New Roman" charset="0"/>
                  </a:rPr>
                  <a:t>DYNAMIC DATA</a:t>
                </a:r>
                <a:endParaRPr lang="zh-CN" sz="1400" kern="100" dirty="0">
                  <a:effectLst/>
                  <a:ea typeface="宋体" charset="0"/>
                  <a:cs typeface="Times New Roman" charset="0"/>
                </a:endParaRPr>
              </a:p>
            </p:txBody>
          </p:sp>
        </p:grpSp>
      </p:grp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167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295834" y="2863572"/>
            <a:ext cx="921892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3721692" y="2303011"/>
          <a:ext cx="4486836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5612"/>
                <a:gridCol w="1495612"/>
                <a:gridCol w="149561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label1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label2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type1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type2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index1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data1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data2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index2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data3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data3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TlToBr w="12700" cmpd="sng">
                      <a:noFill/>
                      <a:prstDash val="solid"/>
                    </a:lnTlToBr>
                  </a:tcPr>
                </a:tc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3721692" y="4049679"/>
          <a:ext cx="4486836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5612"/>
                <a:gridCol w="1495612"/>
                <a:gridCol w="149561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type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neighbors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err="1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int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vector&lt;</a:t>
                      </a:r>
                      <a:r>
                        <a:rPr lang="en-US" altLang="zh-CN" b="0" cap="none" spc="0" dirty="0" err="1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int</a:t>
                      </a:r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&gt;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3177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-100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3098</a:t>
                      </a:r>
                      <a:r>
                        <a:rPr lang="zh-CN" altLang="en-US" b="0" cap="none" spc="0" baseline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 </a:t>
                      </a:r>
                      <a:r>
                        <a:rPr lang="en-US" altLang="zh-CN" b="0" cap="none" spc="0" baseline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3172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3173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-100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3172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3172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-100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3173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3098</a:t>
                      </a:r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-100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TlToBr w="12700" cmpd="sng">
                      <a:noFill/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cap="none" spc="0" dirty="0" smtClean="0">
                          <a:ln w="0"/>
                          <a:solidFill>
                            <a:schemeClr val="bg1">
                              <a:lumMod val="6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3177</a:t>
                      </a:r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TlToBr w="12700" cmpd="sng">
                      <a:noFill/>
                      <a:prstDash val="solid"/>
                    </a:lnTlToBr>
                  </a:tcPr>
                </a:tc>
              </a:tr>
            </a:tbl>
          </a:graphicData>
        </a:graphic>
      </p:graphicFrame>
      <p:sp>
        <p:nvSpPr>
          <p:cNvPr id="39" name="矩形 38"/>
          <p:cNvSpPr>
            <a:spLocks noChangeArrowheads="1"/>
          </p:cNvSpPr>
          <p:nvPr/>
        </p:nvSpPr>
        <p:spPr bwMode="auto">
          <a:xfrm>
            <a:off x="3062530" y="712476"/>
            <a:ext cx="2807335" cy="1143073"/>
          </a:xfrm>
          <a:prstGeom prst="rect">
            <a:avLst/>
          </a:prstGeom>
          <a:ln w="12700"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200" kern="100">
                <a:solidFill>
                  <a:srgbClr val="000000"/>
                </a:solidFill>
                <a:effectLst/>
                <a:ea typeface="宋体" charset="0"/>
                <a:cs typeface="Times New Roman" charset="0"/>
              </a:rPr>
              <a:t> </a:t>
            </a:r>
            <a:endParaRPr lang="zh-CN" sz="1200" kern="10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0" name="矩形 39"/>
          <p:cNvSpPr>
            <a:spLocks noChangeArrowheads="1"/>
          </p:cNvSpPr>
          <p:nvPr/>
        </p:nvSpPr>
        <p:spPr bwMode="auto">
          <a:xfrm>
            <a:off x="3255572" y="867416"/>
            <a:ext cx="2439032" cy="83439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JOB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650915" y="1201447"/>
            <a:ext cx="1194967" cy="33083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ANSWER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2" name="矩形 41"/>
          <p:cNvSpPr>
            <a:spLocks noChangeArrowheads="1"/>
          </p:cNvSpPr>
          <p:nvPr/>
        </p:nvSpPr>
        <p:spPr bwMode="auto">
          <a:xfrm>
            <a:off x="3340024" y="1179201"/>
            <a:ext cx="1305559" cy="431800"/>
          </a:xfrm>
          <a:prstGeom prst="rect">
            <a:avLst/>
          </a:prstGeom>
          <a:pattFill prst="pct10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STATIC DATA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48" name="矩形 47"/>
          <p:cNvSpPr>
            <a:spLocks noChangeArrowheads="1"/>
          </p:cNvSpPr>
          <p:nvPr/>
        </p:nvSpPr>
        <p:spPr bwMode="auto">
          <a:xfrm>
            <a:off x="4714164" y="1179201"/>
            <a:ext cx="911860" cy="431800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 smtClean="0">
                <a:effectLst/>
                <a:ea typeface="宋体" charset="0"/>
                <a:cs typeface="Times New Roman" charset="0"/>
              </a:rPr>
              <a:t>DYNAMIC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49" name="直线箭头连接符 48"/>
          <p:cNvCxnSpPr>
            <a:cxnSpLocks noChangeShapeType="1"/>
          </p:cNvCxnSpPr>
          <p:nvPr/>
        </p:nvCxnSpPr>
        <p:spPr bwMode="auto">
          <a:xfrm flipV="1">
            <a:off x="2082725" y="1401451"/>
            <a:ext cx="1172847" cy="254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50" name="文本框 49"/>
          <p:cNvSpPr txBox="1"/>
          <p:nvPr/>
        </p:nvSpPr>
        <p:spPr>
          <a:xfrm>
            <a:off x="1200056" y="1209954"/>
            <a:ext cx="1172846" cy="25273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QUERY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51" name="直线箭头连接符 50"/>
          <p:cNvCxnSpPr>
            <a:cxnSpLocks noChangeShapeType="1"/>
          </p:cNvCxnSpPr>
          <p:nvPr/>
        </p:nvCxnSpPr>
        <p:spPr bwMode="auto">
          <a:xfrm>
            <a:off x="5694604" y="1401451"/>
            <a:ext cx="995046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grpSp>
        <p:nvGrpSpPr>
          <p:cNvPr id="52" name="组 51"/>
          <p:cNvGrpSpPr/>
          <p:nvPr/>
        </p:nvGrpSpPr>
        <p:grpSpPr>
          <a:xfrm>
            <a:off x="3255571" y="832838"/>
            <a:ext cx="2507613" cy="919038"/>
            <a:chOff x="3269018" y="483215"/>
            <a:chExt cx="2507613" cy="919038"/>
          </a:xfrm>
        </p:grpSpPr>
        <p:pic>
          <p:nvPicPr>
            <p:cNvPr id="53" name="图片 5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69018" y="483215"/>
              <a:ext cx="2507613" cy="902348"/>
            </a:xfrm>
            <a:prstGeom prst="rect">
              <a:avLst/>
            </a:prstGeom>
          </p:spPr>
        </p:pic>
        <p:grpSp>
          <p:nvGrpSpPr>
            <p:cNvPr id="54" name="组 53"/>
            <p:cNvGrpSpPr/>
            <p:nvPr/>
          </p:nvGrpSpPr>
          <p:grpSpPr>
            <a:xfrm>
              <a:off x="3277377" y="547802"/>
              <a:ext cx="2490894" cy="854451"/>
              <a:chOff x="3250474" y="565690"/>
              <a:chExt cx="2490894" cy="854451"/>
            </a:xfrm>
          </p:grpSpPr>
          <p:cxnSp>
            <p:nvCxnSpPr>
              <p:cNvPr id="55" name="直线箭头连接符 54"/>
              <p:cNvCxnSpPr>
                <a:cxnSpLocks noChangeShapeType="1"/>
              </p:cNvCxnSpPr>
              <p:nvPr/>
            </p:nvCxnSpPr>
            <p:spPr bwMode="auto">
              <a:xfrm>
                <a:off x="4355663" y="1060540"/>
                <a:ext cx="317075" cy="1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prstDash val="lgDash"/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40000" dist="20000" dir="5400000" rotWithShape="0">
                        <a:srgbClr val="000000">
                          <a:alpha val="37999"/>
                        </a:srgbClr>
                      </a:outerShdw>
                    </a:effectLst>
                  </a14:hiddenEffects>
                </a:ext>
                <a:ext uri="{FAA26D3D-D897-4be2-8F04-BA451C77F1D7}">
                  <ma14:placeholderFlag xmlns:ma14="http://schemas.microsoft.com/office/mac/drawingml/2011/main"/>
                </a:ext>
                <a:ext uri="{C572A759-6A51-4108-AA02-DFA0A04FC94B}">
                  <ma14:wrappingTextBoxFlag xmlns:ma14="http://schemas.microsoft.com/office/mac/drawingml/2011/main"/>
                </a:ext>
              </a:extLst>
            </p:spPr>
          </p:cxnSp>
          <p:sp>
            <p:nvSpPr>
              <p:cNvPr id="56" name="矩形 55"/>
              <p:cNvSpPr>
                <a:spLocks noChangeArrowheads="1"/>
              </p:cNvSpPr>
              <p:nvPr/>
            </p:nvSpPr>
            <p:spPr bwMode="auto">
              <a:xfrm>
                <a:off x="3250474" y="572416"/>
                <a:ext cx="1073150" cy="847725"/>
              </a:xfrm>
              <a:prstGeom prst="rect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vert="horz" wrap="square" lIns="91440" tIns="0" rIns="91440" bIns="4572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600" kern="100" dirty="0">
                    <a:effectLst/>
                    <a:ea typeface="宋体" charset="0"/>
                    <a:cs typeface="Times New Roman" charset="0"/>
                  </a:rPr>
                  <a:t>JOB 0</a:t>
                </a:r>
                <a:endParaRPr lang="zh-CN" sz="1600" kern="100" dirty="0">
                  <a:effectLst/>
                  <a:ea typeface="宋体" charset="0"/>
                  <a:cs typeface="Times New Roman" charset="0"/>
                </a:endParaRPr>
              </a:p>
            </p:txBody>
          </p:sp>
          <p:sp>
            <p:nvSpPr>
              <p:cNvPr id="57" name="矩形 56"/>
              <p:cNvSpPr>
                <a:spLocks noChangeArrowheads="1"/>
              </p:cNvSpPr>
              <p:nvPr/>
            </p:nvSpPr>
            <p:spPr bwMode="auto">
              <a:xfrm>
                <a:off x="3309596" y="838388"/>
                <a:ext cx="943142" cy="524846"/>
              </a:xfrm>
              <a:prstGeom prst="rect">
                <a:avLst/>
              </a:prstGeom>
              <a:pattFill prst="pct10">
                <a:fgClr>
                  <a:schemeClr val="bg1">
                    <a:lumMod val="75000"/>
                  </a:schemeClr>
                </a:fgClr>
                <a:bgClr>
                  <a:schemeClr val="bg1"/>
                </a:bgClr>
              </a:pattFill>
              <a:ln>
                <a:solidFill>
                  <a:schemeClr val="bg1">
                    <a:lumMod val="75000"/>
                  </a:schemeClr>
                </a:solidFill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400" kern="100" dirty="0">
                    <a:solidFill>
                      <a:srgbClr val="000000"/>
                    </a:solidFill>
                    <a:effectLst/>
                    <a:ea typeface="宋体" charset="0"/>
                    <a:cs typeface="Times New Roman" charset="0"/>
                  </a:rPr>
                  <a:t>STATIC DATA</a:t>
                </a:r>
                <a:endParaRPr lang="zh-CN" sz="1400" kern="100" dirty="0">
                  <a:effectLst/>
                  <a:ea typeface="宋体" charset="0"/>
                  <a:cs typeface="Times New Roman" charset="0"/>
                </a:endParaRPr>
              </a:p>
            </p:txBody>
          </p:sp>
          <p:sp>
            <p:nvSpPr>
              <p:cNvPr id="58" name="矩形 57"/>
              <p:cNvSpPr>
                <a:spLocks noChangeArrowheads="1"/>
              </p:cNvSpPr>
              <p:nvPr/>
            </p:nvSpPr>
            <p:spPr bwMode="auto">
              <a:xfrm>
                <a:off x="4668218" y="565690"/>
                <a:ext cx="1073150" cy="847725"/>
              </a:xfrm>
              <a:prstGeom prst="rect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vert="horz" wrap="square" lIns="91440" tIns="0" rIns="91440" bIns="4572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600" kern="100" dirty="0">
                    <a:effectLst/>
                    <a:ea typeface="宋体" charset="0"/>
                    <a:cs typeface="Times New Roman" charset="0"/>
                  </a:rPr>
                  <a:t>JOB </a:t>
                </a:r>
                <a:r>
                  <a:rPr lang="en-US" altLang="zh-CN" sz="1600" kern="100" dirty="0" smtClean="0">
                    <a:effectLst/>
                    <a:ea typeface="宋体" charset="0"/>
                    <a:cs typeface="Times New Roman" charset="0"/>
                  </a:rPr>
                  <a:t>1</a:t>
                </a:r>
                <a:endParaRPr lang="zh-CN" sz="1600" kern="100" dirty="0">
                  <a:effectLst/>
                  <a:ea typeface="宋体" charset="0"/>
                  <a:cs typeface="Times New Roman" charset="0"/>
                </a:endParaRPr>
              </a:p>
            </p:txBody>
          </p:sp>
          <p:sp>
            <p:nvSpPr>
              <p:cNvPr id="59" name="矩形 58"/>
              <p:cNvSpPr>
                <a:spLocks noChangeArrowheads="1"/>
              </p:cNvSpPr>
              <p:nvPr/>
            </p:nvSpPr>
            <p:spPr bwMode="auto">
              <a:xfrm>
                <a:off x="4753625" y="838388"/>
                <a:ext cx="902336" cy="524846"/>
              </a:xfrm>
              <a:prstGeom prst="rect">
                <a:avLst/>
              </a:prstGeom>
              <a:pattFill prst="ltUpDiag">
                <a:fgClr>
                  <a:schemeClr val="bg1">
                    <a:lumMod val="75000"/>
                  </a:schemeClr>
                </a:fgClr>
                <a:bgClr>
                  <a:schemeClr val="bg1"/>
                </a:bgClr>
              </a:pattFill>
              <a:ln>
                <a:solidFill>
                  <a:schemeClr val="bg1">
                    <a:lumMod val="75000"/>
                  </a:schemeClr>
                </a:solidFill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vert="horz" wrap="square" lIns="91440" tIns="0" rIns="91440" bIns="0" anchor="ctr" anchorCtr="0" upright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400" kern="100" dirty="0">
                    <a:effectLst/>
                    <a:ea typeface="宋体" charset="0"/>
                    <a:cs typeface="Times New Roman" charset="0"/>
                  </a:rPr>
                  <a:t>DYNAMIC DATA</a:t>
                </a:r>
                <a:endParaRPr lang="zh-CN" sz="1400" kern="100" dirty="0">
                  <a:effectLst/>
                  <a:ea typeface="宋体" charset="0"/>
                  <a:cs typeface="Times New Roman" charset="0"/>
                </a:endParaRPr>
              </a:p>
            </p:txBody>
          </p:sp>
        </p:grpSp>
      </p:grpSp>
      <p:sp>
        <p:nvSpPr>
          <p:cNvPr id="21" name="矩形 20"/>
          <p:cNvSpPr/>
          <p:nvPr/>
        </p:nvSpPr>
        <p:spPr>
          <a:xfrm>
            <a:off x="174811" y="2629192"/>
            <a:ext cx="34258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9F3230"/>
                </a:solidFill>
              </a:rPr>
              <a:t>2</a:t>
            </a:r>
            <a:r>
              <a:rPr lang="en-US" altLang="zh-CN" sz="2400" dirty="0" smtClean="0">
                <a:solidFill>
                  <a:srgbClr val="9F3230"/>
                </a:solidFill>
              </a:rPr>
              <a:t>.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Represent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the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static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data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into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required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format.</a:t>
            </a:r>
            <a:endParaRPr lang="zh-CN" altLang="en-US" sz="2400" dirty="0">
              <a:solidFill>
                <a:srgbClr val="9F323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262" y="4468212"/>
            <a:ext cx="2218956" cy="1135082"/>
          </a:xfrm>
          <a:prstGeom prst="rect">
            <a:avLst/>
          </a:prstGeom>
        </p:spPr>
      </p:pic>
      <p:graphicFrame>
        <p:nvGraphicFramePr>
          <p:cNvPr id="24" name="表格 23"/>
          <p:cNvGraphicFramePr>
            <a:graphicFrameLocks noGrp="1"/>
          </p:cNvGraphicFramePr>
          <p:nvPr>
            <p:extLst/>
          </p:nvPr>
        </p:nvGraphicFramePr>
        <p:xfrm>
          <a:off x="3721692" y="4049679"/>
          <a:ext cx="1495612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561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rgbClr val="DAEDE9">
                        <a:alpha val="3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rgbClr val="DAEDE9">
                        <a:alpha val="3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rgbClr val="DAEDE9">
                        <a:alpha val="3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rgbClr val="DAEDE9">
                        <a:alpha val="3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rgbClr val="DAEDE9">
                        <a:alpha val="3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TlToBr w="12700" cmpd="sng">
                      <a:noFill/>
                      <a:prstDash val="solid"/>
                    </a:lnTlToBr>
                    <a:solidFill>
                      <a:srgbClr val="DAEDE9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/>
          </p:nvPr>
        </p:nvGraphicFramePr>
        <p:xfrm>
          <a:off x="5217304" y="4049679"/>
          <a:ext cx="1495612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561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rgbClr val="C7E4E1">
                        <a:alpha val="3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rgbClr val="C7E4E1">
                        <a:alpha val="3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rgbClr val="C7E4E1">
                        <a:alpha val="3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rgbClr val="C7E4E1">
                        <a:alpha val="3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rgbClr val="C7E4E1">
                        <a:alpha val="3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TlToBr w="12700" cmpd="sng">
                      <a:noFill/>
                      <a:prstDash val="solid"/>
                    </a:lnTlToBr>
                    <a:solidFill>
                      <a:srgbClr val="C7E4E1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/>
          </p:nvPr>
        </p:nvGraphicFramePr>
        <p:xfrm>
          <a:off x="6712916" y="4049679"/>
          <a:ext cx="1495612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561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rgbClr val="9FCEC7">
                        <a:alpha val="3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rgbClr val="9FCEC7">
                        <a:alpha val="3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rgbClr val="9FCEC7">
                        <a:alpha val="3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rgbClr val="9FCEC7">
                        <a:alpha val="3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solidFill>
                      <a:srgbClr val="9FCEC7">
                        <a:alpha val="3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cap="none" spc="0" dirty="0">
                        <a:ln w="0"/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TlToBr w="12700" cmpd="sng">
                      <a:noFill/>
                      <a:prstDash val="solid"/>
                    </a:lnTlToBr>
                    <a:solidFill>
                      <a:srgbClr val="9FCEC7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36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3062530" y="712476"/>
            <a:ext cx="2807335" cy="1143073"/>
          </a:xfrm>
          <a:prstGeom prst="rect">
            <a:avLst/>
          </a:prstGeom>
          <a:ln w="12700"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200" kern="100">
                <a:solidFill>
                  <a:srgbClr val="000000"/>
                </a:solidFill>
                <a:effectLst/>
                <a:ea typeface="宋体" charset="0"/>
                <a:cs typeface="Times New Roman" charset="0"/>
              </a:rPr>
              <a:t> </a:t>
            </a:r>
            <a:endParaRPr lang="zh-CN" sz="1200" kern="10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3255572" y="867416"/>
            <a:ext cx="2439032" cy="83439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JOB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50915" y="1201447"/>
            <a:ext cx="1194967" cy="33083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ANSWER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3340024" y="1179201"/>
            <a:ext cx="1305559" cy="431800"/>
          </a:xfrm>
          <a:prstGeom prst="rect">
            <a:avLst/>
          </a:prstGeom>
          <a:pattFill prst="pct10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STATIC DATA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4714164" y="1179201"/>
            <a:ext cx="911860" cy="431800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 smtClean="0">
                <a:effectLst/>
                <a:ea typeface="宋体" charset="0"/>
                <a:cs typeface="Times New Roman" charset="0"/>
              </a:rPr>
              <a:t>DYNAMIC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12" name="直线箭头连接符 11"/>
          <p:cNvCxnSpPr>
            <a:cxnSpLocks noChangeShapeType="1"/>
          </p:cNvCxnSpPr>
          <p:nvPr/>
        </p:nvCxnSpPr>
        <p:spPr bwMode="auto">
          <a:xfrm flipV="1">
            <a:off x="2082725" y="1401451"/>
            <a:ext cx="1172847" cy="254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13" name="文本框 12"/>
          <p:cNvSpPr txBox="1"/>
          <p:nvPr/>
        </p:nvSpPr>
        <p:spPr>
          <a:xfrm>
            <a:off x="1200056" y="1209954"/>
            <a:ext cx="1172846" cy="25273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QUERY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14" name="直线箭头连接符 13"/>
          <p:cNvCxnSpPr>
            <a:cxnSpLocks noChangeShapeType="1"/>
          </p:cNvCxnSpPr>
          <p:nvPr/>
        </p:nvCxnSpPr>
        <p:spPr bwMode="auto">
          <a:xfrm>
            <a:off x="5694604" y="1401451"/>
            <a:ext cx="995046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grpSp>
        <p:nvGrpSpPr>
          <p:cNvPr id="15" name="组 14"/>
          <p:cNvGrpSpPr/>
          <p:nvPr/>
        </p:nvGrpSpPr>
        <p:grpSpPr>
          <a:xfrm>
            <a:off x="3255571" y="832838"/>
            <a:ext cx="2507613" cy="919038"/>
            <a:chOff x="3269018" y="483215"/>
            <a:chExt cx="2507613" cy="919038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69018" y="483215"/>
              <a:ext cx="2507613" cy="902348"/>
            </a:xfrm>
            <a:prstGeom prst="rect">
              <a:avLst/>
            </a:prstGeom>
          </p:spPr>
        </p:pic>
        <p:grpSp>
          <p:nvGrpSpPr>
            <p:cNvPr id="17" name="组 16"/>
            <p:cNvGrpSpPr/>
            <p:nvPr/>
          </p:nvGrpSpPr>
          <p:grpSpPr>
            <a:xfrm>
              <a:off x="3277377" y="547802"/>
              <a:ext cx="2490894" cy="854451"/>
              <a:chOff x="3250474" y="565690"/>
              <a:chExt cx="2490894" cy="854451"/>
            </a:xfrm>
          </p:grpSpPr>
          <p:cxnSp>
            <p:nvCxnSpPr>
              <p:cNvPr id="18" name="直线箭头连接符 17"/>
              <p:cNvCxnSpPr>
                <a:cxnSpLocks noChangeShapeType="1"/>
              </p:cNvCxnSpPr>
              <p:nvPr/>
            </p:nvCxnSpPr>
            <p:spPr bwMode="auto">
              <a:xfrm>
                <a:off x="4355663" y="1060540"/>
                <a:ext cx="317075" cy="1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prstDash val="lgDash"/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40000" dist="20000" dir="5400000" rotWithShape="0">
                        <a:srgbClr val="000000">
                          <a:alpha val="37999"/>
                        </a:srgbClr>
                      </a:outerShdw>
                    </a:effectLst>
                  </a14:hiddenEffects>
                </a:ext>
                <a:ext uri="{FAA26D3D-D897-4be2-8F04-BA451C77F1D7}">
                  <ma14:placeholderFlag xmlns:ma14="http://schemas.microsoft.com/office/mac/drawingml/2011/main"/>
                </a:ext>
                <a:ext uri="{C572A759-6A51-4108-AA02-DFA0A04FC94B}">
                  <ma14:wrappingTextBoxFlag xmlns:ma14="http://schemas.microsoft.com/office/mac/drawingml/2011/main"/>
                </a:ext>
              </a:extLst>
            </p:spPr>
          </p:cxnSp>
          <p:sp>
            <p:nvSpPr>
              <p:cNvPr id="19" name="矩形 18"/>
              <p:cNvSpPr>
                <a:spLocks noChangeArrowheads="1"/>
              </p:cNvSpPr>
              <p:nvPr/>
            </p:nvSpPr>
            <p:spPr bwMode="auto">
              <a:xfrm>
                <a:off x="3250474" y="572416"/>
                <a:ext cx="1073150" cy="847725"/>
              </a:xfrm>
              <a:prstGeom prst="rect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vert="horz" wrap="square" lIns="91440" tIns="0" rIns="91440" bIns="4572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600" kern="100" dirty="0" smtClean="0">
                    <a:ea typeface="宋体" charset="0"/>
                    <a:cs typeface="Times New Roman" charset="0"/>
                  </a:rPr>
                  <a:t>DL</a:t>
                </a:r>
                <a:endParaRPr lang="zh-CN" sz="1600" kern="100" dirty="0">
                  <a:effectLst/>
                  <a:ea typeface="宋体" charset="0"/>
                  <a:cs typeface="Times New Roman" charset="0"/>
                </a:endParaRPr>
              </a:p>
            </p:txBody>
          </p:sp>
          <p:sp>
            <p:nvSpPr>
              <p:cNvPr id="20" name="矩形 19"/>
              <p:cNvSpPr>
                <a:spLocks noChangeArrowheads="1"/>
              </p:cNvSpPr>
              <p:nvPr/>
            </p:nvSpPr>
            <p:spPr bwMode="auto">
              <a:xfrm>
                <a:off x="3309596" y="838388"/>
                <a:ext cx="943142" cy="524846"/>
              </a:xfrm>
              <a:prstGeom prst="rect">
                <a:avLst/>
              </a:prstGeom>
              <a:pattFill prst="pct10">
                <a:fgClr>
                  <a:schemeClr val="bg1">
                    <a:lumMod val="75000"/>
                  </a:schemeClr>
                </a:fgClr>
                <a:bgClr>
                  <a:schemeClr val="bg1"/>
                </a:bgClr>
              </a:pattFill>
              <a:ln>
                <a:solidFill>
                  <a:schemeClr val="bg1">
                    <a:lumMod val="75000"/>
                  </a:schemeClr>
                </a:solidFill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400" kern="100" dirty="0">
                    <a:solidFill>
                      <a:srgbClr val="000000"/>
                    </a:solidFill>
                    <a:effectLst/>
                    <a:ea typeface="宋体" charset="0"/>
                    <a:cs typeface="Times New Roman" charset="0"/>
                  </a:rPr>
                  <a:t>STATIC DATA</a:t>
                </a:r>
                <a:endParaRPr lang="zh-CN" sz="1400" kern="100" dirty="0">
                  <a:effectLst/>
                  <a:ea typeface="宋体" charset="0"/>
                  <a:cs typeface="Times New Roman" charset="0"/>
                </a:endParaRPr>
              </a:p>
            </p:txBody>
          </p:sp>
          <p:sp>
            <p:nvSpPr>
              <p:cNvPr id="21" name="矩形 20"/>
              <p:cNvSpPr>
                <a:spLocks noChangeArrowheads="1"/>
              </p:cNvSpPr>
              <p:nvPr/>
            </p:nvSpPr>
            <p:spPr bwMode="auto">
              <a:xfrm>
                <a:off x="4668218" y="565690"/>
                <a:ext cx="1073150" cy="847725"/>
              </a:xfrm>
              <a:prstGeom prst="rect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vert="horz" wrap="square" lIns="91440" tIns="0" rIns="91440" bIns="4572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 sz="1600" kern="100" dirty="0" smtClean="0">
                    <a:ea typeface="宋体" charset="0"/>
                    <a:cs typeface="Times New Roman" charset="0"/>
                  </a:rPr>
                  <a:t>QP</a:t>
                </a:r>
                <a:endParaRPr lang="zh-CN" sz="1600" kern="100" dirty="0">
                  <a:effectLst/>
                  <a:ea typeface="宋体" charset="0"/>
                  <a:cs typeface="Times New Roman" charset="0"/>
                </a:endParaRPr>
              </a:p>
            </p:txBody>
          </p:sp>
          <p:sp>
            <p:nvSpPr>
              <p:cNvPr id="22" name="矩形 21"/>
              <p:cNvSpPr>
                <a:spLocks noChangeArrowheads="1"/>
              </p:cNvSpPr>
              <p:nvPr/>
            </p:nvSpPr>
            <p:spPr bwMode="auto">
              <a:xfrm>
                <a:off x="4753625" y="838388"/>
                <a:ext cx="902336" cy="524846"/>
              </a:xfrm>
              <a:prstGeom prst="rect">
                <a:avLst/>
              </a:prstGeom>
              <a:pattFill prst="ltUpDiag">
                <a:fgClr>
                  <a:schemeClr val="bg1">
                    <a:lumMod val="75000"/>
                  </a:schemeClr>
                </a:fgClr>
                <a:bgClr>
                  <a:schemeClr val="bg1"/>
                </a:bgClr>
              </a:pattFill>
              <a:ln>
                <a:solidFill>
                  <a:schemeClr val="bg1">
                    <a:lumMod val="75000"/>
                  </a:schemeClr>
                </a:solidFill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vert="horz" wrap="square" lIns="91440" tIns="0" rIns="91440" bIns="0" anchor="ctr" anchorCtr="0" upright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400" kern="100" dirty="0">
                    <a:effectLst/>
                    <a:ea typeface="宋体" charset="0"/>
                    <a:cs typeface="Times New Roman" charset="0"/>
                  </a:rPr>
                  <a:t>DYNAMIC DATA</a:t>
                </a:r>
                <a:endParaRPr lang="zh-CN" sz="1400" kern="100" dirty="0">
                  <a:effectLst/>
                  <a:ea typeface="宋体" charset="0"/>
                  <a:cs typeface="Times New Roman" charset="0"/>
                </a:endParaRPr>
              </a:p>
            </p:txBody>
          </p:sp>
        </p:grpSp>
      </p:grpSp>
      <p:sp>
        <p:nvSpPr>
          <p:cNvPr id="23" name="矩形 22"/>
          <p:cNvSpPr/>
          <p:nvPr/>
        </p:nvSpPr>
        <p:spPr>
          <a:xfrm>
            <a:off x="1288306" y="5355640"/>
            <a:ext cx="34258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9F3230"/>
                </a:solidFill>
              </a:rPr>
              <a:t>2</a:t>
            </a:r>
            <a:r>
              <a:rPr lang="en-US" altLang="zh-CN" sz="2400" dirty="0" smtClean="0">
                <a:solidFill>
                  <a:srgbClr val="9F3230"/>
                </a:solidFill>
              </a:rPr>
              <a:t>.</a:t>
            </a:r>
            <a:r>
              <a:rPr lang="zh-CN" altLang="en-US" sz="2400" dirty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Using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the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API.</a:t>
            </a:r>
            <a:endParaRPr lang="zh-CN" altLang="en-US" sz="2400" dirty="0">
              <a:solidFill>
                <a:srgbClr val="9F323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580418" y="1392275"/>
            <a:ext cx="34082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Add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Apis</a:t>
            </a:r>
            <a:r>
              <a:rPr kumimoji="1" lang="en-US" altLang="zh-CN" dirty="0" smtClean="0"/>
              <a:t>.</a:t>
            </a:r>
            <a:endParaRPr kumimoji="1" lang="zh-CN" altLang="en-US" dirty="0" smtClean="0"/>
          </a:p>
          <a:p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1927859" y="3336609"/>
            <a:ext cx="2174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i="1" dirty="0" smtClean="0"/>
              <a:t>loadData</a:t>
            </a:r>
            <a:endParaRPr kumimoji="1" lang="zh-CN" altLang="en-US" sz="2400" i="1" dirty="0"/>
          </a:p>
        </p:txBody>
      </p:sp>
      <p:cxnSp>
        <p:nvCxnSpPr>
          <p:cNvPr id="30" name="直线连接符 29"/>
          <p:cNvCxnSpPr/>
          <p:nvPr/>
        </p:nvCxnSpPr>
        <p:spPr>
          <a:xfrm>
            <a:off x="1786479" y="3798274"/>
            <a:ext cx="1469092" cy="0"/>
          </a:xfrm>
          <a:prstGeom prst="line">
            <a:avLst/>
          </a:prstGeom>
          <a:ln w="34925">
            <a:solidFill>
              <a:srgbClr val="343D4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3255571" y="3285318"/>
            <a:ext cx="1458593" cy="1025912"/>
          </a:xfrm>
          <a:prstGeom prst="ellipse">
            <a:avLst/>
          </a:prstGeom>
          <a:solidFill>
            <a:srgbClr val="6C8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 smtClean="0"/>
              <a:t>Static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Data</a:t>
            </a:r>
            <a:endParaRPr kumimoji="1" lang="zh-CN" altLang="en-US" sz="2400" dirty="0"/>
          </a:p>
        </p:txBody>
      </p:sp>
      <p:sp>
        <p:nvSpPr>
          <p:cNvPr id="35" name="任意形状 34"/>
          <p:cNvSpPr/>
          <p:nvPr/>
        </p:nvSpPr>
        <p:spPr>
          <a:xfrm>
            <a:off x="1786479" y="2556023"/>
            <a:ext cx="1064734" cy="2230244"/>
          </a:xfrm>
          <a:custGeom>
            <a:avLst/>
            <a:gdLst>
              <a:gd name="connsiteX0" fmla="*/ 1064734 w 1064734"/>
              <a:gd name="connsiteY0" fmla="*/ 0 h 2230244"/>
              <a:gd name="connsiteX1" fmla="*/ 239544 w 1064734"/>
              <a:gd name="connsiteY1" fmla="*/ 356839 h 2230244"/>
              <a:gd name="connsiteX2" fmla="*/ 16520 w 1064734"/>
              <a:gd name="connsiteY2" fmla="*/ 1226635 h 2230244"/>
              <a:gd name="connsiteX3" fmla="*/ 16520 w 1064734"/>
              <a:gd name="connsiteY3" fmla="*/ 2230244 h 2230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4734" h="2230244">
                <a:moveTo>
                  <a:pt x="1064734" y="0"/>
                </a:moveTo>
                <a:cubicBezTo>
                  <a:pt x="739490" y="76200"/>
                  <a:pt x="414246" y="152400"/>
                  <a:pt x="239544" y="356839"/>
                </a:cubicBezTo>
                <a:cubicBezTo>
                  <a:pt x="64842" y="561278"/>
                  <a:pt x="53691" y="914401"/>
                  <a:pt x="16520" y="1226635"/>
                </a:cubicBezTo>
                <a:cubicBezTo>
                  <a:pt x="-20651" y="1538869"/>
                  <a:pt x="16520" y="2230244"/>
                  <a:pt x="16520" y="2230244"/>
                </a:cubicBezTo>
              </a:path>
            </a:pathLst>
          </a:custGeom>
          <a:noFill/>
          <a:ln w="34925">
            <a:solidFill>
              <a:srgbClr val="343D40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7" name="直线连接符 36"/>
          <p:cNvCxnSpPr/>
          <p:nvPr/>
        </p:nvCxnSpPr>
        <p:spPr>
          <a:xfrm flipH="1">
            <a:off x="4714164" y="3671145"/>
            <a:ext cx="2223185" cy="0"/>
          </a:xfrm>
          <a:prstGeom prst="line">
            <a:avLst/>
          </a:prstGeom>
          <a:ln w="34925">
            <a:solidFill>
              <a:srgbClr val="546D6D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5325834" y="3217720"/>
            <a:ext cx="2174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i="1" dirty="0" err="1" smtClean="0"/>
              <a:t>getInt</a:t>
            </a:r>
            <a:endParaRPr kumimoji="1" lang="zh-CN" altLang="en-US" sz="2400" i="1" dirty="0"/>
          </a:p>
        </p:txBody>
      </p:sp>
      <p:sp>
        <p:nvSpPr>
          <p:cNvPr id="44" name="任意形状 43"/>
          <p:cNvSpPr/>
          <p:nvPr/>
        </p:nvSpPr>
        <p:spPr>
          <a:xfrm>
            <a:off x="6559420" y="2623395"/>
            <a:ext cx="1003610" cy="3702204"/>
          </a:xfrm>
          <a:custGeom>
            <a:avLst/>
            <a:gdLst>
              <a:gd name="connsiteX0" fmla="*/ 0 w 1003610"/>
              <a:gd name="connsiteY0" fmla="*/ 0 h 3702204"/>
              <a:gd name="connsiteX1" fmla="*/ 602166 w 1003610"/>
              <a:gd name="connsiteY1" fmla="*/ 289931 h 3702204"/>
              <a:gd name="connsiteX2" fmla="*/ 847493 w 1003610"/>
              <a:gd name="connsiteY2" fmla="*/ 780585 h 3702204"/>
              <a:gd name="connsiteX3" fmla="*/ 959005 w 1003610"/>
              <a:gd name="connsiteY3" fmla="*/ 2007219 h 3702204"/>
              <a:gd name="connsiteX4" fmla="*/ 1003610 w 1003610"/>
              <a:gd name="connsiteY4" fmla="*/ 3702204 h 3702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610" h="3702204">
                <a:moveTo>
                  <a:pt x="0" y="0"/>
                </a:moveTo>
                <a:cubicBezTo>
                  <a:pt x="230458" y="79917"/>
                  <a:pt x="460917" y="159834"/>
                  <a:pt x="602166" y="289931"/>
                </a:cubicBezTo>
                <a:cubicBezTo>
                  <a:pt x="743415" y="420029"/>
                  <a:pt x="788020" y="494370"/>
                  <a:pt x="847493" y="780585"/>
                </a:cubicBezTo>
                <a:cubicBezTo>
                  <a:pt x="906966" y="1066800"/>
                  <a:pt x="932986" y="1520283"/>
                  <a:pt x="959005" y="2007219"/>
                </a:cubicBezTo>
                <a:cubicBezTo>
                  <a:pt x="985024" y="2494155"/>
                  <a:pt x="1003610" y="3702204"/>
                  <a:pt x="1003610" y="3702204"/>
                </a:cubicBezTo>
              </a:path>
            </a:pathLst>
          </a:custGeom>
          <a:noFill/>
          <a:ln w="34925">
            <a:solidFill>
              <a:srgbClr val="343D40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4999611" y="3976334"/>
            <a:ext cx="24669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/>
              <a:t>getFromVectorInt</a:t>
            </a:r>
            <a:endParaRPr kumimoji="1" lang="zh-CN" altLang="en-US" sz="2400" i="1" dirty="0"/>
          </a:p>
        </p:txBody>
      </p:sp>
      <p:cxnSp>
        <p:nvCxnSpPr>
          <p:cNvPr id="59" name="直线连接符 58"/>
          <p:cNvCxnSpPr/>
          <p:nvPr/>
        </p:nvCxnSpPr>
        <p:spPr>
          <a:xfrm flipH="1">
            <a:off x="4714165" y="3979662"/>
            <a:ext cx="2786304" cy="0"/>
          </a:xfrm>
          <a:prstGeom prst="line">
            <a:avLst/>
          </a:prstGeom>
          <a:ln w="34925">
            <a:solidFill>
              <a:srgbClr val="343D4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6557029" y="2134545"/>
            <a:ext cx="985009" cy="488850"/>
          </a:xfrm>
          <a:prstGeom prst="rect">
            <a:avLst/>
          </a:prstGeom>
          <a:solidFill>
            <a:srgbClr val="8AC5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 smtClean="0"/>
              <a:t>QP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/>
              <a:t>2</a:t>
            </a:r>
            <a:endParaRPr kumimoji="1" lang="zh-CN" altLang="en-US" sz="2400" dirty="0"/>
          </a:p>
        </p:txBody>
      </p:sp>
      <p:sp>
        <p:nvSpPr>
          <p:cNvPr id="34" name="任意形状 33"/>
          <p:cNvSpPr/>
          <p:nvPr/>
        </p:nvSpPr>
        <p:spPr>
          <a:xfrm>
            <a:off x="6156298" y="2605094"/>
            <a:ext cx="849276" cy="2720898"/>
          </a:xfrm>
          <a:custGeom>
            <a:avLst/>
            <a:gdLst>
              <a:gd name="connsiteX0" fmla="*/ 0 w 849276"/>
              <a:gd name="connsiteY0" fmla="*/ 0 h 2720898"/>
              <a:gd name="connsiteX1" fmla="*/ 646770 w 849276"/>
              <a:gd name="connsiteY1" fmla="*/ 468351 h 2720898"/>
              <a:gd name="connsiteX2" fmla="*/ 825190 w 849276"/>
              <a:gd name="connsiteY2" fmla="*/ 1271239 h 2720898"/>
              <a:gd name="connsiteX3" fmla="*/ 847492 w 849276"/>
              <a:gd name="connsiteY3" fmla="*/ 2720898 h 2720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9276" h="2720898">
                <a:moveTo>
                  <a:pt x="0" y="0"/>
                </a:moveTo>
                <a:cubicBezTo>
                  <a:pt x="254619" y="128239"/>
                  <a:pt x="509238" y="256478"/>
                  <a:pt x="646770" y="468351"/>
                </a:cubicBezTo>
                <a:cubicBezTo>
                  <a:pt x="784302" y="680224"/>
                  <a:pt x="791736" y="895815"/>
                  <a:pt x="825190" y="1271239"/>
                </a:cubicBezTo>
                <a:cubicBezTo>
                  <a:pt x="858644" y="1646663"/>
                  <a:pt x="847492" y="2720898"/>
                  <a:pt x="847492" y="2720898"/>
                </a:cubicBezTo>
              </a:path>
            </a:pathLst>
          </a:custGeom>
          <a:noFill/>
          <a:ln w="34925">
            <a:solidFill>
              <a:srgbClr val="546D6D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5168898" y="2134545"/>
            <a:ext cx="985009" cy="488850"/>
          </a:xfrm>
          <a:prstGeom prst="rect">
            <a:avLst/>
          </a:prstGeom>
          <a:solidFill>
            <a:srgbClr val="8AC5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 smtClean="0"/>
              <a:t>QP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1</a:t>
            </a:r>
            <a:endParaRPr kumimoji="1" lang="zh-CN" altLang="en-US" sz="2400" dirty="0"/>
          </a:p>
        </p:txBody>
      </p:sp>
      <p:sp>
        <p:nvSpPr>
          <p:cNvPr id="38" name="矩形 37"/>
          <p:cNvSpPr/>
          <p:nvPr/>
        </p:nvSpPr>
        <p:spPr>
          <a:xfrm>
            <a:off x="1866204" y="2051540"/>
            <a:ext cx="985009" cy="488850"/>
          </a:xfrm>
          <a:prstGeom prst="rect">
            <a:avLst/>
          </a:prstGeom>
          <a:solidFill>
            <a:srgbClr val="8AC5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 smtClean="0"/>
              <a:t>DL</a:t>
            </a:r>
            <a:endParaRPr kumimoji="1" lang="zh-CN" altLang="en-US" sz="2400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899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31" grpId="0" animBg="1"/>
      <p:bldP spid="35" grpId="0" animBg="1"/>
      <p:bldP spid="41" grpId="0"/>
      <p:bldP spid="44" grpId="0" animBg="1"/>
      <p:bldP spid="61" grpId="0" animBg="1"/>
      <p:bldP spid="32" grpId="0" animBg="1"/>
      <p:bldP spid="34" grpId="0" animBg="1"/>
      <p:bldP spid="36" grpId="0" animBg="1"/>
      <p:bldP spid="3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228839" y="273186"/>
            <a:ext cx="7886700" cy="579864"/>
          </a:xfrm>
          <a:noFill/>
          <a:ln w="22225">
            <a:noFill/>
          </a:ln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altLang="zh-CN" sz="3200" dirty="0" smtClean="0">
                <a:solidFill>
                  <a:srgbClr val="393D42"/>
                </a:solidFill>
              </a:rPr>
              <a:t>Application</a:t>
            </a:r>
            <a:r>
              <a:rPr lang="zh-CN" altLang="en-US" sz="3200" dirty="0" smtClean="0">
                <a:solidFill>
                  <a:srgbClr val="393D42"/>
                </a:solidFill>
              </a:rPr>
              <a:t> </a:t>
            </a:r>
            <a:r>
              <a:rPr lang="en-US" altLang="zh-CN" sz="3200" dirty="0" smtClean="0">
                <a:solidFill>
                  <a:srgbClr val="393D42"/>
                </a:solidFill>
              </a:rPr>
              <a:t>examples</a:t>
            </a:r>
            <a:endParaRPr lang="zh-CN" altLang="en-US" sz="3200" dirty="0">
              <a:solidFill>
                <a:srgbClr val="393D42"/>
              </a:solidFill>
            </a:endParaRPr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988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3095497" y="2871537"/>
            <a:ext cx="2807335" cy="1143073"/>
          </a:xfrm>
          <a:prstGeom prst="rect">
            <a:avLst/>
          </a:prstGeom>
          <a:ln w="12700"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200" kern="100">
                <a:solidFill>
                  <a:srgbClr val="000000"/>
                </a:solidFill>
                <a:effectLst/>
                <a:ea typeface="宋体" charset="0"/>
                <a:cs typeface="Times New Roman" charset="0"/>
              </a:rPr>
              <a:t> </a:t>
            </a:r>
            <a:endParaRPr lang="zh-CN" sz="1200" kern="10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83882" y="3360508"/>
            <a:ext cx="1194967" cy="33083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ANSWER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3372991" y="3338262"/>
            <a:ext cx="1305559" cy="431800"/>
          </a:xfrm>
          <a:prstGeom prst="rect">
            <a:avLst/>
          </a:prstGeom>
          <a:pattFill prst="pct10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STATIC DATA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747131" y="3338262"/>
            <a:ext cx="911860" cy="431800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 smtClean="0">
                <a:effectLst/>
                <a:ea typeface="宋体" charset="0"/>
                <a:cs typeface="Times New Roman" charset="0"/>
              </a:rPr>
              <a:t>DYNAMIC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9" name="直线箭头连接符 8"/>
          <p:cNvCxnSpPr>
            <a:cxnSpLocks noChangeShapeType="1"/>
          </p:cNvCxnSpPr>
          <p:nvPr/>
        </p:nvCxnSpPr>
        <p:spPr bwMode="auto">
          <a:xfrm>
            <a:off x="5727571" y="3560512"/>
            <a:ext cx="995046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11" name="文本框 10"/>
          <p:cNvSpPr txBox="1"/>
          <p:nvPr/>
        </p:nvSpPr>
        <p:spPr>
          <a:xfrm>
            <a:off x="1233023" y="3369015"/>
            <a:ext cx="1172846" cy="25273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QUERY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3288539" y="3026477"/>
            <a:ext cx="2439032" cy="83439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JOB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20" name="线形标注 1 19"/>
          <p:cNvSpPr/>
          <p:nvPr/>
        </p:nvSpPr>
        <p:spPr>
          <a:xfrm>
            <a:off x="2244353" y="1577057"/>
            <a:ext cx="4318679" cy="949992"/>
          </a:xfrm>
          <a:prstGeom prst="borderCallout1">
            <a:avLst>
              <a:gd name="adj1" fmla="val 99395"/>
              <a:gd name="adj2" fmla="val 53705"/>
              <a:gd name="adj3" fmla="val 187379"/>
              <a:gd name="adj4" fmla="val 40165"/>
            </a:avLst>
          </a:prstGeom>
          <a:noFill/>
          <a:ln w="25400"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rgbClr val="9F3230"/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altLang="zh-CN" sz="2000" kern="50" dirty="0">
                <a:solidFill>
                  <a:schemeClr val="tx1"/>
                </a:solidFill>
                <a:ea typeface="DejaVu Sans" charset="0"/>
              </a:rPr>
              <a:t>A massive information network</a:t>
            </a:r>
            <a:r>
              <a:rPr lang="en-US" altLang="zh-CN" sz="2000" kern="50" dirty="0">
                <a:solidFill>
                  <a:schemeClr val="tx1"/>
                </a:solidFill>
                <a:ea typeface="DejaVu Sans" charset="0"/>
              </a:rPr>
              <a:t>:</a:t>
            </a:r>
            <a:r>
              <a:rPr lang="zh-CN" altLang="en-US" sz="2000" kern="50" dirty="0">
                <a:solidFill>
                  <a:schemeClr val="tx1"/>
                </a:solidFill>
                <a:ea typeface="DejaVu Sans" charset="0"/>
              </a:rPr>
              <a:t> </a:t>
            </a:r>
            <a:r>
              <a:rPr lang="en-GB" altLang="zh-CN" sz="2000" kern="50" dirty="0" err="1">
                <a:solidFill>
                  <a:schemeClr val="tx1"/>
                </a:solidFill>
                <a:ea typeface="DejaVu Sans" charset="0"/>
              </a:rPr>
              <a:t>labeled</a:t>
            </a:r>
            <a:r>
              <a:rPr lang="en-GB" altLang="zh-CN" sz="2000" kern="50" dirty="0">
                <a:solidFill>
                  <a:schemeClr val="tx1"/>
                </a:solidFill>
                <a:ea typeface="DejaVu Sans" charset="0"/>
              </a:rPr>
              <a:t> entities and </a:t>
            </a:r>
            <a:r>
              <a:rPr lang="en-US" altLang="zh-CN" sz="2000" kern="50" dirty="0" smtClean="0">
                <a:solidFill>
                  <a:schemeClr val="tx1"/>
                </a:solidFill>
                <a:ea typeface="DejaVu Sans" charset="0"/>
              </a:rPr>
              <a:t>their</a:t>
            </a:r>
            <a:r>
              <a:rPr lang="en-GB" altLang="zh-CN" sz="2000" kern="50" dirty="0" smtClean="0">
                <a:solidFill>
                  <a:schemeClr val="tx1"/>
                </a:solidFill>
                <a:ea typeface="DejaVu Sans" charset="0"/>
              </a:rPr>
              <a:t> relationships</a:t>
            </a:r>
            <a:r>
              <a:rPr lang="en-US" altLang="zh-CN" sz="2000" kern="50" dirty="0" smtClean="0">
                <a:solidFill>
                  <a:schemeClr val="tx1"/>
                </a:solidFill>
                <a:ea typeface="DejaVu Sans" charset="0"/>
              </a:rPr>
              <a:t>.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3372991" y="3344612"/>
            <a:ext cx="1305559" cy="431800"/>
          </a:xfrm>
          <a:prstGeom prst="rect">
            <a:avLst/>
          </a:prstGeom>
          <a:noFill/>
          <a:ln w="31750"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rgbClr val="9F3230"/>
                </a:gs>
              </a:gsLst>
              <a:path path="circle">
                <a:fillToRect l="50000" t="-80000" r="50000" b="180000"/>
              </a:path>
              <a:tileRect/>
            </a:gra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23" name="线形标注 1 22"/>
          <p:cNvSpPr/>
          <p:nvPr/>
        </p:nvSpPr>
        <p:spPr>
          <a:xfrm>
            <a:off x="697276" y="4459037"/>
            <a:ext cx="2719609" cy="868911"/>
          </a:xfrm>
          <a:prstGeom prst="borderCallout1">
            <a:avLst>
              <a:gd name="adj1" fmla="val -97651"/>
              <a:gd name="adj2" fmla="val 35203"/>
              <a:gd name="adj3" fmla="val 293"/>
              <a:gd name="adj4" fmla="val 46365"/>
            </a:avLst>
          </a:prstGeom>
          <a:noFill/>
          <a:ln w="25400"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rgbClr val="546D6D"/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kern="50" dirty="0" smtClean="0">
                <a:solidFill>
                  <a:schemeClr val="tx1"/>
                </a:solidFill>
                <a:ea typeface="DejaVu Sans" charset="0"/>
              </a:rPr>
              <a:t>A</a:t>
            </a:r>
            <a:r>
              <a:rPr lang="en-GB" altLang="zh-CN" sz="2000" kern="50" dirty="0" smtClean="0">
                <a:solidFill>
                  <a:schemeClr val="tx1"/>
                </a:solidFill>
                <a:ea typeface="DejaVu Sans" charset="0"/>
              </a:rPr>
              <a:t>n </a:t>
            </a:r>
            <a:r>
              <a:rPr lang="en-GB" altLang="zh-CN" sz="2000" kern="50" dirty="0">
                <a:solidFill>
                  <a:schemeClr val="tx1"/>
                </a:solidFill>
                <a:ea typeface="DejaVu Sans" charset="0"/>
              </a:rPr>
              <a:t>unknown entity </a:t>
            </a:r>
            <a:r>
              <a:rPr lang="en-US" altLang="zh-CN" sz="2000" kern="50" dirty="0" smtClean="0">
                <a:solidFill>
                  <a:schemeClr val="tx1"/>
                </a:solidFill>
                <a:ea typeface="DejaVu Sans" charset="0"/>
              </a:rPr>
              <a:t>and</a:t>
            </a:r>
            <a:r>
              <a:rPr lang="zh-CN" altLang="en-US" sz="2000" kern="50" dirty="0" smtClean="0">
                <a:solidFill>
                  <a:schemeClr val="tx1"/>
                </a:solidFill>
                <a:ea typeface="DejaVu Sans" charset="0"/>
              </a:rPr>
              <a:t> </a:t>
            </a:r>
            <a:r>
              <a:rPr lang="en-GB" altLang="zh-CN" sz="2000" kern="50" dirty="0" smtClean="0">
                <a:solidFill>
                  <a:schemeClr val="tx1"/>
                </a:solidFill>
                <a:ea typeface="DejaVu Sans" charset="0"/>
              </a:rPr>
              <a:t>known facts</a:t>
            </a:r>
            <a:r>
              <a:rPr lang="en-US" altLang="zh-CN" sz="2000" kern="50" dirty="0" smtClean="0">
                <a:solidFill>
                  <a:schemeClr val="tx1"/>
                </a:solidFill>
                <a:ea typeface="DejaVu Sans" charset="0"/>
              </a:rPr>
              <a:t>.</a:t>
            </a:r>
            <a:r>
              <a:rPr lang="zh-CN" altLang="zh-CN" sz="2000" dirty="0" smtClean="0">
                <a:solidFill>
                  <a:schemeClr val="tx1"/>
                </a:solidFill>
              </a:rPr>
              <a:t> 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7" name="线形标注 1 26"/>
          <p:cNvSpPr/>
          <p:nvPr/>
        </p:nvSpPr>
        <p:spPr>
          <a:xfrm>
            <a:off x="5324077" y="4894392"/>
            <a:ext cx="2719609" cy="868911"/>
          </a:xfrm>
          <a:prstGeom prst="borderCallout1">
            <a:avLst>
              <a:gd name="adj1" fmla="val -140085"/>
              <a:gd name="adj2" fmla="val 69368"/>
              <a:gd name="adj3" fmla="val 293"/>
              <a:gd name="adj4" fmla="val 46365"/>
            </a:avLst>
          </a:prstGeom>
          <a:noFill/>
          <a:ln w="25400"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rgbClr val="D4756F"/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chemeClr val="tx1"/>
                </a:solidFill>
              </a:rPr>
              <a:t>Best</a:t>
            </a:r>
            <a:r>
              <a:rPr lang="zh-CN" altLang="en-US" sz="2000" dirty="0" smtClean="0">
                <a:solidFill>
                  <a:schemeClr val="tx1"/>
                </a:solidFill>
              </a:rPr>
              <a:t> </a:t>
            </a:r>
            <a:r>
              <a:rPr lang="en-GB" altLang="zh-CN" sz="2000" i="1" dirty="0" smtClean="0">
                <a:solidFill>
                  <a:schemeClr val="tx1"/>
                </a:solidFill>
              </a:rPr>
              <a:t>k</a:t>
            </a:r>
            <a:r>
              <a:rPr lang="en-GB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answer</a:t>
            </a:r>
            <a:r>
              <a:rPr lang="en-GB" altLang="zh-CN" sz="2000" dirty="0" smtClean="0">
                <a:solidFill>
                  <a:schemeClr val="tx1"/>
                </a:solidFill>
              </a:rPr>
              <a:t>s </a:t>
            </a:r>
            <a:r>
              <a:rPr lang="en-GB" altLang="zh-CN" sz="2000" dirty="0">
                <a:solidFill>
                  <a:schemeClr val="tx1"/>
                </a:solidFill>
              </a:rPr>
              <a:t>that are the most </a:t>
            </a:r>
            <a:r>
              <a:rPr lang="en-GB" altLang="zh-CN" sz="2000" dirty="0" smtClean="0">
                <a:solidFill>
                  <a:schemeClr val="tx1"/>
                </a:solidFill>
              </a:rPr>
              <a:t>relevant</a:t>
            </a:r>
            <a:r>
              <a:rPr lang="en-US" altLang="zh-CN" sz="2000" dirty="0" smtClean="0">
                <a:solidFill>
                  <a:schemeClr val="tx1"/>
                </a:solidFill>
              </a:rPr>
              <a:t>.</a:t>
            </a:r>
            <a:r>
              <a:rPr lang="zh-CN" altLang="zh-CN" sz="2000" dirty="0" smtClean="0">
                <a:solidFill>
                  <a:schemeClr val="tx1"/>
                </a:solidFill>
              </a:rPr>
              <a:t> 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239707" y="3360508"/>
            <a:ext cx="1172846" cy="2527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b="1" kern="100" dirty="0">
                <a:solidFill>
                  <a:srgbClr val="546D6D"/>
                </a:solidFill>
                <a:effectLst/>
                <a:ea typeface="宋体" charset="0"/>
                <a:cs typeface="Times New Roman" charset="0"/>
              </a:rPr>
              <a:t>QUERY 1</a:t>
            </a:r>
            <a:endParaRPr lang="zh-CN" sz="1600" b="1" kern="100" dirty="0">
              <a:solidFill>
                <a:srgbClr val="546D6D"/>
              </a:solidFill>
              <a:effectLst/>
              <a:ea typeface="宋体" charset="0"/>
              <a:cs typeface="Times New Roman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683881" y="3360580"/>
            <a:ext cx="1194967" cy="33083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b="1" kern="100" dirty="0">
                <a:solidFill>
                  <a:srgbClr val="D4756F"/>
                </a:solidFill>
                <a:effectLst/>
                <a:ea typeface="宋体" charset="0"/>
                <a:cs typeface="Times New Roman" charset="0"/>
              </a:rPr>
              <a:t>ANSWER 1</a:t>
            </a:r>
            <a:endParaRPr lang="zh-CN" sz="1600" b="1" kern="100" dirty="0">
              <a:solidFill>
                <a:srgbClr val="D4756F"/>
              </a:solidFill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10" name="直线箭头连接符 9"/>
          <p:cNvCxnSpPr>
            <a:cxnSpLocks noChangeShapeType="1"/>
          </p:cNvCxnSpPr>
          <p:nvPr/>
        </p:nvCxnSpPr>
        <p:spPr bwMode="auto">
          <a:xfrm flipV="1">
            <a:off x="2115692" y="3560512"/>
            <a:ext cx="1172847" cy="254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18" name="内容占位符 2"/>
          <p:cNvSpPr>
            <a:spLocks noGrp="1"/>
          </p:cNvSpPr>
          <p:nvPr>
            <p:ph idx="1"/>
          </p:nvPr>
        </p:nvSpPr>
        <p:spPr>
          <a:xfrm>
            <a:off x="228838" y="273186"/>
            <a:ext cx="8370413" cy="579864"/>
          </a:xfrm>
          <a:noFill/>
          <a:ln w="22225">
            <a:noFill/>
          </a:ln>
        </p:spPr>
        <p:txBody>
          <a:bodyPr anchor="ctr">
            <a:noAutofit/>
          </a:bodyPr>
          <a:lstStyle/>
          <a:p>
            <a:r>
              <a:rPr lang="en-US" altLang="zh-CN" sz="3200" dirty="0" smtClean="0"/>
              <a:t>The</a:t>
            </a:r>
            <a:r>
              <a:rPr lang="zh-CN" altLang="en-US" sz="3200" dirty="0" smtClean="0"/>
              <a:t> </a:t>
            </a:r>
            <a:r>
              <a:rPr lang="en-US" altLang="zh-CN" sz="3200" dirty="0" smtClean="0"/>
              <a:t>top-</a:t>
            </a:r>
            <a:r>
              <a:rPr lang="en-US" altLang="zh-CN" sz="3200" i="1" dirty="0" smtClean="0"/>
              <a:t>k</a:t>
            </a:r>
            <a:r>
              <a:rPr lang="zh-CN" altLang="en-US" sz="3200" dirty="0" smtClean="0"/>
              <a:t> </a:t>
            </a:r>
            <a:r>
              <a:rPr lang="en-US" altLang="zh-CN" sz="3200" dirty="0"/>
              <a:t>star</a:t>
            </a:r>
            <a:r>
              <a:rPr lang="zh-CN" altLang="en-US" sz="3200" dirty="0"/>
              <a:t> </a:t>
            </a:r>
            <a:r>
              <a:rPr lang="en-US" altLang="zh-CN" sz="3200" dirty="0"/>
              <a:t>query</a:t>
            </a:r>
            <a:r>
              <a:rPr lang="zh-CN" altLang="en-US" sz="3200" dirty="0"/>
              <a:t> </a:t>
            </a:r>
            <a:r>
              <a:rPr lang="en-US" altLang="zh-CN" sz="3200" dirty="0" smtClean="0"/>
              <a:t>system</a:t>
            </a:r>
            <a:endParaRPr lang="zh-CN" altLang="en-US" sz="3200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0423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3" grpId="0" animBg="1"/>
      <p:bldP spid="27" grpId="0" animBg="1"/>
      <p:bldP spid="28" grpId="0" animBg="1"/>
      <p:bldP spid="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5560140" y="5068633"/>
            <a:ext cx="286118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smtClean="0"/>
              <a:t>Parallel/duplicated</a:t>
            </a:r>
            <a:endParaRPr kumimoji="1" lang="zh-CN" altLang="en-US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5560139" y="2139035"/>
            <a:ext cx="2861187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 smtClean="0"/>
              <a:t>PARQ</a:t>
            </a:r>
            <a:endParaRPr kumimoji="1" lang="zh-CN" altLang="en-US" sz="2000" dirty="0" smtClean="0"/>
          </a:p>
          <a:p>
            <a:pPr algn="ctr"/>
            <a:r>
              <a:rPr kumimoji="1" lang="en-US" altLang="zh-CN" sz="2000" dirty="0" smtClean="0"/>
              <a:t>(Parallel/single)</a:t>
            </a:r>
            <a:endParaRPr kumimoji="1" lang="zh-CN" altLang="en-US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560138" y="3912603"/>
            <a:ext cx="286118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smtClean="0"/>
              <a:t>Serial/single</a:t>
            </a:r>
            <a:endParaRPr kumimoji="1" lang="zh-CN" altLang="en-US" sz="2000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373" y="1745334"/>
            <a:ext cx="3904840" cy="149528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98" y="3679258"/>
            <a:ext cx="4221315" cy="8668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83" y="4559297"/>
            <a:ext cx="4221315" cy="1418782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689899" y="901098"/>
            <a:ext cx="80263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 smtClean="0"/>
              <a:t>ParQ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is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compared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with </a:t>
            </a:r>
            <a:r>
              <a:rPr lang="en-US" altLang="zh-CN" sz="2400" dirty="0"/>
              <a:t>the original system running in two </a:t>
            </a:r>
            <a:r>
              <a:rPr lang="en-US" altLang="zh-CN" sz="2400" dirty="0" smtClean="0"/>
              <a:t>ways.</a:t>
            </a:r>
            <a:r>
              <a:rPr lang="zh-CN" altLang="zh-CN" sz="2400" dirty="0" smtClean="0"/>
              <a:t> </a:t>
            </a:r>
            <a:endParaRPr lang="zh-CN" altLang="en-US" sz="2400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833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图表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2040908"/>
              </p:ext>
            </p:extLst>
          </p:nvPr>
        </p:nvGraphicFramePr>
        <p:xfrm>
          <a:off x="701329" y="941941"/>
          <a:ext cx="8237061" cy="5916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/>
          <p:cNvSpPr/>
          <p:nvPr/>
        </p:nvSpPr>
        <p:spPr>
          <a:xfrm>
            <a:off x="2303465" y="589779"/>
            <a:ext cx="45511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kern="50" dirty="0" smtClean="0">
                <a:ea typeface="DejaVu Sans" charset="0"/>
              </a:rPr>
              <a:t>Comparison</a:t>
            </a:r>
            <a:r>
              <a:rPr lang="zh-CN" altLang="en-US" sz="2400" kern="50" dirty="0" smtClean="0">
                <a:ea typeface="DejaVu Sans" charset="0"/>
              </a:rPr>
              <a:t> </a:t>
            </a:r>
            <a:r>
              <a:rPr lang="en-GB" altLang="zh-CN" sz="2400" kern="50" dirty="0" smtClean="0">
                <a:ea typeface="DejaVu Sans" charset="0"/>
              </a:rPr>
              <a:t>of the</a:t>
            </a:r>
            <a:r>
              <a:rPr lang="zh-CN" altLang="en-US" sz="2400" kern="50" dirty="0" smtClean="0">
                <a:ea typeface="DejaVu Sans" charset="0"/>
              </a:rPr>
              <a:t> </a:t>
            </a:r>
            <a:r>
              <a:rPr lang="en-US" altLang="zh-CN" sz="2400" kern="50" dirty="0" smtClean="0">
                <a:ea typeface="DejaVu Sans" charset="0"/>
              </a:rPr>
              <a:t>memory</a:t>
            </a:r>
            <a:r>
              <a:rPr lang="zh-CN" altLang="en-US" sz="2400" kern="50" dirty="0" smtClean="0">
                <a:ea typeface="DejaVu Sans" charset="0"/>
              </a:rPr>
              <a:t> </a:t>
            </a:r>
            <a:r>
              <a:rPr lang="en-US" altLang="zh-CN" sz="2400" kern="50" dirty="0" smtClean="0">
                <a:ea typeface="DejaVu Sans" charset="0"/>
              </a:rPr>
              <a:t>usage</a:t>
            </a:r>
            <a:endParaRPr lang="zh-CN" altLang="en-US" sz="2400" dirty="0"/>
          </a:p>
        </p:txBody>
      </p:sp>
      <p:sp>
        <p:nvSpPr>
          <p:cNvPr id="2" name="矩形 1"/>
          <p:cNvSpPr/>
          <p:nvPr/>
        </p:nvSpPr>
        <p:spPr>
          <a:xfrm>
            <a:off x="2357437" y="5379243"/>
            <a:ext cx="214313" cy="221456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83BEB8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763186" y="5283707"/>
            <a:ext cx="214313" cy="221456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83BEB8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667007" y="5434445"/>
            <a:ext cx="214313" cy="166254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546D6D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154182" y="4987220"/>
            <a:ext cx="214313" cy="221456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83BEB8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536866" y="4482915"/>
            <a:ext cx="214313" cy="221456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83BEB8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079793" y="5379243"/>
            <a:ext cx="214313" cy="206264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546D6D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474547" y="5366702"/>
            <a:ext cx="199622" cy="203396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546D6D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854610" y="5331313"/>
            <a:ext cx="214313" cy="206264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546D6D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983614" y="5434445"/>
            <a:ext cx="214313" cy="166254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C2515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372339" y="5104886"/>
            <a:ext cx="224749" cy="385085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C2515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5787795" y="3949357"/>
            <a:ext cx="196233" cy="901932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C2515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195680" y="2166010"/>
            <a:ext cx="185189" cy="1934499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C2515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24</a:t>
            </a:fld>
            <a:endParaRPr kumimoji="1"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2179246" y="4839528"/>
            <a:ext cx="1189833" cy="1189833"/>
          </a:xfrm>
          <a:prstGeom prst="ellipse">
            <a:avLst/>
          </a:prstGeom>
          <a:noFill/>
          <a:ln w="25400">
            <a:solidFill>
              <a:srgbClr val="FF6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0" name="直线连接符 19"/>
          <p:cNvCxnSpPr/>
          <p:nvPr/>
        </p:nvCxnSpPr>
        <p:spPr>
          <a:xfrm>
            <a:off x="1553369" y="1103468"/>
            <a:ext cx="0" cy="282849"/>
          </a:xfrm>
          <a:prstGeom prst="line">
            <a:avLst/>
          </a:prstGeom>
          <a:ln w="25400">
            <a:solidFill>
              <a:srgbClr val="FF6F6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/>
          <p:cNvCxnSpPr/>
          <p:nvPr/>
        </p:nvCxnSpPr>
        <p:spPr>
          <a:xfrm>
            <a:off x="3975698" y="1102486"/>
            <a:ext cx="0" cy="282849"/>
          </a:xfrm>
          <a:prstGeom prst="line">
            <a:avLst/>
          </a:prstGeom>
          <a:ln w="25400">
            <a:solidFill>
              <a:srgbClr val="FF6F6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/>
          <p:cNvCxnSpPr/>
          <p:nvPr/>
        </p:nvCxnSpPr>
        <p:spPr>
          <a:xfrm>
            <a:off x="5570196" y="1092407"/>
            <a:ext cx="0" cy="282849"/>
          </a:xfrm>
          <a:prstGeom prst="line">
            <a:avLst/>
          </a:prstGeom>
          <a:ln w="25400">
            <a:solidFill>
              <a:srgbClr val="FF6F6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5649686" y="2449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2863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7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4" grpId="0" animBg="1"/>
      <p:bldP spid="4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3363937"/>
              </p:ext>
            </p:extLst>
          </p:nvPr>
        </p:nvGraphicFramePr>
        <p:xfrm>
          <a:off x="730385" y="791395"/>
          <a:ext cx="8043414" cy="58347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/>
          <p:cNvSpPr/>
          <p:nvPr/>
        </p:nvSpPr>
        <p:spPr>
          <a:xfrm>
            <a:off x="1244879" y="543225"/>
            <a:ext cx="70144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kern="50" dirty="0" smtClean="0">
                <a:ea typeface="DejaVu Sans" charset="0"/>
              </a:rPr>
              <a:t>Comparison</a:t>
            </a:r>
            <a:r>
              <a:rPr lang="zh-CN" altLang="en-US" sz="2400" kern="50" dirty="0" smtClean="0">
                <a:ea typeface="DejaVu Sans" charset="0"/>
              </a:rPr>
              <a:t> </a:t>
            </a:r>
            <a:r>
              <a:rPr lang="en-GB" altLang="zh-CN" sz="2400" kern="50" dirty="0" smtClean="0">
                <a:ea typeface="DejaVu Sans" charset="0"/>
              </a:rPr>
              <a:t>of </a:t>
            </a:r>
            <a:r>
              <a:rPr lang="en-GB" altLang="zh-CN" sz="2400" kern="50" dirty="0">
                <a:ea typeface="DejaVu Sans" charset="0"/>
              </a:rPr>
              <a:t>the running time </a:t>
            </a:r>
            <a:r>
              <a:rPr lang="en-GB" altLang="zh-CN" sz="2400" kern="50" dirty="0" smtClean="0">
                <a:ea typeface="DejaVu Sans" charset="0"/>
              </a:rPr>
              <a:t>for </a:t>
            </a:r>
            <a:r>
              <a:rPr lang="en-GB" altLang="zh-CN" sz="2400" kern="50" dirty="0">
                <a:ea typeface="DejaVu Sans" charset="0"/>
              </a:rPr>
              <a:t>completing queries</a:t>
            </a:r>
            <a:r>
              <a:rPr lang="zh-CN" altLang="zh-CN" sz="2400" dirty="0"/>
              <a:t> </a:t>
            </a:r>
            <a:endParaRPr lang="zh-CN" altLang="en-US" sz="2400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25</a:t>
            </a:fld>
            <a:endParaRPr kumimoji="1"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2179246" y="4839528"/>
            <a:ext cx="1189833" cy="1189833"/>
          </a:xfrm>
          <a:prstGeom prst="ellipse">
            <a:avLst/>
          </a:prstGeom>
          <a:noFill/>
          <a:ln w="25400">
            <a:solidFill>
              <a:srgbClr val="FF6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连接符 7"/>
          <p:cNvCxnSpPr/>
          <p:nvPr/>
        </p:nvCxnSpPr>
        <p:spPr>
          <a:xfrm>
            <a:off x="1488054" y="1092407"/>
            <a:ext cx="0" cy="282849"/>
          </a:xfrm>
          <a:prstGeom prst="line">
            <a:avLst/>
          </a:prstGeom>
          <a:ln w="25400">
            <a:solidFill>
              <a:srgbClr val="FF6F6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/>
          <p:cNvCxnSpPr/>
          <p:nvPr/>
        </p:nvCxnSpPr>
        <p:spPr>
          <a:xfrm>
            <a:off x="4073669" y="1092407"/>
            <a:ext cx="0" cy="282849"/>
          </a:xfrm>
          <a:prstGeom prst="line">
            <a:avLst/>
          </a:prstGeom>
          <a:ln w="25400">
            <a:solidFill>
              <a:srgbClr val="FF6F6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/>
          <p:cNvCxnSpPr/>
          <p:nvPr/>
        </p:nvCxnSpPr>
        <p:spPr>
          <a:xfrm>
            <a:off x="5847781" y="1092407"/>
            <a:ext cx="0" cy="282849"/>
          </a:xfrm>
          <a:prstGeom prst="line">
            <a:avLst/>
          </a:prstGeom>
          <a:ln w="25400">
            <a:solidFill>
              <a:srgbClr val="FF6F6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5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>
            <a:spLocks noGrp="1"/>
          </p:cNvSpPr>
          <p:nvPr>
            <p:ph idx="1"/>
          </p:nvPr>
        </p:nvSpPr>
        <p:spPr>
          <a:xfrm>
            <a:off x="228838" y="273186"/>
            <a:ext cx="8778975" cy="579864"/>
          </a:xfrm>
          <a:noFill/>
          <a:ln w="22225">
            <a:noFill/>
          </a:ln>
        </p:spPr>
        <p:txBody>
          <a:bodyPr anchor="ctr">
            <a:noAutofit/>
          </a:bodyPr>
          <a:lstStyle/>
          <a:p>
            <a:r>
              <a:rPr lang="en-US" altLang="zh-CN" sz="3200" dirty="0" smtClean="0"/>
              <a:t>The</a:t>
            </a:r>
            <a:r>
              <a:rPr lang="zh-CN" altLang="en-US" sz="3200" dirty="0" smtClean="0"/>
              <a:t> </a:t>
            </a:r>
            <a:r>
              <a:rPr lang="en-US" altLang="zh-CN" sz="3200" dirty="0" smtClean="0"/>
              <a:t>personalized</a:t>
            </a:r>
            <a:r>
              <a:rPr lang="zh-CN" altLang="en-US" sz="3200" dirty="0" smtClean="0"/>
              <a:t> </a:t>
            </a:r>
            <a:r>
              <a:rPr lang="en-US" altLang="zh-CN" sz="3200" dirty="0"/>
              <a:t>PageRank</a:t>
            </a:r>
            <a:r>
              <a:rPr lang="zh-CN" altLang="en-US" sz="3200" dirty="0"/>
              <a:t> </a:t>
            </a:r>
            <a:r>
              <a:rPr lang="en-US" altLang="zh-CN" sz="3200" dirty="0" smtClean="0"/>
              <a:t>system</a:t>
            </a:r>
            <a:r>
              <a:rPr lang="zh-CN" altLang="en-US" sz="3200" dirty="0" smtClean="0"/>
              <a:t> </a:t>
            </a:r>
            <a:r>
              <a:rPr lang="en-US" altLang="zh-CN" sz="3200" dirty="0" smtClean="0"/>
              <a:t>[2]</a:t>
            </a:r>
            <a:endParaRPr lang="zh-CN" altLang="en-US" sz="3200" dirty="0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3095497" y="2871537"/>
            <a:ext cx="2807335" cy="1143073"/>
          </a:xfrm>
          <a:prstGeom prst="rect">
            <a:avLst/>
          </a:prstGeom>
          <a:ln w="12700"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200" kern="100">
                <a:solidFill>
                  <a:srgbClr val="000000"/>
                </a:solidFill>
                <a:effectLst/>
                <a:ea typeface="宋体" charset="0"/>
                <a:cs typeface="Times New Roman" charset="0"/>
              </a:rPr>
              <a:t> </a:t>
            </a:r>
            <a:endParaRPr lang="zh-CN" sz="1200" kern="10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683882" y="3360508"/>
            <a:ext cx="1194967" cy="33083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ANSWER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24" name="矩形 23"/>
          <p:cNvSpPr>
            <a:spLocks noChangeArrowheads="1"/>
          </p:cNvSpPr>
          <p:nvPr/>
        </p:nvSpPr>
        <p:spPr bwMode="auto">
          <a:xfrm>
            <a:off x="3372991" y="3338262"/>
            <a:ext cx="1305559" cy="431800"/>
          </a:xfrm>
          <a:prstGeom prst="rect">
            <a:avLst/>
          </a:prstGeom>
          <a:pattFill prst="pct10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STATIC DATA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4747131" y="3338262"/>
            <a:ext cx="911860" cy="431800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 smtClean="0">
                <a:effectLst/>
                <a:ea typeface="宋体" charset="0"/>
                <a:cs typeface="Times New Roman" charset="0"/>
              </a:rPr>
              <a:t>DYNAMIC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26" name="直线箭头连接符 25"/>
          <p:cNvCxnSpPr>
            <a:cxnSpLocks noChangeShapeType="1"/>
          </p:cNvCxnSpPr>
          <p:nvPr/>
        </p:nvCxnSpPr>
        <p:spPr bwMode="auto">
          <a:xfrm>
            <a:off x="5727571" y="3560512"/>
            <a:ext cx="995046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30" name="文本框 29"/>
          <p:cNvSpPr txBox="1"/>
          <p:nvPr/>
        </p:nvSpPr>
        <p:spPr>
          <a:xfrm>
            <a:off x="1233023" y="3369015"/>
            <a:ext cx="1172846" cy="25273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QUERY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31" name="矩形 30"/>
          <p:cNvSpPr>
            <a:spLocks noChangeArrowheads="1"/>
          </p:cNvSpPr>
          <p:nvPr/>
        </p:nvSpPr>
        <p:spPr bwMode="auto">
          <a:xfrm>
            <a:off x="3288539" y="3026477"/>
            <a:ext cx="2439032" cy="83439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JOB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32" name="线形标注 1 31"/>
          <p:cNvSpPr/>
          <p:nvPr/>
        </p:nvSpPr>
        <p:spPr>
          <a:xfrm>
            <a:off x="2244353" y="1577057"/>
            <a:ext cx="4318679" cy="949992"/>
          </a:xfrm>
          <a:prstGeom prst="borderCallout1">
            <a:avLst>
              <a:gd name="adj1" fmla="val 99395"/>
              <a:gd name="adj2" fmla="val 53705"/>
              <a:gd name="adj3" fmla="val 187379"/>
              <a:gd name="adj4" fmla="val 40165"/>
            </a:avLst>
          </a:prstGeom>
          <a:noFill/>
          <a:ln w="25400"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rgbClr val="9F3230"/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chemeClr val="tx1"/>
                </a:solidFill>
              </a:rPr>
              <a:t>Web </a:t>
            </a:r>
            <a:r>
              <a:rPr lang="en-US" altLang="zh-CN" sz="2000" dirty="0">
                <a:solidFill>
                  <a:schemeClr val="tx1"/>
                </a:solidFill>
              </a:rPr>
              <a:t>graph that describes the directed links between </a:t>
            </a:r>
            <a:r>
              <a:rPr lang="en-US" altLang="zh-CN" sz="2000" dirty="0" smtClean="0">
                <a:solidFill>
                  <a:schemeClr val="tx1"/>
                </a:solidFill>
              </a:rPr>
              <a:t>webpages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3372991" y="3344612"/>
            <a:ext cx="1305559" cy="431800"/>
          </a:xfrm>
          <a:prstGeom prst="rect">
            <a:avLst/>
          </a:prstGeom>
          <a:noFill/>
          <a:ln w="31750"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rgbClr val="9F3230"/>
                </a:gs>
              </a:gsLst>
              <a:path path="circle">
                <a:fillToRect l="50000" t="-80000" r="50000" b="180000"/>
              </a:path>
              <a:tileRect/>
            </a:gra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34" name="线形标注 1 33"/>
          <p:cNvSpPr/>
          <p:nvPr/>
        </p:nvSpPr>
        <p:spPr>
          <a:xfrm>
            <a:off x="697276" y="4459038"/>
            <a:ext cx="2591263" cy="735532"/>
          </a:xfrm>
          <a:prstGeom prst="borderCallout1">
            <a:avLst>
              <a:gd name="adj1" fmla="val -97651"/>
              <a:gd name="adj2" fmla="val 35203"/>
              <a:gd name="adj3" fmla="val 293"/>
              <a:gd name="adj4" fmla="val 46365"/>
            </a:avLst>
          </a:prstGeom>
          <a:noFill/>
          <a:ln w="25400"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rgbClr val="546D6D"/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</a:rPr>
              <a:t>P</a:t>
            </a:r>
            <a:r>
              <a:rPr lang="en-US" altLang="zh-CN" sz="2000" smtClean="0">
                <a:solidFill>
                  <a:schemeClr val="tx1"/>
                </a:solidFill>
              </a:rPr>
              <a:t>ersonal </a:t>
            </a:r>
            <a:r>
              <a:rPr lang="en-US" altLang="zh-CN" sz="2000" dirty="0">
                <a:solidFill>
                  <a:schemeClr val="tx1"/>
                </a:solidFill>
              </a:rPr>
              <a:t>preferences </a:t>
            </a:r>
          </a:p>
        </p:txBody>
      </p:sp>
      <p:sp>
        <p:nvSpPr>
          <p:cNvPr id="35" name="线形标注 1 34"/>
          <p:cNvSpPr/>
          <p:nvPr/>
        </p:nvSpPr>
        <p:spPr>
          <a:xfrm>
            <a:off x="5324077" y="4894392"/>
            <a:ext cx="2719609" cy="868911"/>
          </a:xfrm>
          <a:prstGeom prst="borderCallout1">
            <a:avLst>
              <a:gd name="adj1" fmla="val -140085"/>
              <a:gd name="adj2" fmla="val 69368"/>
              <a:gd name="adj3" fmla="val 293"/>
              <a:gd name="adj4" fmla="val 46365"/>
            </a:avLst>
          </a:prstGeom>
          <a:noFill/>
          <a:ln w="25400"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rgbClr val="D4756F"/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chemeClr val="tx1"/>
                </a:solidFill>
              </a:rPr>
              <a:t>Best</a:t>
            </a:r>
            <a:r>
              <a:rPr lang="zh-CN" altLang="en-US" sz="2000" dirty="0" smtClean="0">
                <a:solidFill>
                  <a:schemeClr val="tx1"/>
                </a:solidFill>
              </a:rPr>
              <a:t> </a:t>
            </a:r>
            <a:r>
              <a:rPr lang="en-GB" altLang="zh-CN" sz="2000" i="1" dirty="0" smtClean="0">
                <a:solidFill>
                  <a:schemeClr val="tx1"/>
                </a:solidFill>
              </a:rPr>
              <a:t>k</a:t>
            </a:r>
            <a:r>
              <a:rPr lang="en-GB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answer</a:t>
            </a:r>
            <a:r>
              <a:rPr lang="en-GB" altLang="zh-CN" sz="2000" dirty="0" smtClean="0">
                <a:solidFill>
                  <a:schemeClr val="tx1"/>
                </a:solidFill>
              </a:rPr>
              <a:t>s </a:t>
            </a:r>
            <a:r>
              <a:rPr lang="en-GB" altLang="zh-CN" sz="2000" dirty="0">
                <a:solidFill>
                  <a:schemeClr val="tx1"/>
                </a:solidFill>
              </a:rPr>
              <a:t>that are the most </a:t>
            </a:r>
            <a:r>
              <a:rPr lang="en-GB" altLang="zh-CN" sz="2000" dirty="0" smtClean="0">
                <a:solidFill>
                  <a:schemeClr val="tx1"/>
                </a:solidFill>
              </a:rPr>
              <a:t>relevant</a:t>
            </a:r>
            <a:r>
              <a:rPr lang="en-US" altLang="zh-CN" sz="2000" dirty="0" smtClean="0">
                <a:solidFill>
                  <a:schemeClr val="tx1"/>
                </a:solidFill>
              </a:rPr>
              <a:t>.</a:t>
            </a:r>
            <a:r>
              <a:rPr lang="zh-CN" altLang="zh-CN" sz="2000" dirty="0" smtClean="0">
                <a:solidFill>
                  <a:schemeClr val="tx1"/>
                </a:solidFill>
              </a:rPr>
              <a:t> 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239707" y="3360508"/>
            <a:ext cx="1172846" cy="2527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b="1" kern="100" dirty="0">
                <a:solidFill>
                  <a:srgbClr val="546D6D"/>
                </a:solidFill>
                <a:effectLst/>
                <a:ea typeface="宋体" charset="0"/>
                <a:cs typeface="Times New Roman" charset="0"/>
              </a:rPr>
              <a:t>QUERY 1</a:t>
            </a:r>
            <a:endParaRPr lang="zh-CN" sz="1600" b="1" kern="100" dirty="0">
              <a:solidFill>
                <a:srgbClr val="546D6D"/>
              </a:solidFill>
              <a:effectLst/>
              <a:ea typeface="宋体" charset="0"/>
              <a:cs typeface="Times New Roman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683881" y="3360580"/>
            <a:ext cx="1194967" cy="33083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b="1" kern="100" dirty="0">
                <a:solidFill>
                  <a:srgbClr val="D4756F"/>
                </a:solidFill>
                <a:effectLst/>
                <a:ea typeface="宋体" charset="0"/>
                <a:cs typeface="Times New Roman" charset="0"/>
              </a:rPr>
              <a:t>ANSWER 1</a:t>
            </a:r>
            <a:endParaRPr lang="zh-CN" sz="1600" b="1" kern="100" dirty="0">
              <a:solidFill>
                <a:srgbClr val="D4756F"/>
              </a:solidFill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38" name="直线箭头连接符 37"/>
          <p:cNvCxnSpPr>
            <a:cxnSpLocks noChangeShapeType="1"/>
          </p:cNvCxnSpPr>
          <p:nvPr/>
        </p:nvCxnSpPr>
        <p:spPr bwMode="auto">
          <a:xfrm flipV="1">
            <a:off x="2115692" y="3560512"/>
            <a:ext cx="1172847" cy="254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036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373" y="1745334"/>
            <a:ext cx="3904840" cy="149528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98" y="3679258"/>
            <a:ext cx="4221315" cy="8668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83" y="4559297"/>
            <a:ext cx="4221315" cy="1418782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689899" y="901098"/>
            <a:ext cx="80263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 smtClean="0"/>
              <a:t>ParQ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is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compared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with </a:t>
            </a:r>
            <a:r>
              <a:rPr lang="en-US" altLang="zh-CN" sz="2400" dirty="0"/>
              <a:t>the original system running in two </a:t>
            </a:r>
            <a:r>
              <a:rPr lang="en-US" altLang="zh-CN" sz="2400" dirty="0" smtClean="0"/>
              <a:t>ways.</a:t>
            </a:r>
            <a:r>
              <a:rPr lang="zh-CN" altLang="zh-CN" sz="2400" dirty="0" smtClean="0"/>
              <a:t> </a:t>
            </a:r>
            <a:endParaRPr lang="zh-CN" altLang="en-US" sz="2400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27</a:t>
            </a:fld>
            <a:endParaRPr kumimoji="1"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560140" y="5068633"/>
            <a:ext cx="286118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smtClean="0"/>
              <a:t>Parallel/duplicated</a:t>
            </a:r>
            <a:endParaRPr kumimoji="1" lang="zh-CN" altLang="en-US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560139" y="2139035"/>
            <a:ext cx="2861187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 smtClean="0"/>
              <a:t>PARQ</a:t>
            </a:r>
            <a:endParaRPr kumimoji="1" lang="zh-CN" altLang="en-US" sz="2000" dirty="0" smtClean="0"/>
          </a:p>
          <a:p>
            <a:pPr algn="ctr"/>
            <a:r>
              <a:rPr kumimoji="1" lang="en-US" altLang="zh-CN" sz="2000" dirty="0" smtClean="0"/>
              <a:t>(Parallel/single)</a:t>
            </a:r>
            <a:endParaRPr kumimoji="1" lang="zh-CN" altLang="en-US" sz="2000" dirty="0"/>
          </a:p>
        </p:txBody>
      </p:sp>
      <p:sp>
        <p:nvSpPr>
          <p:cNvPr id="12" name="文本框 11"/>
          <p:cNvSpPr txBox="1"/>
          <p:nvPr/>
        </p:nvSpPr>
        <p:spPr>
          <a:xfrm>
            <a:off x="5560138" y="3912603"/>
            <a:ext cx="286118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smtClean="0"/>
              <a:t>Serial/single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6497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176656"/>
              </p:ext>
            </p:extLst>
          </p:nvPr>
        </p:nvGraphicFramePr>
        <p:xfrm>
          <a:off x="781403" y="900719"/>
          <a:ext cx="8076912" cy="59572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矩形 3"/>
          <p:cNvSpPr/>
          <p:nvPr/>
        </p:nvSpPr>
        <p:spPr>
          <a:xfrm>
            <a:off x="2303465" y="589779"/>
            <a:ext cx="45511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kern="50" dirty="0" smtClean="0">
                <a:ea typeface="DejaVu Sans" charset="0"/>
              </a:rPr>
              <a:t>Comparison</a:t>
            </a:r>
            <a:r>
              <a:rPr lang="zh-CN" altLang="en-US" sz="2400" kern="50" dirty="0" smtClean="0">
                <a:ea typeface="DejaVu Sans" charset="0"/>
              </a:rPr>
              <a:t> </a:t>
            </a:r>
            <a:r>
              <a:rPr lang="en-GB" altLang="zh-CN" sz="2400" kern="50" dirty="0" smtClean="0">
                <a:ea typeface="DejaVu Sans" charset="0"/>
              </a:rPr>
              <a:t>of the</a:t>
            </a:r>
            <a:r>
              <a:rPr lang="zh-CN" altLang="en-US" sz="2400" kern="50" dirty="0" smtClean="0">
                <a:ea typeface="DejaVu Sans" charset="0"/>
              </a:rPr>
              <a:t> </a:t>
            </a:r>
            <a:r>
              <a:rPr lang="en-US" altLang="zh-CN" sz="2400" kern="50" dirty="0" smtClean="0">
                <a:ea typeface="DejaVu Sans" charset="0"/>
              </a:rPr>
              <a:t>memory</a:t>
            </a:r>
            <a:r>
              <a:rPr lang="zh-CN" altLang="en-US" sz="2400" kern="50" dirty="0" smtClean="0">
                <a:ea typeface="DejaVu Sans" charset="0"/>
              </a:rPr>
              <a:t> </a:t>
            </a:r>
            <a:r>
              <a:rPr lang="en-US" altLang="zh-CN" sz="2400" kern="50" dirty="0" smtClean="0">
                <a:ea typeface="DejaVu Sans" charset="0"/>
              </a:rPr>
              <a:t>usage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2405759" y="5540958"/>
            <a:ext cx="214312" cy="53579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83BEB8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795813" y="5396670"/>
            <a:ext cx="214312" cy="45719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83BEB8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184369" y="4970891"/>
            <a:ext cx="214312" cy="58309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83BEB8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715896" y="5540958"/>
            <a:ext cx="214312" cy="53580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546D6D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091082" y="5487381"/>
            <a:ext cx="214312" cy="53578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546D6D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486594" y="5433802"/>
            <a:ext cx="214312" cy="53579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546D6D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882106" y="5391376"/>
            <a:ext cx="214312" cy="51013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546D6D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026551" y="5540958"/>
            <a:ext cx="214312" cy="53579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C2515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405413" y="5348636"/>
            <a:ext cx="223883" cy="93753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C2515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810591" y="4745595"/>
            <a:ext cx="200835" cy="283605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C2515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190896" y="3770306"/>
            <a:ext cx="195541" cy="573096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C2515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580092" y="4285855"/>
            <a:ext cx="214312" cy="57546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83BEB8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28</a:t>
            </a:fld>
            <a:endParaRPr kumimoji="1" lang="zh-CN" altLang="en-US"/>
          </a:p>
        </p:txBody>
      </p:sp>
      <p:cxnSp>
        <p:nvCxnSpPr>
          <p:cNvPr id="21" name="直线连接符 20"/>
          <p:cNvCxnSpPr/>
          <p:nvPr/>
        </p:nvCxnSpPr>
        <p:spPr>
          <a:xfrm>
            <a:off x="1488054" y="1092407"/>
            <a:ext cx="0" cy="282849"/>
          </a:xfrm>
          <a:prstGeom prst="line">
            <a:avLst/>
          </a:prstGeom>
          <a:ln w="25400">
            <a:solidFill>
              <a:srgbClr val="FF6F6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/>
          <p:cNvCxnSpPr/>
          <p:nvPr/>
        </p:nvCxnSpPr>
        <p:spPr>
          <a:xfrm>
            <a:off x="4073669" y="1092407"/>
            <a:ext cx="0" cy="282849"/>
          </a:xfrm>
          <a:prstGeom prst="line">
            <a:avLst/>
          </a:prstGeom>
          <a:ln w="25400">
            <a:solidFill>
              <a:srgbClr val="FF6F6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/>
          <p:cNvCxnSpPr/>
          <p:nvPr/>
        </p:nvCxnSpPr>
        <p:spPr>
          <a:xfrm>
            <a:off x="5799983" y="1092407"/>
            <a:ext cx="0" cy="282849"/>
          </a:xfrm>
          <a:prstGeom prst="line">
            <a:avLst/>
          </a:prstGeom>
          <a:ln w="25400">
            <a:solidFill>
              <a:srgbClr val="FF6F6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73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8379749"/>
              </p:ext>
            </p:extLst>
          </p:nvPr>
        </p:nvGraphicFramePr>
        <p:xfrm>
          <a:off x="617559" y="774057"/>
          <a:ext cx="8269066" cy="5998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/>
          <p:cNvSpPr/>
          <p:nvPr/>
        </p:nvSpPr>
        <p:spPr>
          <a:xfrm>
            <a:off x="1244879" y="543225"/>
            <a:ext cx="70144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kern="50" dirty="0" smtClean="0">
                <a:ea typeface="DejaVu Sans" charset="0"/>
              </a:rPr>
              <a:t>Comparison</a:t>
            </a:r>
            <a:r>
              <a:rPr lang="zh-CN" altLang="en-US" sz="2400" kern="50" dirty="0" smtClean="0">
                <a:ea typeface="DejaVu Sans" charset="0"/>
              </a:rPr>
              <a:t> </a:t>
            </a:r>
            <a:r>
              <a:rPr lang="en-GB" altLang="zh-CN" sz="2400" kern="50" dirty="0" smtClean="0">
                <a:ea typeface="DejaVu Sans" charset="0"/>
              </a:rPr>
              <a:t>of </a:t>
            </a:r>
            <a:r>
              <a:rPr lang="en-GB" altLang="zh-CN" sz="2400" kern="50" dirty="0">
                <a:ea typeface="DejaVu Sans" charset="0"/>
              </a:rPr>
              <a:t>the running time </a:t>
            </a:r>
            <a:r>
              <a:rPr lang="en-GB" altLang="zh-CN" sz="2400" kern="50" dirty="0" smtClean="0">
                <a:ea typeface="DejaVu Sans" charset="0"/>
              </a:rPr>
              <a:t>for </a:t>
            </a:r>
            <a:r>
              <a:rPr lang="en-GB" altLang="zh-CN" sz="2400" kern="50" dirty="0">
                <a:ea typeface="DejaVu Sans" charset="0"/>
              </a:rPr>
              <a:t>completing queries</a:t>
            </a:r>
            <a:r>
              <a:rPr lang="zh-CN" altLang="zh-CN" sz="2400" dirty="0"/>
              <a:t> </a:t>
            </a:r>
            <a:endParaRPr lang="zh-CN" altLang="en-US" sz="2400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29</a:t>
            </a:fld>
            <a:endParaRPr kumimoji="1" lang="zh-CN" altLang="en-US"/>
          </a:p>
        </p:txBody>
      </p:sp>
      <p:cxnSp>
        <p:nvCxnSpPr>
          <p:cNvPr id="10" name="直线连接符 9"/>
          <p:cNvCxnSpPr/>
          <p:nvPr/>
        </p:nvCxnSpPr>
        <p:spPr>
          <a:xfrm>
            <a:off x="1479508" y="1306052"/>
            <a:ext cx="0" cy="282849"/>
          </a:xfrm>
          <a:prstGeom prst="line">
            <a:avLst/>
          </a:prstGeom>
          <a:ln w="25400">
            <a:solidFill>
              <a:srgbClr val="FF6F6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/>
          <p:cNvCxnSpPr/>
          <p:nvPr/>
        </p:nvCxnSpPr>
        <p:spPr>
          <a:xfrm>
            <a:off x="4065123" y="1306052"/>
            <a:ext cx="0" cy="282849"/>
          </a:xfrm>
          <a:prstGeom prst="line">
            <a:avLst/>
          </a:prstGeom>
          <a:ln w="25400">
            <a:solidFill>
              <a:srgbClr val="FF6F6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/>
          <p:cNvCxnSpPr/>
          <p:nvPr/>
        </p:nvCxnSpPr>
        <p:spPr>
          <a:xfrm>
            <a:off x="5839235" y="1306052"/>
            <a:ext cx="0" cy="282849"/>
          </a:xfrm>
          <a:prstGeom prst="line">
            <a:avLst/>
          </a:prstGeom>
          <a:ln w="25400">
            <a:solidFill>
              <a:srgbClr val="FF6F6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537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>
            <a:spLocks noGrp="1"/>
          </p:cNvSpPr>
          <p:nvPr>
            <p:ph idx="1"/>
          </p:nvPr>
        </p:nvSpPr>
        <p:spPr>
          <a:xfrm>
            <a:off x="228838" y="273186"/>
            <a:ext cx="8778975" cy="579864"/>
          </a:xfrm>
          <a:noFill/>
          <a:ln w="22225">
            <a:noFill/>
          </a:ln>
        </p:spPr>
        <p:txBody>
          <a:bodyPr anchor="ctr">
            <a:noAutofit/>
          </a:bodyPr>
          <a:lstStyle/>
          <a:p>
            <a:r>
              <a:rPr lang="en-US" altLang="zh-CN" sz="3200" dirty="0" smtClean="0"/>
              <a:t>The</a:t>
            </a:r>
            <a:r>
              <a:rPr lang="zh-CN" altLang="en-US" sz="3200" dirty="0" smtClean="0"/>
              <a:t> </a:t>
            </a:r>
            <a:r>
              <a:rPr lang="en-US" altLang="zh-CN" sz="3200" dirty="0" smtClean="0"/>
              <a:t>belief</a:t>
            </a:r>
            <a:r>
              <a:rPr lang="zh-CN" altLang="en-US" sz="3200" dirty="0" smtClean="0"/>
              <a:t> </a:t>
            </a:r>
            <a:r>
              <a:rPr lang="en-US" altLang="zh-CN" sz="3200" dirty="0" smtClean="0"/>
              <a:t>propagation</a:t>
            </a:r>
            <a:r>
              <a:rPr lang="zh-CN" altLang="en-US" sz="3200" dirty="0" smtClean="0"/>
              <a:t> </a:t>
            </a:r>
            <a:r>
              <a:rPr lang="en-US" altLang="zh-CN" sz="3200" dirty="0" smtClean="0"/>
              <a:t>system</a:t>
            </a:r>
            <a:r>
              <a:rPr lang="zh-CN" altLang="en-US" sz="3200" dirty="0" smtClean="0"/>
              <a:t> </a:t>
            </a:r>
            <a:r>
              <a:rPr lang="en-US" altLang="zh-CN" sz="3200" dirty="0" smtClean="0"/>
              <a:t>[3]</a:t>
            </a:r>
            <a:endParaRPr lang="zh-CN" altLang="en-US" sz="3200" dirty="0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3095497" y="2871537"/>
            <a:ext cx="2807335" cy="1143073"/>
          </a:xfrm>
          <a:prstGeom prst="rect">
            <a:avLst/>
          </a:prstGeom>
          <a:ln w="12700"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200" kern="100">
                <a:solidFill>
                  <a:srgbClr val="000000"/>
                </a:solidFill>
                <a:effectLst/>
                <a:ea typeface="宋体" charset="0"/>
                <a:cs typeface="Times New Roman" charset="0"/>
              </a:rPr>
              <a:t> </a:t>
            </a:r>
            <a:endParaRPr lang="zh-CN" sz="1200" kern="10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683882" y="3360508"/>
            <a:ext cx="1194967" cy="33083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ANSWER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24" name="矩形 23"/>
          <p:cNvSpPr>
            <a:spLocks noChangeArrowheads="1"/>
          </p:cNvSpPr>
          <p:nvPr/>
        </p:nvSpPr>
        <p:spPr bwMode="auto">
          <a:xfrm>
            <a:off x="3372991" y="3338262"/>
            <a:ext cx="1305559" cy="431800"/>
          </a:xfrm>
          <a:prstGeom prst="rect">
            <a:avLst/>
          </a:prstGeom>
          <a:pattFill prst="pct10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STATIC DATA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4747131" y="3338262"/>
            <a:ext cx="911860" cy="431800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 smtClean="0">
                <a:effectLst/>
                <a:ea typeface="宋体" charset="0"/>
                <a:cs typeface="Times New Roman" charset="0"/>
              </a:rPr>
              <a:t>DYNAMIC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26" name="直线箭头连接符 25"/>
          <p:cNvCxnSpPr>
            <a:cxnSpLocks noChangeShapeType="1"/>
          </p:cNvCxnSpPr>
          <p:nvPr/>
        </p:nvCxnSpPr>
        <p:spPr bwMode="auto">
          <a:xfrm>
            <a:off x="5727571" y="3560512"/>
            <a:ext cx="995046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30" name="文本框 29"/>
          <p:cNvSpPr txBox="1"/>
          <p:nvPr/>
        </p:nvSpPr>
        <p:spPr>
          <a:xfrm>
            <a:off x="1233023" y="3369015"/>
            <a:ext cx="1172846" cy="25273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QUERY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31" name="矩形 30"/>
          <p:cNvSpPr>
            <a:spLocks noChangeArrowheads="1"/>
          </p:cNvSpPr>
          <p:nvPr/>
        </p:nvSpPr>
        <p:spPr bwMode="auto">
          <a:xfrm>
            <a:off x="3288539" y="3026477"/>
            <a:ext cx="2439032" cy="83439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JOB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32" name="线形标注 1 31"/>
          <p:cNvSpPr/>
          <p:nvPr/>
        </p:nvSpPr>
        <p:spPr>
          <a:xfrm>
            <a:off x="2244353" y="1577057"/>
            <a:ext cx="4708538" cy="949992"/>
          </a:xfrm>
          <a:prstGeom prst="borderCallout1">
            <a:avLst>
              <a:gd name="adj1" fmla="val 99395"/>
              <a:gd name="adj2" fmla="val 53705"/>
              <a:gd name="adj3" fmla="val 187379"/>
              <a:gd name="adj4" fmla="val 40165"/>
            </a:avLst>
          </a:prstGeom>
          <a:noFill/>
          <a:ln w="25400"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rgbClr val="9F3230"/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chemeClr val="tx1"/>
                </a:solidFill>
              </a:rPr>
              <a:t>Factor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graph that describes the </a:t>
            </a:r>
            <a:r>
              <a:rPr lang="en-US" altLang="zh-CN" sz="2000" dirty="0" smtClean="0">
                <a:solidFill>
                  <a:schemeClr val="tx1"/>
                </a:solidFill>
              </a:rPr>
              <a:t>direct</a:t>
            </a:r>
            <a:r>
              <a:rPr lang="zh-CN" altLang="en-US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probabilistic</a:t>
            </a:r>
            <a:r>
              <a:rPr lang="zh-CN" altLang="en-US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interactions</a:t>
            </a:r>
            <a:r>
              <a:rPr lang="zh-CN" altLang="en-US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between</a:t>
            </a:r>
            <a:r>
              <a:rPr lang="zh-CN" altLang="en-US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events.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3372991" y="3344612"/>
            <a:ext cx="1305559" cy="431800"/>
          </a:xfrm>
          <a:prstGeom prst="rect">
            <a:avLst/>
          </a:prstGeom>
          <a:noFill/>
          <a:ln w="31750"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rgbClr val="9F3230"/>
                </a:gs>
              </a:gsLst>
              <a:path path="circle">
                <a:fillToRect l="50000" t="-80000" r="50000" b="180000"/>
              </a:path>
              <a:tileRect/>
            </a:gra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34" name="线形标注 1 33"/>
          <p:cNvSpPr/>
          <p:nvPr/>
        </p:nvSpPr>
        <p:spPr>
          <a:xfrm>
            <a:off x="697276" y="4459038"/>
            <a:ext cx="2591263" cy="735532"/>
          </a:xfrm>
          <a:prstGeom prst="borderCallout1">
            <a:avLst>
              <a:gd name="adj1" fmla="val -97651"/>
              <a:gd name="adj2" fmla="val 35203"/>
              <a:gd name="adj3" fmla="val 293"/>
              <a:gd name="adj4" fmla="val 46365"/>
            </a:avLst>
          </a:prstGeom>
          <a:noFill/>
          <a:ln w="25400"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rgbClr val="546D6D"/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</a:rPr>
              <a:t>P</a:t>
            </a:r>
            <a:r>
              <a:rPr lang="en-US" altLang="zh-CN" sz="2000" dirty="0" smtClean="0">
                <a:solidFill>
                  <a:schemeClr val="tx1"/>
                </a:solidFill>
              </a:rPr>
              <a:t>ersonal </a:t>
            </a:r>
            <a:r>
              <a:rPr lang="en-US" altLang="zh-CN" sz="2000" dirty="0">
                <a:solidFill>
                  <a:schemeClr val="tx1"/>
                </a:solidFill>
              </a:rPr>
              <a:t>preferences </a:t>
            </a:r>
          </a:p>
        </p:txBody>
      </p:sp>
      <p:sp>
        <p:nvSpPr>
          <p:cNvPr id="35" name="线形标注 1 34"/>
          <p:cNvSpPr/>
          <p:nvPr/>
        </p:nvSpPr>
        <p:spPr>
          <a:xfrm>
            <a:off x="5324077" y="4894392"/>
            <a:ext cx="2719609" cy="868911"/>
          </a:xfrm>
          <a:prstGeom prst="borderCallout1">
            <a:avLst>
              <a:gd name="adj1" fmla="val -140085"/>
              <a:gd name="adj2" fmla="val 69368"/>
              <a:gd name="adj3" fmla="val 293"/>
              <a:gd name="adj4" fmla="val 46365"/>
            </a:avLst>
          </a:prstGeom>
          <a:noFill/>
          <a:ln w="25400"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rgbClr val="D4756F"/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chemeClr val="tx1"/>
                </a:solidFill>
              </a:rPr>
              <a:t>Best</a:t>
            </a:r>
            <a:r>
              <a:rPr lang="zh-CN" altLang="en-US" sz="2000" dirty="0" smtClean="0">
                <a:solidFill>
                  <a:schemeClr val="tx1"/>
                </a:solidFill>
              </a:rPr>
              <a:t> </a:t>
            </a:r>
            <a:r>
              <a:rPr lang="en-GB" altLang="zh-CN" sz="2000" i="1" dirty="0" smtClean="0">
                <a:solidFill>
                  <a:schemeClr val="tx1"/>
                </a:solidFill>
              </a:rPr>
              <a:t>k</a:t>
            </a:r>
            <a:r>
              <a:rPr lang="en-GB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answer</a:t>
            </a:r>
            <a:r>
              <a:rPr lang="en-GB" altLang="zh-CN" sz="2000" dirty="0" smtClean="0">
                <a:solidFill>
                  <a:schemeClr val="tx1"/>
                </a:solidFill>
              </a:rPr>
              <a:t>s </a:t>
            </a:r>
            <a:r>
              <a:rPr lang="en-GB" altLang="zh-CN" sz="2000" dirty="0">
                <a:solidFill>
                  <a:schemeClr val="tx1"/>
                </a:solidFill>
              </a:rPr>
              <a:t>that are the most </a:t>
            </a:r>
            <a:r>
              <a:rPr lang="en-GB" altLang="zh-CN" sz="2000" dirty="0" smtClean="0">
                <a:solidFill>
                  <a:schemeClr val="tx1"/>
                </a:solidFill>
              </a:rPr>
              <a:t>relevant</a:t>
            </a:r>
            <a:r>
              <a:rPr lang="en-US" altLang="zh-CN" sz="2000" dirty="0" smtClean="0">
                <a:solidFill>
                  <a:schemeClr val="tx1"/>
                </a:solidFill>
              </a:rPr>
              <a:t>.</a:t>
            </a:r>
            <a:r>
              <a:rPr lang="zh-CN" altLang="zh-CN" sz="2000" dirty="0" smtClean="0">
                <a:solidFill>
                  <a:schemeClr val="tx1"/>
                </a:solidFill>
              </a:rPr>
              <a:t> 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239707" y="3360508"/>
            <a:ext cx="1172846" cy="2527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b="1" kern="100" dirty="0">
                <a:solidFill>
                  <a:srgbClr val="546D6D"/>
                </a:solidFill>
                <a:effectLst/>
                <a:ea typeface="宋体" charset="0"/>
                <a:cs typeface="Times New Roman" charset="0"/>
              </a:rPr>
              <a:t>QUERY 1</a:t>
            </a:r>
            <a:endParaRPr lang="zh-CN" sz="1600" b="1" kern="100" dirty="0">
              <a:solidFill>
                <a:srgbClr val="546D6D"/>
              </a:solidFill>
              <a:effectLst/>
              <a:ea typeface="宋体" charset="0"/>
              <a:cs typeface="Times New Roman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683881" y="3360580"/>
            <a:ext cx="1194967" cy="33083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b="1" kern="100" dirty="0">
                <a:solidFill>
                  <a:srgbClr val="D4756F"/>
                </a:solidFill>
                <a:effectLst/>
                <a:ea typeface="宋体" charset="0"/>
                <a:cs typeface="Times New Roman" charset="0"/>
              </a:rPr>
              <a:t>ANSWER 1</a:t>
            </a:r>
            <a:endParaRPr lang="zh-CN" sz="1600" b="1" kern="100" dirty="0">
              <a:solidFill>
                <a:srgbClr val="D4756F"/>
              </a:solidFill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38" name="直线箭头连接符 37"/>
          <p:cNvCxnSpPr>
            <a:cxnSpLocks noChangeShapeType="1"/>
          </p:cNvCxnSpPr>
          <p:nvPr/>
        </p:nvCxnSpPr>
        <p:spPr bwMode="auto">
          <a:xfrm flipV="1">
            <a:off x="2115692" y="3560512"/>
            <a:ext cx="1172847" cy="254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30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24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373" y="1745334"/>
            <a:ext cx="3904840" cy="149528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98" y="3679258"/>
            <a:ext cx="4221315" cy="8668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83" y="4559297"/>
            <a:ext cx="4221315" cy="1418782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689899" y="901098"/>
            <a:ext cx="80263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 smtClean="0"/>
              <a:t>ParQ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is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compared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with </a:t>
            </a:r>
            <a:r>
              <a:rPr lang="en-US" altLang="zh-CN" sz="2400" dirty="0"/>
              <a:t>the original system running in two </a:t>
            </a:r>
            <a:r>
              <a:rPr lang="en-US" altLang="zh-CN" sz="2400" dirty="0" smtClean="0"/>
              <a:t>ways.</a:t>
            </a:r>
            <a:r>
              <a:rPr lang="zh-CN" altLang="zh-CN" sz="2400" dirty="0" smtClean="0"/>
              <a:t> </a:t>
            </a:r>
            <a:endParaRPr lang="zh-CN" altLang="en-US" sz="2400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31</a:t>
            </a:fld>
            <a:endParaRPr kumimoji="1"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560140" y="5068633"/>
            <a:ext cx="286118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smtClean="0"/>
              <a:t>Parallel/duplicated</a:t>
            </a:r>
            <a:endParaRPr kumimoji="1" lang="zh-CN" altLang="en-US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560139" y="2139035"/>
            <a:ext cx="2861187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 smtClean="0"/>
              <a:t>PARQ</a:t>
            </a:r>
            <a:endParaRPr kumimoji="1" lang="zh-CN" altLang="en-US" sz="2000" dirty="0" smtClean="0"/>
          </a:p>
          <a:p>
            <a:pPr algn="ctr"/>
            <a:r>
              <a:rPr kumimoji="1" lang="en-US" altLang="zh-CN" sz="2000" dirty="0" smtClean="0"/>
              <a:t>(Parallel/single)</a:t>
            </a:r>
            <a:endParaRPr kumimoji="1" lang="zh-CN" altLang="en-US" sz="2000" dirty="0"/>
          </a:p>
        </p:txBody>
      </p:sp>
      <p:sp>
        <p:nvSpPr>
          <p:cNvPr id="12" name="文本框 11"/>
          <p:cNvSpPr txBox="1"/>
          <p:nvPr/>
        </p:nvSpPr>
        <p:spPr>
          <a:xfrm>
            <a:off x="5560138" y="3912603"/>
            <a:ext cx="286118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smtClean="0"/>
              <a:t>Serial/single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7961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719" y="1163761"/>
            <a:ext cx="7183153" cy="5213090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546D6D"/>
            </a:bgClr>
          </a:pattFill>
        </p:spPr>
      </p:pic>
      <p:sp>
        <p:nvSpPr>
          <p:cNvPr id="4" name="矩形 3"/>
          <p:cNvSpPr/>
          <p:nvPr/>
        </p:nvSpPr>
        <p:spPr>
          <a:xfrm>
            <a:off x="2303465" y="589779"/>
            <a:ext cx="45511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kern="50" dirty="0" smtClean="0">
                <a:ea typeface="DejaVu Sans" charset="0"/>
              </a:rPr>
              <a:t>Comparison</a:t>
            </a:r>
            <a:r>
              <a:rPr lang="zh-CN" altLang="en-US" sz="2400" kern="50" dirty="0" smtClean="0">
                <a:ea typeface="DejaVu Sans" charset="0"/>
              </a:rPr>
              <a:t> </a:t>
            </a:r>
            <a:r>
              <a:rPr lang="en-GB" altLang="zh-CN" sz="2400" kern="50" dirty="0" smtClean="0">
                <a:ea typeface="DejaVu Sans" charset="0"/>
              </a:rPr>
              <a:t>of the</a:t>
            </a:r>
            <a:r>
              <a:rPr lang="zh-CN" altLang="en-US" sz="2400" kern="50" dirty="0" smtClean="0">
                <a:ea typeface="DejaVu Sans" charset="0"/>
              </a:rPr>
              <a:t> </a:t>
            </a:r>
            <a:r>
              <a:rPr lang="en-US" altLang="zh-CN" sz="2400" kern="50" dirty="0" smtClean="0">
                <a:ea typeface="DejaVu Sans" charset="0"/>
              </a:rPr>
              <a:t>memory</a:t>
            </a:r>
            <a:r>
              <a:rPr lang="zh-CN" altLang="en-US" sz="2400" kern="50" dirty="0" smtClean="0">
                <a:ea typeface="DejaVu Sans" charset="0"/>
              </a:rPr>
              <a:t> </a:t>
            </a:r>
            <a:r>
              <a:rPr lang="en-US" altLang="zh-CN" sz="2400" kern="50" dirty="0" smtClean="0">
                <a:ea typeface="DejaVu Sans" charset="0"/>
              </a:rPr>
              <a:t>usage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2608740" y="5264197"/>
            <a:ext cx="214312" cy="53579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83BEB8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965712" y="5000045"/>
            <a:ext cx="203067" cy="45719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83BEB8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322731" y="4270886"/>
            <a:ext cx="214312" cy="58309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83BEB8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907098" y="5264196"/>
            <a:ext cx="214312" cy="53580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546D6D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279926" y="5169907"/>
            <a:ext cx="214312" cy="53578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546D6D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619024" y="5093666"/>
            <a:ext cx="214312" cy="53579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546D6D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205456" y="5264198"/>
            <a:ext cx="214312" cy="53579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C2515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579037" y="4898543"/>
            <a:ext cx="223883" cy="147222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C2515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918201" y="3874633"/>
            <a:ext cx="228600" cy="443367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C2515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291110" y="2168893"/>
            <a:ext cx="186322" cy="1034409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C2515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667794" y="3033440"/>
            <a:ext cx="214312" cy="169862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83BEB8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32</a:t>
            </a:fld>
            <a:endParaRPr kumimoji="1" lang="zh-CN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-1334540" y="3203303"/>
            <a:ext cx="21822237" cy="48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969599" y="5000045"/>
            <a:ext cx="214312" cy="169862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546D6D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1436" y="1190551"/>
            <a:ext cx="6383323" cy="450588"/>
          </a:xfrm>
          <a:prstGeom prst="rect">
            <a:avLst/>
          </a:prstGeom>
        </p:spPr>
      </p:pic>
      <p:cxnSp>
        <p:nvCxnSpPr>
          <p:cNvPr id="24" name="直线连接符 23"/>
          <p:cNvCxnSpPr/>
          <p:nvPr/>
        </p:nvCxnSpPr>
        <p:spPr>
          <a:xfrm>
            <a:off x="1692770" y="993228"/>
            <a:ext cx="0" cy="282849"/>
          </a:xfrm>
          <a:prstGeom prst="line">
            <a:avLst/>
          </a:prstGeom>
          <a:ln w="25400">
            <a:solidFill>
              <a:srgbClr val="FF6F6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/>
          <p:cNvCxnSpPr/>
          <p:nvPr/>
        </p:nvCxnSpPr>
        <p:spPr>
          <a:xfrm>
            <a:off x="4183592" y="1022336"/>
            <a:ext cx="0" cy="282849"/>
          </a:xfrm>
          <a:prstGeom prst="line">
            <a:avLst/>
          </a:prstGeom>
          <a:ln w="25400">
            <a:solidFill>
              <a:srgbClr val="FF6F6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/>
          <p:cNvCxnSpPr/>
          <p:nvPr/>
        </p:nvCxnSpPr>
        <p:spPr>
          <a:xfrm>
            <a:off x="5918201" y="1022336"/>
            <a:ext cx="0" cy="282849"/>
          </a:xfrm>
          <a:prstGeom prst="line">
            <a:avLst/>
          </a:prstGeom>
          <a:ln w="25400">
            <a:solidFill>
              <a:srgbClr val="FF6F6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358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23" y="1261925"/>
            <a:ext cx="7083159" cy="509442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244879" y="543225"/>
            <a:ext cx="70144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kern="50" dirty="0" smtClean="0">
                <a:ea typeface="DejaVu Sans" charset="0"/>
              </a:rPr>
              <a:t>Comparison</a:t>
            </a:r>
            <a:r>
              <a:rPr lang="zh-CN" altLang="en-US" sz="2400" kern="50" dirty="0" smtClean="0">
                <a:ea typeface="DejaVu Sans" charset="0"/>
              </a:rPr>
              <a:t> </a:t>
            </a:r>
            <a:r>
              <a:rPr lang="en-GB" altLang="zh-CN" sz="2400" kern="50" dirty="0" smtClean="0">
                <a:ea typeface="DejaVu Sans" charset="0"/>
              </a:rPr>
              <a:t>of </a:t>
            </a:r>
            <a:r>
              <a:rPr lang="en-GB" altLang="zh-CN" sz="2400" kern="50" dirty="0">
                <a:ea typeface="DejaVu Sans" charset="0"/>
              </a:rPr>
              <a:t>the running time </a:t>
            </a:r>
            <a:r>
              <a:rPr lang="en-GB" altLang="zh-CN" sz="2400" kern="50" dirty="0" smtClean="0">
                <a:ea typeface="DejaVu Sans" charset="0"/>
              </a:rPr>
              <a:t>for </a:t>
            </a:r>
            <a:r>
              <a:rPr lang="en-GB" altLang="zh-CN" sz="2400" kern="50" dirty="0">
                <a:ea typeface="DejaVu Sans" charset="0"/>
              </a:rPr>
              <a:t>completing queries</a:t>
            </a:r>
            <a:r>
              <a:rPr lang="zh-CN" altLang="zh-CN" sz="2400" dirty="0"/>
              <a:t> </a:t>
            </a:r>
            <a:endParaRPr lang="zh-CN" altLang="en-US" sz="2400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33</a:t>
            </a:fld>
            <a:endParaRPr kumimoji="1"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05343" y="4431779"/>
            <a:ext cx="2018660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cxnSp>
        <p:nvCxnSpPr>
          <p:cNvPr id="11" name="直线连接符 10"/>
          <p:cNvCxnSpPr/>
          <p:nvPr/>
        </p:nvCxnSpPr>
        <p:spPr>
          <a:xfrm>
            <a:off x="1851437" y="1261925"/>
            <a:ext cx="0" cy="282849"/>
          </a:xfrm>
          <a:prstGeom prst="line">
            <a:avLst/>
          </a:prstGeom>
          <a:ln w="25400">
            <a:solidFill>
              <a:srgbClr val="FF6F6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/>
          <p:cNvCxnSpPr/>
          <p:nvPr/>
        </p:nvCxnSpPr>
        <p:spPr>
          <a:xfrm>
            <a:off x="4104011" y="1261925"/>
            <a:ext cx="0" cy="282849"/>
          </a:xfrm>
          <a:prstGeom prst="line">
            <a:avLst/>
          </a:prstGeom>
          <a:ln w="25400">
            <a:solidFill>
              <a:srgbClr val="FF6F6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/>
          <p:cNvCxnSpPr/>
          <p:nvPr/>
        </p:nvCxnSpPr>
        <p:spPr>
          <a:xfrm>
            <a:off x="5740772" y="1261925"/>
            <a:ext cx="0" cy="282849"/>
          </a:xfrm>
          <a:prstGeom prst="line">
            <a:avLst/>
          </a:prstGeom>
          <a:ln w="25400">
            <a:solidFill>
              <a:srgbClr val="FF6F6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80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34</a:t>
            </a:fld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44" y="326585"/>
            <a:ext cx="4200939" cy="29847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888" y="326585"/>
            <a:ext cx="4146942" cy="3066175"/>
          </a:xfrm>
          <a:prstGeom prst="rect">
            <a:avLst/>
          </a:prstGeom>
        </p:spPr>
      </p:pic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448122" y="4001396"/>
            <a:ext cx="8035721" cy="2236313"/>
          </a:xfrm>
          <a:ln w="22225">
            <a:noFill/>
          </a:ln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altLang="zh-CN" sz="2400" dirty="0" err="1"/>
              <a:t>ParQ</a:t>
            </a:r>
            <a:r>
              <a:rPr lang="en-GB" altLang="zh-CN" sz="2400" dirty="0"/>
              <a:t> is more suitable </a:t>
            </a:r>
            <a:r>
              <a:rPr lang="en-GB" altLang="zh-CN" sz="2400" dirty="0" smtClean="0"/>
              <a:t>when </a:t>
            </a:r>
            <a:r>
              <a:rPr lang="en-GB" altLang="zh-CN" sz="2400" dirty="0"/>
              <a:t>the size of static data is much larger than the size of dynamic </a:t>
            </a:r>
            <a:r>
              <a:rPr lang="en-GB" altLang="zh-CN" sz="2400" dirty="0" smtClean="0"/>
              <a:t>data</a:t>
            </a:r>
            <a:endParaRPr lang="zh-CN" altLang="en-US" sz="2400" dirty="0" smtClean="0"/>
          </a:p>
          <a:p>
            <a:pPr marL="0" indent="0">
              <a:buNone/>
            </a:pPr>
            <a:endParaRPr kumimoji="1" lang="zh-CN" altLang="en-US" sz="2400" dirty="0"/>
          </a:p>
          <a:p>
            <a:pPr marL="0" indent="0">
              <a:buNone/>
            </a:pPr>
            <a:r>
              <a:rPr lang="en-US" altLang="zh-CN" sz="2400" dirty="0"/>
              <a:t>I</a:t>
            </a:r>
            <a:r>
              <a:rPr lang="en-GB" altLang="zh-CN" sz="2400" dirty="0" smtClean="0"/>
              <a:t>t </a:t>
            </a:r>
            <a:r>
              <a:rPr lang="en-GB" altLang="zh-CN" sz="2400" dirty="0"/>
              <a:t>is still useful in </a:t>
            </a:r>
            <a:r>
              <a:rPr lang="en-US" altLang="zh-CN" sz="2400" dirty="0" smtClean="0"/>
              <a:t>term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of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the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running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time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77131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703486" y="1156447"/>
            <a:ext cx="8035721" cy="4665090"/>
          </a:xfrm>
          <a:ln w="22225">
            <a:noFill/>
          </a:ln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solidFill>
                  <a:srgbClr val="83BEB8"/>
                </a:solidFill>
              </a:rPr>
              <a:t>Query systems </a:t>
            </a:r>
            <a:r>
              <a:rPr lang="en-US" altLang="zh-CN" sz="2400" dirty="0" smtClean="0"/>
              <a:t>are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developed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to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answer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queries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on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dataset</a:t>
            </a:r>
            <a:endParaRPr lang="zh-CN" altLang="en-US" sz="2400" dirty="0" smtClean="0"/>
          </a:p>
          <a:p>
            <a:r>
              <a:rPr lang="en-US" altLang="zh-CN" sz="2400" dirty="0" smtClean="0"/>
              <a:t>Good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on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single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query</a:t>
            </a:r>
            <a:endParaRPr lang="zh-CN" altLang="en-US" sz="2400" dirty="0" smtClean="0"/>
          </a:p>
          <a:p>
            <a:r>
              <a:rPr lang="en-US" altLang="zh-CN" sz="2400" dirty="0" smtClean="0">
                <a:solidFill>
                  <a:srgbClr val="83BEB8"/>
                </a:solidFill>
              </a:rPr>
              <a:t>Inefficient</a:t>
            </a:r>
            <a:r>
              <a:rPr lang="zh-CN" altLang="en-US" sz="2400" dirty="0" smtClean="0">
                <a:solidFill>
                  <a:srgbClr val="FF6E65"/>
                </a:solidFill>
              </a:rPr>
              <a:t> </a:t>
            </a:r>
            <a:r>
              <a:rPr lang="en-US" altLang="zh-CN" sz="2400" dirty="0"/>
              <a:t>on</a:t>
            </a:r>
            <a:r>
              <a:rPr lang="zh-CN" altLang="en-US" sz="2400" dirty="0"/>
              <a:t> </a:t>
            </a:r>
            <a:r>
              <a:rPr lang="en-US" altLang="zh-CN" sz="2400" dirty="0"/>
              <a:t>multiple</a:t>
            </a:r>
            <a:r>
              <a:rPr lang="zh-CN" altLang="en-US" sz="2400" dirty="0"/>
              <a:t> </a:t>
            </a:r>
            <a:r>
              <a:rPr lang="en-US" altLang="zh-CN" sz="2400" dirty="0"/>
              <a:t>queries</a:t>
            </a:r>
            <a:endParaRPr lang="zh-CN" altLang="en-US" sz="2400" dirty="0"/>
          </a:p>
          <a:p>
            <a:pPr marL="0" indent="0">
              <a:buNone/>
            </a:pPr>
            <a:endParaRPr lang="zh-CN" altLang="en-US" sz="2400" dirty="0" smtClean="0">
              <a:solidFill>
                <a:srgbClr val="FF6E65"/>
              </a:solidFill>
            </a:endParaRPr>
          </a:p>
          <a:p>
            <a:pPr marL="0" indent="0">
              <a:buNone/>
            </a:pPr>
            <a:r>
              <a:rPr lang="en-US" altLang="zh-CN" sz="2400" dirty="0" err="1" smtClean="0">
                <a:solidFill>
                  <a:srgbClr val="83BEB8"/>
                </a:solidFill>
              </a:rPr>
              <a:t>ParQ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is</a:t>
            </a:r>
            <a:r>
              <a:rPr lang="zh-CN" altLang="en-US" sz="2400" dirty="0" smtClean="0"/>
              <a:t> </a:t>
            </a:r>
            <a:r>
              <a:rPr lang="en-GB" altLang="zh-CN" sz="2400" dirty="0" smtClean="0"/>
              <a:t>a </a:t>
            </a:r>
            <a:r>
              <a:rPr lang="en-GB" altLang="zh-CN" sz="2400" dirty="0">
                <a:solidFill>
                  <a:srgbClr val="83BEB8"/>
                </a:solidFill>
              </a:rPr>
              <a:t>memory-efficient</a:t>
            </a:r>
            <a:r>
              <a:rPr lang="en-GB" altLang="zh-CN" sz="2400" dirty="0"/>
              <a:t> approach </a:t>
            </a:r>
            <a:r>
              <a:rPr lang="en-US" altLang="zh-CN" sz="2400" dirty="0" smtClean="0"/>
              <a:t>that</a:t>
            </a:r>
            <a:r>
              <a:rPr lang="en-GB" altLang="zh-CN" sz="2400" dirty="0" smtClean="0"/>
              <a:t> enable</a:t>
            </a:r>
            <a:r>
              <a:rPr lang="en-US" altLang="zh-CN" sz="2400" dirty="0" smtClean="0"/>
              <a:t>s</a:t>
            </a:r>
            <a:r>
              <a:rPr lang="en-GB" altLang="zh-CN" sz="2400" dirty="0" smtClean="0"/>
              <a:t> </a:t>
            </a:r>
            <a:r>
              <a:rPr lang="en-GB" altLang="zh-CN" sz="2400" dirty="0"/>
              <a:t>a query system to concurrently answer </a:t>
            </a:r>
            <a:r>
              <a:rPr lang="en-GB" altLang="zh-CN" sz="2400" dirty="0" smtClean="0"/>
              <a:t>multiple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queries.</a:t>
            </a:r>
            <a:r>
              <a:rPr lang="zh-CN" altLang="en-US" sz="2400" dirty="0" smtClean="0"/>
              <a:t> </a:t>
            </a:r>
          </a:p>
          <a:p>
            <a:r>
              <a:rPr lang="en-US" altLang="zh-CN" sz="2400" dirty="0">
                <a:solidFill>
                  <a:srgbClr val="393D42"/>
                </a:solidFill>
              </a:rPr>
              <a:t>An</a:t>
            </a:r>
            <a:r>
              <a:rPr lang="zh-CN" altLang="en-US" sz="2400" dirty="0">
                <a:solidFill>
                  <a:srgbClr val="393D42"/>
                </a:solidFill>
              </a:rPr>
              <a:t> </a:t>
            </a:r>
            <a:r>
              <a:rPr lang="en-US" altLang="zh-CN" sz="2400" dirty="0">
                <a:solidFill>
                  <a:srgbClr val="393D42"/>
                </a:solidFill>
              </a:rPr>
              <a:t>API</a:t>
            </a:r>
            <a:endParaRPr lang="zh-CN" altLang="en-US" sz="2400" dirty="0"/>
          </a:p>
          <a:p>
            <a:r>
              <a:rPr lang="en-US" altLang="zh-CN" sz="2400" dirty="0" smtClean="0">
                <a:solidFill>
                  <a:srgbClr val="393D42"/>
                </a:solidFill>
              </a:rPr>
              <a:t>Ability</a:t>
            </a:r>
            <a:r>
              <a:rPr lang="zh-CN" altLang="en-US" sz="2400" dirty="0" smtClean="0">
                <a:solidFill>
                  <a:srgbClr val="393D42"/>
                </a:solidFill>
              </a:rPr>
              <a:t> </a:t>
            </a:r>
            <a:r>
              <a:rPr lang="en-GB" altLang="zh-CN" sz="2400" dirty="0">
                <a:solidFill>
                  <a:srgbClr val="393D42"/>
                </a:solidFill>
              </a:rPr>
              <a:t>to work in a distributed </a:t>
            </a:r>
            <a:r>
              <a:rPr lang="en-GB" altLang="zh-CN" sz="2400" dirty="0" smtClean="0">
                <a:solidFill>
                  <a:srgbClr val="393D42"/>
                </a:solidFill>
              </a:rPr>
              <a:t>environment</a:t>
            </a:r>
            <a:endParaRPr lang="zh-CN" altLang="en-US" sz="2400" dirty="0" smtClean="0">
              <a:solidFill>
                <a:srgbClr val="393D42"/>
              </a:solidFill>
            </a:endParaRPr>
          </a:p>
          <a:p>
            <a:r>
              <a:rPr lang="en-US" altLang="zh-CN" sz="2400" kern="50" dirty="0" smtClean="0">
                <a:solidFill>
                  <a:srgbClr val="393D42"/>
                </a:solidFill>
                <a:ea typeface="DejaVu Sans" charset="0"/>
              </a:rPr>
              <a:t>Generality</a:t>
            </a:r>
            <a:endParaRPr lang="zh-CN" altLang="en-US" sz="2400" dirty="0" smtClean="0">
              <a:solidFill>
                <a:srgbClr val="393D42"/>
              </a:solidFill>
            </a:endParaRPr>
          </a:p>
          <a:p>
            <a:pPr marL="0" indent="0">
              <a:buNone/>
            </a:pPr>
            <a:endParaRPr kumimoji="1" lang="zh-CN" altLang="en-US" sz="2400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228839" y="273186"/>
            <a:ext cx="7886700" cy="579864"/>
          </a:xfrm>
          <a:prstGeom prst="rect">
            <a:avLst/>
          </a:prstGeom>
          <a:noFill/>
          <a:ln w="222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 smtClean="0">
                <a:solidFill>
                  <a:srgbClr val="393D42"/>
                </a:solidFill>
              </a:rPr>
              <a:t>Conclusion</a:t>
            </a:r>
            <a:endParaRPr lang="zh-CN" altLang="en-US" sz="3200" dirty="0">
              <a:solidFill>
                <a:srgbClr val="393D42"/>
              </a:solidFill>
            </a:endParaRPr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35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584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E655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538855" y="1683327"/>
            <a:ext cx="3138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Just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future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work</a:t>
            </a:r>
            <a:endParaRPr kumimoji="1" lang="zh-CN" altLang="en-US" dirty="0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228839" y="273186"/>
            <a:ext cx="7886700" cy="579864"/>
          </a:xfrm>
          <a:prstGeom prst="rect">
            <a:avLst/>
          </a:prstGeom>
          <a:noFill/>
          <a:ln w="222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 smtClean="0">
                <a:solidFill>
                  <a:srgbClr val="393D42"/>
                </a:solidFill>
              </a:rPr>
              <a:t>Time</a:t>
            </a:r>
            <a:r>
              <a:rPr lang="zh-CN" altLang="en-US" sz="3200" dirty="0" smtClean="0">
                <a:solidFill>
                  <a:srgbClr val="393D42"/>
                </a:solidFill>
              </a:rPr>
              <a:t> </a:t>
            </a:r>
            <a:r>
              <a:rPr lang="en-US" altLang="zh-CN" sz="3200" dirty="0" smtClean="0">
                <a:solidFill>
                  <a:srgbClr val="393D42"/>
                </a:solidFill>
              </a:rPr>
              <a:t>line</a:t>
            </a:r>
            <a:endParaRPr lang="zh-CN" altLang="en-US" sz="3200" dirty="0">
              <a:solidFill>
                <a:srgbClr val="393D42"/>
              </a:solidFill>
            </a:endParaRPr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36</a:t>
            </a:fld>
            <a:endParaRPr kumimoji="1" lang="zh-CN" altLang="en-US"/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0421"/>
              </p:ext>
            </p:extLst>
          </p:nvPr>
        </p:nvGraphicFramePr>
        <p:xfrm>
          <a:off x="509514" y="1071103"/>
          <a:ext cx="8005836" cy="48209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733283"/>
                <a:gridCol w="227255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+mn-lt"/>
                        </a:rPr>
                        <a:t>Activity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effectLst/>
                          <a:latin typeface="+mn-lt"/>
                          <a:ea typeface="Times New Roman" charset="0"/>
                        </a:rPr>
                        <a:t>Period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 papers and do research</a:t>
                      </a:r>
                      <a:endParaRPr lang="zh-CN" altLang="zh-CN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Sep. 2014 – Oct. 2014</a:t>
                      </a:r>
                      <a:r>
                        <a:rPr lang="zh-CN" altLang="zh-CN" dirty="0" smtClean="0">
                          <a:effectLst/>
                        </a:rPr>
                        <a:t> </a:t>
                      </a:r>
                      <a:endParaRPr lang="zh-CN" altLang="zh-CN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Formulate overall plan</a:t>
                      </a:r>
                      <a:r>
                        <a:rPr lang="zh-CN" altLang="zh-CN" dirty="0" smtClean="0">
                          <a:effectLst/>
                        </a:rPr>
                        <a:t> </a:t>
                      </a:r>
                      <a:endParaRPr lang="zh-CN" altLang="zh-CN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Nov. 2014</a:t>
                      </a:r>
                      <a:r>
                        <a:rPr lang="zh-CN" altLang="zh-CN" smtClean="0">
                          <a:effectLst/>
                        </a:rPr>
                        <a:t> </a:t>
                      </a:r>
                      <a:endParaRPr lang="zh-CN" altLang="zh-CN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Evaluate possible approaches that may achieve the goals</a:t>
                      </a:r>
                      <a:r>
                        <a:rPr lang="zh-CN" altLang="zh-CN" dirty="0" smtClean="0">
                          <a:effectLst/>
                        </a:rPr>
                        <a:t> </a:t>
                      </a:r>
                      <a:endParaRPr lang="zh-CN" altLang="zh-CN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Dec. 2014</a:t>
                      </a:r>
                      <a:r>
                        <a:rPr lang="zh-CN" altLang="zh-CN" dirty="0" smtClean="0">
                          <a:effectLst/>
                        </a:rPr>
                        <a:t> </a:t>
                      </a:r>
                      <a:endParaRPr lang="zh-CN" altLang="zh-CN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Formulate the overall design of ParQ</a:t>
                      </a:r>
                      <a:r>
                        <a:rPr lang="zh-CN" altLang="zh-CN" smtClean="0">
                          <a:effectLst/>
                        </a:rPr>
                        <a:t> </a:t>
                      </a:r>
                      <a:endParaRPr lang="zh-CN" altLang="zh-CN" sz="1800" b="1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Jan. 2015</a:t>
                      </a:r>
                      <a:r>
                        <a:rPr lang="zh-CN" altLang="zh-CN" dirty="0" smtClean="0">
                          <a:effectLst/>
                        </a:rPr>
                        <a:t> </a:t>
                      </a:r>
                      <a:endParaRPr lang="zh-CN" altLang="zh-CN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 main methods of </a:t>
                      </a:r>
                      <a:r>
                        <a:rPr lang="en-GB" altLang="zh-CN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ParQ</a:t>
                      </a:r>
                      <a:r>
                        <a:rPr lang="zh-CN" altLang="zh-CN" dirty="0" smtClean="0">
                          <a:effectLst/>
                        </a:rPr>
                        <a:t> </a:t>
                      </a:r>
                      <a:endParaRPr lang="zh-CN" altLang="zh-CN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Feb. 2015 – Apr. 2015</a:t>
                      </a:r>
                      <a:r>
                        <a:rPr lang="zh-CN" altLang="zh-CN" dirty="0" smtClean="0">
                          <a:effectLst/>
                        </a:rPr>
                        <a:t> </a:t>
                      </a:r>
                      <a:endParaRPr lang="zh-CN" altLang="zh-CN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Improve </a:t>
                      </a:r>
                      <a:r>
                        <a:rPr lang="en-GB" altLang="zh-CN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ParQ</a:t>
                      </a: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adapt to distributed environment</a:t>
                      </a:r>
                      <a:r>
                        <a:rPr lang="zh-CN" altLang="zh-CN" dirty="0" smtClean="0">
                          <a:effectLst/>
                        </a:rPr>
                        <a:t> </a:t>
                      </a:r>
                      <a:endParaRPr lang="zh-CN" altLang="zh-CN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May. 2015 – Jun. 2015</a:t>
                      </a:r>
                      <a:r>
                        <a:rPr lang="zh-CN" altLang="zh-CN" dirty="0" smtClean="0">
                          <a:effectLst/>
                        </a:rPr>
                        <a:t> </a:t>
                      </a:r>
                      <a:endParaRPr lang="zh-CN" altLang="zh-CN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 writing and proposal</a:t>
                      </a:r>
                      <a:r>
                        <a:rPr lang="zh-CN" altLang="zh-CN" dirty="0" smtClean="0">
                          <a:effectLst/>
                        </a:rPr>
                        <a:t> </a:t>
                      </a:r>
                      <a:endParaRPr lang="zh-CN" altLang="zh-CN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Jul. 2015 – Sep. 2015</a:t>
                      </a:r>
                      <a:r>
                        <a:rPr lang="zh-CN" altLang="zh-CN" dirty="0" smtClean="0">
                          <a:effectLst/>
                        </a:rPr>
                        <a:t> </a:t>
                      </a:r>
                      <a:endParaRPr lang="zh-CN" altLang="zh-CN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Study more query systems</a:t>
                      </a:r>
                      <a:r>
                        <a:rPr lang="zh-CN" altLang="zh-CN" dirty="0" smtClean="0">
                          <a:effectLst/>
                        </a:rPr>
                        <a:t> </a:t>
                      </a:r>
                      <a:endParaRPr lang="zh-CN" altLang="zh-CN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Oct. 2015 – Dec. 2015</a:t>
                      </a:r>
                      <a:r>
                        <a:rPr lang="zh-CN" altLang="zh-CN" dirty="0" smtClean="0">
                          <a:effectLst/>
                        </a:rPr>
                        <a:t> </a:t>
                      </a:r>
                      <a:endParaRPr lang="zh-CN" altLang="zh-CN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Improve </a:t>
                      </a:r>
                      <a:r>
                        <a:rPr lang="en-GB" altLang="zh-CN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ParQ</a:t>
                      </a: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so that it can process more data types</a:t>
                      </a:r>
                      <a:r>
                        <a:rPr lang="zh-CN" altLang="zh-CN" dirty="0" smtClean="0">
                          <a:effectLst/>
                        </a:rPr>
                        <a:t> </a:t>
                      </a:r>
                      <a:endParaRPr lang="zh-CN" altLang="zh-CN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Jan. 2016 – Feb. 2016</a:t>
                      </a:r>
                      <a:r>
                        <a:rPr lang="zh-CN" altLang="zh-CN" dirty="0" smtClean="0">
                          <a:effectLst/>
                        </a:rPr>
                        <a:t> </a:t>
                      </a:r>
                      <a:endParaRPr lang="zh-CN" altLang="zh-CN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Adopted improved </a:t>
                      </a:r>
                      <a:r>
                        <a:rPr lang="en-GB" altLang="zh-CN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ParQ</a:t>
                      </a: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perform experiments</a:t>
                      </a:r>
                      <a:r>
                        <a:rPr lang="zh-CN" altLang="zh-CN" dirty="0" smtClean="0">
                          <a:effectLst/>
                        </a:rPr>
                        <a:t> </a:t>
                      </a:r>
                      <a:endParaRPr lang="zh-CN" altLang="zh-CN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Mar. 2016 – Apr. 2016 </a:t>
                      </a:r>
                      <a:endParaRPr lang="zh-CN" altLang="zh-CN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 writing</a:t>
                      </a:r>
                      <a:r>
                        <a:rPr lang="zh-CN" altLang="zh-CN" dirty="0" smtClean="0">
                          <a:effectLst/>
                        </a:rPr>
                        <a:t> </a:t>
                      </a:r>
                      <a:endParaRPr lang="zh-CN" altLang="zh-CN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May. 2016</a:t>
                      </a:r>
                      <a:r>
                        <a:rPr lang="zh-CN" altLang="zh-CN" dirty="0" smtClean="0">
                          <a:effectLst/>
                        </a:rPr>
                        <a:t> </a:t>
                      </a:r>
                      <a:endParaRPr lang="zh-CN" altLang="zh-CN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 thesis </a:t>
                      </a:r>
                      <a:r>
                        <a:rPr lang="en-GB" altLang="zh-CN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defense</a:t>
                      </a:r>
                      <a:r>
                        <a:rPr lang="zh-CN" altLang="zh-CN" dirty="0" smtClean="0">
                          <a:effectLst/>
                        </a:rPr>
                        <a:t> </a:t>
                      </a:r>
                      <a:endParaRPr lang="zh-CN" altLang="zh-CN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Jul. 2016</a:t>
                      </a:r>
                      <a:r>
                        <a:rPr lang="zh-CN" altLang="zh-CN" dirty="0" smtClean="0">
                          <a:effectLst/>
                        </a:rPr>
                        <a:t> </a:t>
                      </a:r>
                      <a:endParaRPr lang="zh-CN" altLang="zh-CN" sz="18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596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37</a:t>
            </a:fld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60848" y="525294"/>
            <a:ext cx="805450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ea typeface="Times New Roman" charset="0"/>
              </a:rPr>
              <a:t>References</a:t>
            </a:r>
            <a:endParaRPr lang="zh-CN" altLang="en-US" sz="2400" dirty="0" smtClean="0">
              <a:ea typeface="Times New Roman" charset="0"/>
            </a:endParaRPr>
          </a:p>
          <a:p>
            <a:endParaRPr lang="zh-CN" altLang="en-US" sz="2400" dirty="0">
              <a:ea typeface="Times New Roman" charset="0"/>
            </a:endParaRPr>
          </a:p>
          <a:p>
            <a:r>
              <a:rPr lang="en-US" altLang="zh-CN" sz="2400" dirty="0" smtClean="0">
                <a:ea typeface="Times New Roman" charset="0"/>
              </a:rPr>
              <a:t>[1]</a:t>
            </a:r>
            <a:r>
              <a:rPr lang="zh-CN" altLang="en-US" sz="2400" dirty="0" smtClean="0">
                <a:ea typeface="Times New Roman" charset="0"/>
              </a:rPr>
              <a:t> </a:t>
            </a:r>
            <a:r>
              <a:rPr lang="en-US" altLang="zh-CN" sz="2400" dirty="0" err="1" smtClean="0">
                <a:ea typeface="Times New Roman" charset="0"/>
              </a:rPr>
              <a:t>Jin</a:t>
            </a:r>
            <a:r>
              <a:rPr lang="en-US" altLang="zh-CN" sz="2400" dirty="0" smtClean="0">
                <a:ea typeface="Times New Roman" charset="0"/>
              </a:rPr>
              <a:t>,</a:t>
            </a:r>
            <a:r>
              <a:rPr lang="zh-CN" altLang="en-US" sz="2400" dirty="0" smtClean="0">
                <a:ea typeface="Times New Roman" charset="0"/>
              </a:rPr>
              <a:t> </a:t>
            </a:r>
            <a:r>
              <a:rPr lang="en-US" altLang="zh-CN" sz="2400" dirty="0" smtClean="0">
                <a:ea typeface="Times New Roman" charset="0"/>
              </a:rPr>
              <a:t>J.,</a:t>
            </a:r>
            <a:r>
              <a:rPr lang="zh-CN" altLang="en-US" sz="2400" dirty="0" smtClean="0">
                <a:ea typeface="Times New Roman" charset="0"/>
              </a:rPr>
              <a:t> </a:t>
            </a:r>
            <a:r>
              <a:rPr lang="en-US" altLang="zh-CN" sz="2400" dirty="0" smtClean="0">
                <a:ea typeface="Times New Roman" charset="0"/>
              </a:rPr>
              <a:t>et</a:t>
            </a:r>
            <a:r>
              <a:rPr lang="zh-CN" altLang="en-US" sz="2400" dirty="0" smtClean="0">
                <a:ea typeface="Times New Roman" charset="0"/>
              </a:rPr>
              <a:t> </a:t>
            </a:r>
            <a:r>
              <a:rPr lang="en-US" altLang="zh-CN" sz="2400" dirty="0" smtClean="0">
                <a:ea typeface="Times New Roman" charset="0"/>
              </a:rPr>
              <a:t>al.:</a:t>
            </a:r>
            <a:r>
              <a:rPr lang="zh-CN" altLang="en-US" sz="2400" dirty="0" smtClean="0">
                <a:ea typeface="Times New Roman" charset="0"/>
              </a:rPr>
              <a:t> </a:t>
            </a:r>
            <a:r>
              <a:rPr lang="en-US" altLang="zh-CN" sz="2400" dirty="0" smtClean="0">
                <a:ea typeface="Times New Roman" charset="0"/>
              </a:rPr>
              <a:t>An</a:t>
            </a:r>
            <a:r>
              <a:rPr lang="zh-CN" altLang="en-US" sz="2400" dirty="0" smtClean="0">
                <a:ea typeface="Times New Roman" charset="0"/>
              </a:rPr>
              <a:t> </a:t>
            </a:r>
            <a:r>
              <a:rPr lang="en-US" altLang="zh-CN" sz="2400" dirty="0" smtClean="0">
                <a:ea typeface="Times New Roman" charset="0"/>
              </a:rPr>
              <a:t>Index-Free</a:t>
            </a:r>
            <a:r>
              <a:rPr lang="zh-CN" altLang="en-US" sz="2400" dirty="0" smtClean="0">
                <a:ea typeface="Times New Roman" charset="0"/>
              </a:rPr>
              <a:t> </a:t>
            </a:r>
            <a:r>
              <a:rPr lang="en-US" altLang="zh-CN" sz="2400" dirty="0"/>
              <a:t>Approach for Top-k Star Queries on Billion Node </a:t>
            </a:r>
            <a:r>
              <a:rPr lang="en-US" altLang="zh-CN" sz="2400" dirty="0" smtClean="0"/>
              <a:t>Graphs.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IEEE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(</a:t>
            </a:r>
            <a:r>
              <a:rPr lang="en-US" altLang="zh-CN" sz="2400" dirty="0" smtClean="0"/>
              <a:t>2015</a:t>
            </a:r>
            <a:r>
              <a:rPr lang="en-US" altLang="zh-CN" sz="2400" dirty="0"/>
              <a:t>)</a:t>
            </a:r>
            <a:endParaRPr lang="zh-CN" altLang="en-US" sz="2400" dirty="0" smtClean="0">
              <a:ea typeface="Times New Roman" charset="0"/>
            </a:endParaRPr>
          </a:p>
          <a:p>
            <a:endParaRPr lang="zh-CN" altLang="en-US" sz="2400" dirty="0">
              <a:ea typeface="Times New Roman" charset="0"/>
            </a:endParaRPr>
          </a:p>
          <a:p>
            <a:r>
              <a:rPr lang="en-US" altLang="zh-CN" sz="2400" dirty="0" smtClean="0">
                <a:ea typeface="Times New Roman" charset="0"/>
              </a:rPr>
              <a:t>[2]</a:t>
            </a:r>
            <a:r>
              <a:rPr lang="zh-CN" altLang="en-US" sz="2400" dirty="0" smtClean="0">
                <a:ea typeface="Times New Roman" charset="0"/>
              </a:rPr>
              <a:t> </a:t>
            </a:r>
            <a:r>
              <a:rPr lang="en-US" altLang="zh-CN" sz="2400" dirty="0" err="1" smtClean="0">
                <a:ea typeface="Times New Roman" charset="0"/>
              </a:rPr>
              <a:t>Khemmarat</a:t>
            </a:r>
            <a:r>
              <a:rPr lang="en-US" altLang="zh-CN" sz="2400" dirty="0">
                <a:ea typeface="Times New Roman" charset="0"/>
              </a:rPr>
              <a:t>, S., et al.: Fast top-k path-based relevance query on massive graphs. ICDE’14 (2014) </a:t>
            </a:r>
            <a:endParaRPr lang="zh-CN" altLang="en-US" sz="2400" dirty="0" smtClean="0">
              <a:ea typeface="Times New Roman" charset="0"/>
            </a:endParaRPr>
          </a:p>
          <a:p>
            <a:endParaRPr lang="zh-CN" altLang="en-US" sz="2400" dirty="0">
              <a:ea typeface="Times New Roman" charset="0"/>
            </a:endParaRPr>
          </a:p>
          <a:p>
            <a:r>
              <a:rPr lang="en-US" altLang="zh-CN" sz="2400" dirty="0" smtClean="0">
                <a:ea typeface="Times New Roman" charset="0"/>
              </a:rPr>
              <a:t>[3]</a:t>
            </a:r>
            <a:r>
              <a:rPr lang="zh-CN" altLang="en-US" sz="2400" dirty="0" smtClean="0">
                <a:ea typeface="Times New Roman" charset="0"/>
              </a:rPr>
              <a:t> </a:t>
            </a:r>
            <a:r>
              <a:rPr lang="en-US" altLang="zh-CN" sz="2400" dirty="0"/>
              <a:t>Yin J., et al.: Scalable Distributed Belief Propagation with Prioritized Block </a:t>
            </a:r>
            <a:r>
              <a:rPr lang="en-US" altLang="zh-CN" sz="2400" dirty="0" smtClean="0"/>
              <a:t>Updates. </a:t>
            </a:r>
            <a:r>
              <a:rPr lang="en-US" altLang="zh-CN" sz="2400" dirty="0"/>
              <a:t>ACM (</a:t>
            </a:r>
            <a:r>
              <a:rPr lang="en-US" altLang="zh-CN" sz="2400" dirty="0" smtClean="0"/>
              <a:t>2014)</a:t>
            </a:r>
            <a:endParaRPr lang="zh-CN" altLang="zh-CN" sz="2400" dirty="0"/>
          </a:p>
          <a:p>
            <a:endParaRPr lang="zh-CN" altLang="zh-CN" sz="2400" dirty="0">
              <a:ea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34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75981" y="2505947"/>
            <a:ext cx="78418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Thank you for your valuable time, comments and </a:t>
            </a:r>
            <a:r>
              <a:rPr lang="en-US" altLang="zh-CN" sz="2400" dirty="0" smtClean="0"/>
              <a:t>encouragement</a:t>
            </a:r>
            <a:r>
              <a:rPr lang="en-US" altLang="zh-CN" sz="2400" dirty="0" smtClean="0"/>
              <a:t>!</a:t>
            </a:r>
            <a:endParaRPr lang="zh-CN" altLang="en-US" sz="2400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38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233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734" y="1247048"/>
            <a:ext cx="1829435" cy="1039495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4724399" y="656237"/>
            <a:ext cx="3908107" cy="2221118"/>
          </a:xfrm>
          <a:prstGeom prst="rect">
            <a:avLst/>
          </a:prstGeom>
          <a:ln w="19050"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</p:pic>
      <p:grpSp>
        <p:nvGrpSpPr>
          <p:cNvPr id="9" name="组 8"/>
          <p:cNvGrpSpPr/>
          <p:nvPr/>
        </p:nvGrpSpPr>
        <p:grpSpPr>
          <a:xfrm>
            <a:off x="278615" y="3527856"/>
            <a:ext cx="4351655" cy="1272540"/>
            <a:chOff x="278615" y="3527856"/>
            <a:chExt cx="4351655" cy="1272540"/>
          </a:xfrm>
        </p:grpSpPr>
        <p:sp>
          <p:nvSpPr>
            <p:cNvPr id="18" name="矩形 17"/>
            <p:cNvSpPr/>
            <p:nvPr/>
          </p:nvSpPr>
          <p:spPr>
            <a:xfrm>
              <a:off x="1767690" y="3527856"/>
              <a:ext cx="2862580" cy="1272540"/>
            </a:xfrm>
            <a:prstGeom prst="rect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6" name="组 5"/>
            <p:cNvGrpSpPr/>
            <p:nvPr/>
          </p:nvGrpSpPr>
          <p:grpSpPr>
            <a:xfrm>
              <a:off x="278615" y="3781221"/>
              <a:ext cx="1490345" cy="689610"/>
              <a:chOff x="278615" y="3781221"/>
              <a:chExt cx="1490345" cy="689610"/>
            </a:xfrm>
          </p:grpSpPr>
          <p:pic>
            <p:nvPicPr>
              <p:cNvPr id="17" name="图片 16"/>
              <p:cNvPicPr/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8615" y="3781221"/>
                <a:ext cx="1369695" cy="689610"/>
              </a:xfrm>
              <a:prstGeom prst="rect">
                <a:avLst/>
              </a:prstGeom>
            </p:spPr>
          </p:pic>
          <p:sp>
            <p:nvSpPr>
              <p:cNvPr id="19" name="右箭头 18"/>
              <p:cNvSpPr/>
              <p:nvPr/>
            </p:nvSpPr>
            <p:spPr>
              <a:xfrm>
                <a:off x="1311760" y="4038396"/>
                <a:ext cx="457200" cy="254000"/>
              </a:xfrm>
              <a:prstGeom prst="rightArrow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7" name="组 6"/>
          <p:cNvGrpSpPr/>
          <p:nvPr/>
        </p:nvGrpSpPr>
        <p:grpSpPr>
          <a:xfrm>
            <a:off x="4629000" y="3779316"/>
            <a:ext cx="1480185" cy="638175"/>
            <a:chOff x="4629000" y="3779316"/>
            <a:chExt cx="1480185" cy="638175"/>
          </a:xfrm>
        </p:grpSpPr>
        <p:pic>
          <p:nvPicPr>
            <p:cNvPr id="16" name="图片 15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9490" y="3779316"/>
              <a:ext cx="1369695" cy="638175"/>
            </a:xfrm>
            <a:prstGeom prst="rect">
              <a:avLst/>
            </a:prstGeom>
          </p:spPr>
        </p:pic>
        <p:sp>
          <p:nvSpPr>
            <p:cNvPr id="20" name="右箭头 19"/>
            <p:cNvSpPr/>
            <p:nvPr/>
          </p:nvSpPr>
          <p:spPr>
            <a:xfrm>
              <a:off x="4629000" y="4041571"/>
              <a:ext cx="457200" cy="254000"/>
            </a:xfrm>
            <a:prstGeom prst="rightArrow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3667461" y="3871708"/>
            <a:ext cx="1017419" cy="50863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COMPUTA-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-TIONS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8980" y="1688127"/>
            <a:ext cx="2070099" cy="1067649"/>
          </a:xfrm>
          <a:prstGeom prst="rect">
            <a:avLst/>
          </a:prstGeom>
          <a:ln w="19050"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</p:pic>
      <p:sp>
        <p:nvSpPr>
          <p:cNvPr id="4" name="矩形 3"/>
          <p:cNvSpPr/>
          <p:nvPr/>
        </p:nvSpPr>
        <p:spPr>
          <a:xfrm>
            <a:off x="120311" y="656237"/>
            <a:ext cx="450868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50" dirty="0" smtClean="0">
                <a:solidFill>
                  <a:srgbClr val="9F3230"/>
                </a:solidFill>
                <a:ea typeface="DejaVu Sans" charset="0"/>
              </a:rPr>
              <a:t>The t</a:t>
            </a:r>
            <a:r>
              <a:rPr lang="en-GB" altLang="zh-CN" sz="2000" kern="50" dirty="0" smtClean="0">
                <a:solidFill>
                  <a:srgbClr val="9F3230"/>
                </a:solidFill>
                <a:ea typeface="DejaVu Sans" charset="0"/>
              </a:rPr>
              <a:t>op-</a:t>
            </a:r>
            <a:r>
              <a:rPr lang="en-GB" altLang="zh-CN" sz="2000" i="1" kern="50" dirty="0" smtClean="0">
                <a:solidFill>
                  <a:srgbClr val="9F3230"/>
                </a:solidFill>
                <a:ea typeface="DejaVu Sans" charset="0"/>
              </a:rPr>
              <a:t>k</a:t>
            </a:r>
            <a:r>
              <a:rPr lang="en-GB" altLang="zh-CN" sz="2000" kern="50" dirty="0" smtClean="0">
                <a:solidFill>
                  <a:srgbClr val="9F3230"/>
                </a:solidFill>
                <a:ea typeface="DejaVu Sans" charset="0"/>
              </a:rPr>
              <a:t> </a:t>
            </a:r>
            <a:r>
              <a:rPr lang="en-GB" altLang="zh-CN" sz="2000" kern="50" dirty="0">
                <a:solidFill>
                  <a:srgbClr val="9F3230"/>
                </a:solidFill>
                <a:ea typeface="DejaVu Sans" charset="0"/>
              </a:rPr>
              <a:t>star query system </a:t>
            </a:r>
            <a:r>
              <a:rPr lang="en-US" altLang="zh-CN" sz="2000" kern="50" dirty="0" smtClean="0">
                <a:ea typeface="DejaVu Sans" charset="0"/>
              </a:rPr>
              <a:t>is</a:t>
            </a:r>
            <a:r>
              <a:rPr lang="zh-CN" altLang="en-US" sz="2000" kern="50" dirty="0" smtClean="0">
                <a:ea typeface="DejaVu Sans" charset="0"/>
              </a:rPr>
              <a:t> </a:t>
            </a:r>
            <a:r>
              <a:rPr lang="en-US" altLang="zh-CN" sz="2000" kern="50" dirty="0" smtClean="0">
                <a:ea typeface="DejaVu Sans" charset="0"/>
              </a:rPr>
              <a:t>able</a:t>
            </a:r>
            <a:r>
              <a:rPr lang="en-GB" altLang="zh-CN" sz="2000" kern="50" dirty="0" smtClean="0">
                <a:ea typeface="DejaVu Sans" charset="0"/>
              </a:rPr>
              <a:t> </a:t>
            </a:r>
            <a:r>
              <a:rPr lang="en-GB" altLang="zh-CN" sz="2000" kern="50" dirty="0">
                <a:ea typeface="DejaVu Sans" charset="0"/>
              </a:rPr>
              <a:t>to find the best </a:t>
            </a:r>
            <a:r>
              <a:rPr lang="en-GB" altLang="zh-CN" sz="2000" i="1" kern="50" dirty="0">
                <a:ea typeface="DejaVu Sans" charset="0"/>
              </a:rPr>
              <a:t>k</a:t>
            </a:r>
            <a:r>
              <a:rPr lang="en-GB" altLang="zh-CN" sz="2000" kern="50" dirty="0">
                <a:ea typeface="DejaVu Sans" charset="0"/>
              </a:rPr>
              <a:t> answers for a query from a </a:t>
            </a:r>
            <a:r>
              <a:rPr lang="en-GB" altLang="zh-CN" sz="2000" kern="50" dirty="0" smtClean="0">
                <a:ea typeface="DejaVu Sans" charset="0"/>
              </a:rPr>
              <a:t>graph</a:t>
            </a:r>
            <a:r>
              <a:rPr lang="en-US" altLang="zh-CN" sz="2000" kern="50" dirty="0" smtClean="0">
                <a:ea typeface="DejaVu Sans" charset="0"/>
              </a:rPr>
              <a:t>.</a:t>
            </a:r>
            <a:r>
              <a:rPr lang="zh-CN" altLang="zh-CN" sz="2000" dirty="0" smtClean="0"/>
              <a:t> </a:t>
            </a:r>
            <a:endParaRPr lang="zh-CN" altLang="en-US" sz="2000" dirty="0"/>
          </a:p>
        </p:txBody>
      </p:sp>
      <p:sp>
        <p:nvSpPr>
          <p:cNvPr id="23" name="矩形 22"/>
          <p:cNvSpPr/>
          <p:nvPr/>
        </p:nvSpPr>
        <p:spPr>
          <a:xfrm>
            <a:off x="4318493" y="3066973"/>
            <a:ext cx="47199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altLang="zh-CN" sz="2400" kern="50" dirty="0" smtClean="0">
                <a:ea typeface="DejaVu Sans" charset="0"/>
              </a:rPr>
              <a:t>Freebase</a:t>
            </a:r>
            <a:endParaRPr lang="zh-CN" altLang="en-US" sz="2400" kern="50" dirty="0" smtClean="0">
              <a:ea typeface="DejaVu Sans" charset="0"/>
            </a:endParaRPr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39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396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1.11111E-6 L -0.42396 0.3493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98" y="174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734" y="1247048"/>
            <a:ext cx="1829435" cy="1039495"/>
          </a:xfrm>
          <a:prstGeom prst="rect">
            <a:avLst/>
          </a:prstGeom>
        </p:spPr>
      </p:pic>
      <p:pic>
        <p:nvPicPr>
          <p:cNvPr id="26" name="图片 2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734" y="1247048"/>
            <a:ext cx="1829435" cy="1039495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733" y="1247048"/>
            <a:ext cx="1829435" cy="1039495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3"/>
          <a:stretch>
            <a:fillRect/>
          </a:stretch>
        </p:blipFill>
        <p:spPr>
          <a:xfrm>
            <a:off x="4743935" y="696686"/>
            <a:ext cx="3908107" cy="2221118"/>
          </a:xfrm>
          <a:prstGeom prst="rect">
            <a:avLst/>
          </a:prstGeom>
          <a:ln w="19050"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</p:pic>
      <p:grpSp>
        <p:nvGrpSpPr>
          <p:cNvPr id="9" name="组 8"/>
          <p:cNvGrpSpPr/>
          <p:nvPr/>
        </p:nvGrpSpPr>
        <p:grpSpPr>
          <a:xfrm>
            <a:off x="4628365" y="3772332"/>
            <a:ext cx="1828165" cy="1880235"/>
            <a:chOff x="4628365" y="3772332"/>
            <a:chExt cx="1828165" cy="1880235"/>
          </a:xfrm>
        </p:grpSpPr>
        <p:pic>
          <p:nvPicPr>
            <p:cNvPr id="5" name="图片 4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3935" y="5014392"/>
              <a:ext cx="1712595" cy="638175"/>
            </a:xfrm>
            <a:prstGeom prst="rect">
              <a:avLst/>
            </a:prstGeom>
          </p:spPr>
        </p:pic>
        <p:pic>
          <p:nvPicPr>
            <p:cNvPr id="6" name="图片 5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6315" y="3772332"/>
              <a:ext cx="1369695" cy="638175"/>
            </a:xfrm>
            <a:prstGeom prst="rect">
              <a:avLst/>
            </a:prstGeom>
          </p:spPr>
        </p:pic>
        <p:sp>
          <p:nvSpPr>
            <p:cNvPr id="11" name="右箭头 10"/>
            <p:cNvSpPr/>
            <p:nvPr/>
          </p:nvSpPr>
          <p:spPr>
            <a:xfrm>
              <a:off x="4628365" y="3997122"/>
              <a:ext cx="457200" cy="254000"/>
            </a:xfrm>
            <a:prstGeom prst="rightArrow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2" name="右箭头 11"/>
            <p:cNvSpPr/>
            <p:nvPr/>
          </p:nvSpPr>
          <p:spPr>
            <a:xfrm>
              <a:off x="4628365" y="5174412"/>
              <a:ext cx="457200" cy="254000"/>
            </a:xfrm>
            <a:prstGeom prst="rightArrow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 2"/>
          <p:cNvGrpSpPr/>
          <p:nvPr/>
        </p:nvGrpSpPr>
        <p:grpSpPr>
          <a:xfrm>
            <a:off x="165585" y="3527857"/>
            <a:ext cx="4464685" cy="2408555"/>
            <a:chOff x="165585" y="3527857"/>
            <a:chExt cx="4464685" cy="2408555"/>
          </a:xfrm>
        </p:grpSpPr>
        <p:pic>
          <p:nvPicPr>
            <p:cNvPr id="4" name="图片 3"/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585" y="5017567"/>
              <a:ext cx="1493520" cy="66929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870" y="3780587"/>
              <a:ext cx="1369695" cy="68961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1777850" y="3527857"/>
              <a:ext cx="2852420" cy="2408555"/>
            </a:xfrm>
            <a:prstGeom prst="rect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3" name="右箭头 12"/>
            <p:cNvSpPr/>
            <p:nvPr/>
          </p:nvSpPr>
          <p:spPr>
            <a:xfrm>
              <a:off x="1308585" y="4033317"/>
              <a:ext cx="457200" cy="254000"/>
            </a:xfrm>
            <a:prstGeom prst="rightArrow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4" name="右箭头 13"/>
            <p:cNvSpPr/>
            <p:nvPr/>
          </p:nvSpPr>
          <p:spPr>
            <a:xfrm>
              <a:off x="1308585" y="5180127"/>
              <a:ext cx="457200" cy="254000"/>
            </a:xfrm>
            <a:prstGeom prst="rightArrow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3667461" y="3871708"/>
            <a:ext cx="1017419" cy="50863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COMPUTA-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-TIONS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686212" y="5079161"/>
            <a:ext cx="1017419" cy="50863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COMPUTA-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-TIONS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9871" y="1035001"/>
            <a:ext cx="2070099" cy="1067649"/>
          </a:xfrm>
          <a:prstGeom prst="rect">
            <a:avLst/>
          </a:prstGeom>
          <a:ln w="19050"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32221" y="1950497"/>
            <a:ext cx="2109754" cy="983551"/>
          </a:xfrm>
          <a:prstGeom prst="rect">
            <a:avLst/>
          </a:prstGeom>
          <a:ln w="19050"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</p:pic>
      <p:sp>
        <p:nvSpPr>
          <p:cNvPr id="28" name="矩形 27"/>
          <p:cNvSpPr/>
          <p:nvPr/>
        </p:nvSpPr>
        <p:spPr>
          <a:xfrm>
            <a:off x="1858709" y="6216718"/>
            <a:ext cx="55393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/>
              <a:t>M</a:t>
            </a:r>
            <a:r>
              <a:rPr lang="en-US" altLang="zh-CN" sz="2000" dirty="0" smtClean="0"/>
              <a:t>emory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usage</a:t>
            </a:r>
            <a:r>
              <a:rPr lang="zh-CN" altLang="en-US" sz="2000" dirty="0" smtClean="0"/>
              <a:t> </a:t>
            </a:r>
            <a:r>
              <a:rPr lang="en-US" altLang="zh-CN" sz="2000" dirty="0" smtClean="0">
                <a:solidFill>
                  <a:srgbClr val="9F3230"/>
                </a:solidFill>
              </a:rPr>
              <a:t>doubles</a:t>
            </a:r>
            <a:r>
              <a:rPr lang="en-US" altLang="zh-CN" sz="2000" dirty="0" smtClean="0"/>
              <a:t>.</a:t>
            </a:r>
            <a:r>
              <a:rPr lang="zh-CN" altLang="en-US" sz="2000" dirty="0"/>
              <a:t> </a:t>
            </a:r>
            <a:r>
              <a:rPr lang="en-US" altLang="zh-CN" sz="2000" dirty="0" smtClean="0"/>
              <a:t>Running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time</a:t>
            </a:r>
            <a:r>
              <a:rPr lang="zh-CN" altLang="en-US" sz="2000" dirty="0" smtClean="0"/>
              <a:t> </a:t>
            </a:r>
            <a:r>
              <a:rPr lang="en-US" altLang="zh-CN" sz="2000" dirty="0" smtClean="0">
                <a:solidFill>
                  <a:srgbClr val="9F3230"/>
                </a:solidFill>
              </a:rPr>
              <a:t>increases</a:t>
            </a:r>
            <a:r>
              <a:rPr lang="en-US" altLang="zh-CN" sz="2000" dirty="0" smtClean="0"/>
              <a:t>.</a:t>
            </a:r>
            <a:endParaRPr lang="zh-CN" altLang="en-US" sz="2000" dirty="0" smtClean="0"/>
          </a:p>
        </p:txBody>
      </p:sp>
      <p:sp>
        <p:nvSpPr>
          <p:cNvPr id="30" name="对角圆角矩形 29"/>
          <p:cNvSpPr/>
          <p:nvPr/>
        </p:nvSpPr>
        <p:spPr>
          <a:xfrm>
            <a:off x="0" y="0"/>
            <a:ext cx="2921785" cy="753324"/>
          </a:xfrm>
          <a:prstGeom prst="round2DiagRect">
            <a:avLst>
              <a:gd name="adj1" fmla="val 0"/>
              <a:gd name="adj2" fmla="val 46411"/>
            </a:avLst>
          </a:prstGeom>
          <a:gradFill flip="none" rotWithShape="1">
            <a:gsLst>
              <a:gs pos="0">
                <a:srgbClr val="9F3230"/>
              </a:gs>
              <a:gs pos="46000">
                <a:srgbClr val="D4756F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smtClean="0"/>
              <a:t>PROBLEM</a:t>
            </a:r>
            <a:endParaRPr kumimoji="1" lang="zh-CN" altLang="en-US" sz="2400" b="1" dirty="0"/>
          </a:p>
        </p:txBody>
      </p:sp>
      <p:sp>
        <p:nvSpPr>
          <p:cNvPr id="10" name="幻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40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8932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1.11111E-6 L -0.42396 0.3493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98" y="1745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47 -0.00093 L -0.42396 0.51435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24" y="25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内容占位符 2"/>
          <p:cNvSpPr>
            <a:spLocks noGrp="1"/>
          </p:cNvSpPr>
          <p:nvPr>
            <p:ph idx="1"/>
          </p:nvPr>
        </p:nvSpPr>
        <p:spPr>
          <a:xfrm>
            <a:off x="647280" y="3574046"/>
            <a:ext cx="7886700" cy="2506694"/>
          </a:xfrm>
          <a:ln w="22225"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rgbClr val="9F3230"/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txBody>
          <a:bodyPr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 err="1" smtClean="0">
                <a:solidFill>
                  <a:srgbClr val="FF0000"/>
                </a:solidFill>
              </a:rPr>
              <a:t>ParQ</a:t>
            </a:r>
            <a:r>
              <a:rPr lang="en-US" altLang="zh-CN" sz="2400" dirty="0" smtClean="0">
                <a:solidFill>
                  <a:srgbClr val="FF0000"/>
                </a:solidFill>
              </a:rPr>
              <a:t>:</a:t>
            </a:r>
            <a:endParaRPr lang="zh-CN" altLang="en-US" sz="2400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 sz="2400" dirty="0" smtClean="0">
              <a:solidFill>
                <a:srgbClr val="FF0000"/>
              </a:solidFill>
            </a:endParaRPr>
          </a:p>
          <a:p>
            <a:r>
              <a:rPr lang="en-US" altLang="zh-CN" sz="2400" kern="50" dirty="0" smtClean="0">
                <a:ea typeface="DejaVu Sans" charset="0"/>
              </a:rPr>
              <a:t>enables </a:t>
            </a:r>
            <a:r>
              <a:rPr lang="en-US" altLang="zh-CN" sz="2400" kern="50" dirty="0">
                <a:ea typeface="DejaVu Sans" charset="0"/>
              </a:rPr>
              <a:t>an</a:t>
            </a:r>
            <a:r>
              <a:rPr lang="zh-CN" altLang="en-US" sz="2400" kern="50" dirty="0">
                <a:ea typeface="DejaVu Sans" charset="0"/>
              </a:rPr>
              <a:t> </a:t>
            </a:r>
            <a:r>
              <a:rPr lang="en-US" altLang="zh-CN" sz="2400" kern="50" dirty="0">
                <a:ea typeface="DejaVu Sans" charset="0"/>
              </a:rPr>
              <a:t>existing query system to concurrently answer multiple queries</a:t>
            </a:r>
            <a:r>
              <a:rPr lang="zh-CN" altLang="en-US" sz="2400" kern="50" dirty="0">
                <a:ea typeface="DejaVu Sans" charset="0"/>
              </a:rPr>
              <a:t> </a:t>
            </a:r>
            <a:r>
              <a:rPr lang="en-US" altLang="zh-CN" sz="2400" kern="50" dirty="0">
                <a:ea typeface="DejaVu Sans" charset="0"/>
              </a:rPr>
              <a:t>by</a:t>
            </a:r>
            <a:r>
              <a:rPr lang="zh-CN" altLang="en-US" sz="2400" kern="50" dirty="0">
                <a:ea typeface="DejaVu Sans" charset="0"/>
              </a:rPr>
              <a:t> </a:t>
            </a:r>
            <a:r>
              <a:rPr lang="en-US" altLang="zh-CN" sz="2400" kern="50" dirty="0">
                <a:ea typeface="DejaVu Sans" charset="0"/>
              </a:rPr>
              <a:t>sharing</a:t>
            </a:r>
            <a:r>
              <a:rPr lang="zh-CN" altLang="en-US" sz="2400" kern="50" dirty="0">
                <a:ea typeface="DejaVu Sans" charset="0"/>
              </a:rPr>
              <a:t> </a:t>
            </a:r>
            <a:r>
              <a:rPr lang="en-US" altLang="zh-CN" sz="2400" kern="50" dirty="0">
                <a:ea typeface="DejaVu Sans" charset="0"/>
              </a:rPr>
              <a:t>static</a:t>
            </a:r>
            <a:r>
              <a:rPr lang="zh-CN" altLang="en-US" sz="2400" kern="50" dirty="0">
                <a:ea typeface="DejaVu Sans" charset="0"/>
              </a:rPr>
              <a:t> </a:t>
            </a:r>
            <a:r>
              <a:rPr lang="en-US" altLang="zh-CN" sz="2400" kern="50" dirty="0" smtClean="0">
                <a:ea typeface="DejaVu Sans" charset="0"/>
              </a:rPr>
              <a:t>data</a:t>
            </a:r>
            <a:endParaRPr lang="zh-CN" altLang="en-US" sz="2400" kern="50" dirty="0" smtClean="0">
              <a:solidFill>
                <a:srgbClr val="FF0000"/>
              </a:solidFill>
              <a:ea typeface="DejaVu Sans" charset="0"/>
            </a:endParaRPr>
          </a:p>
          <a:p>
            <a:r>
              <a:rPr lang="en-US" altLang="zh-CN" sz="2400" kern="50" dirty="0" smtClean="0">
                <a:ea typeface="DejaVu Sans" charset="0"/>
              </a:rPr>
              <a:t>Provides</a:t>
            </a:r>
            <a:r>
              <a:rPr lang="zh-CN" altLang="en-US" sz="2400" kern="50" dirty="0" smtClean="0">
                <a:ea typeface="DejaVu Sans" charset="0"/>
              </a:rPr>
              <a:t> </a:t>
            </a:r>
            <a:r>
              <a:rPr lang="en-US" altLang="zh-CN" sz="2400" kern="50" dirty="0" smtClean="0">
                <a:ea typeface="DejaVu Sans" charset="0"/>
              </a:rPr>
              <a:t>a</a:t>
            </a:r>
            <a:r>
              <a:rPr lang="en-US" altLang="zh-CN" sz="2400" kern="50" dirty="0">
                <a:ea typeface="DejaVu Sans" charset="0"/>
              </a:rPr>
              <a:t>n</a:t>
            </a:r>
            <a:r>
              <a:rPr lang="zh-CN" altLang="en-US" sz="2400" kern="50" dirty="0" smtClean="0">
                <a:ea typeface="DejaVu Sans" charset="0"/>
              </a:rPr>
              <a:t> </a:t>
            </a:r>
            <a:r>
              <a:rPr lang="en-US" altLang="zh-CN" sz="2400" kern="50" dirty="0" smtClean="0">
                <a:ea typeface="DejaVu Sans" charset="0"/>
              </a:rPr>
              <a:t>API</a:t>
            </a:r>
            <a:endParaRPr lang="zh-CN" altLang="en-US" sz="2400" kern="50" dirty="0" smtClean="0">
              <a:ea typeface="DejaVu Sans" charset="0"/>
            </a:endParaRPr>
          </a:p>
        </p:txBody>
      </p:sp>
      <p:sp>
        <p:nvSpPr>
          <p:cNvPr id="60" name="矩形 59"/>
          <p:cNvSpPr>
            <a:spLocks noChangeArrowheads="1"/>
          </p:cNvSpPr>
          <p:nvPr/>
        </p:nvSpPr>
        <p:spPr bwMode="auto">
          <a:xfrm>
            <a:off x="3144633" y="995311"/>
            <a:ext cx="2807970" cy="212344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spcAft>
                <a:spcPts val="0"/>
              </a:spcAft>
            </a:pPr>
            <a:endParaRPr lang="zh-CN" sz="2000" kern="100" dirty="0">
              <a:solidFill>
                <a:srgbClr val="9F3230"/>
              </a:solidFill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62" name="直线箭头连接符 61"/>
          <p:cNvCxnSpPr>
            <a:cxnSpLocks noChangeShapeType="1"/>
          </p:cNvCxnSpPr>
          <p:nvPr/>
        </p:nvCxnSpPr>
        <p:spPr bwMode="auto">
          <a:xfrm>
            <a:off x="2122918" y="1882406"/>
            <a:ext cx="113919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cxnSp>
        <p:nvCxnSpPr>
          <p:cNvPr id="63" name="直线箭头连接符 62"/>
          <p:cNvCxnSpPr>
            <a:cxnSpLocks noChangeShapeType="1"/>
          </p:cNvCxnSpPr>
          <p:nvPr/>
        </p:nvCxnSpPr>
        <p:spPr bwMode="auto">
          <a:xfrm flipV="1">
            <a:off x="4323828" y="1622056"/>
            <a:ext cx="384810" cy="421005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64" name="矩形 63"/>
          <p:cNvSpPr>
            <a:spLocks noChangeArrowheads="1"/>
          </p:cNvSpPr>
          <p:nvPr/>
        </p:nvSpPr>
        <p:spPr bwMode="auto">
          <a:xfrm>
            <a:off x="4741023" y="1110881"/>
            <a:ext cx="1019810" cy="80962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600" kern="100" dirty="0" smtClean="0">
                <a:effectLst/>
                <a:ea typeface="宋体" charset="0"/>
                <a:cs typeface="Times New Roman" charset="0"/>
              </a:rPr>
              <a:t>QP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65" name="直线箭头连接符 64"/>
          <p:cNvCxnSpPr>
            <a:cxnSpLocks noChangeShapeType="1"/>
          </p:cNvCxnSpPr>
          <p:nvPr/>
        </p:nvCxnSpPr>
        <p:spPr bwMode="auto">
          <a:xfrm>
            <a:off x="2122918" y="2130691"/>
            <a:ext cx="1139190" cy="5715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sp>
        <p:nvSpPr>
          <p:cNvPr id="66" name="矩形 65"/>
          <p:cNvSpPr>
            <a:spLocks noChangeArrowheads="1"/>
          </p:cNvSpPr>
          <p:nvPr/>
        </p:nvSpPr>
        <p:spPr bwMode="auto">
          <a:xfrm>
            <a:off x="3262108" y="1626501"/>
            <a:ext cx="1073150" cy="84772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600" kern="100" dirty="0" smtClean="0">
                <a:ea typeface="宋体" charset="0"/>
                <a:cs typeface="Times New Roman" charset="0"/>
              </a:rPr>
              <a:t>DL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67" name="矩形 66"/>
          <p:cNvSpPr>
            <a:spLocks noChangeArrowheads="1"/>
          </p:cNvSpPr>
          <p:nvPr/>
        </p:nvSpPr>
        <p:spPr bwMode="auto">
          <a:xfrm>
            <a:off x="3321230" y="1892473"/>
            <a:ext cx="943142" cy="524846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000000"/>
                </a:solidFill>
                <a:effectLst/>
                <a:ea typeface="宋体" charset="0"/>
                <a:cs typeface="Times New Roman" charset="0"/>
              </a:rPr>
              <a:t>STATIC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69" name="直线箭头连接符 68"/>
          <p:cNvCxnSpPr>
            <a:cxnSpLocks noChangeShapeType="1"/>
          </p:cNvCxnSpPr>
          <p:nvPr/>
        </p:nvCxnSpPr>
        <p:spPr bwMode="auto">
          <a:xfrm>
            <a:off x="4353038" y="2136406"/>
            <a:ext cx="377825" cy="421005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70" name="矩形 69"/>
          <p:cNvSpPr>
            <a:spLocks noChangeArrowheads="1"/>
          </p:cNvSpPr>
          <p:nvPr/>
        </p:nvSpPr>
        <p:spPr bwMode="auto">
          <a:xfrm>
            <a:off x="4741023" y="2169426"/>
            <a:ext cx="1019810" cy="8489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600" kern="100" dirty="0" smtClean="0">
                <a:effectLst/>
                <a:ea typeface="宋体" charset="0"/>
                <a:cs typeface="Times New Roman" charset="0"/>
              </a:rPr>
              <a:t>QP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75" name="矩形 74"/>
          <p:cNvSpPr>
            <a:spLocks noChangeArrowheads="1"/>
          </p:cNvSpPr>
          <p:nvPr/>
        </p:nvSpPr>
        <p:spPr bwMode="auto">
          <a:xfrm>
            <a:off x="4796902" y="1425699"/>
            <a:ext cx="902335" cy="431800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DYNAMIC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76" name="矩形 75"/>
          <p:cNvSpPr>
            <a:spLocks noChangeArrowheads="1"/>
          </p:cNvSpPr>
          <p:nvPr/>
        </p:nvSpPr>
        <p:spPr bwMode="auto">
          <a:xfrm>
            <a:off x="4796901" y="2502555"/>
            <a:ext cx="897890" cy="431800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DYNAMIC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282794" y="1675004"/>
            <a:ext cx="1007129" cy="318527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QUERY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282794" y="1972308"/>
            <a:ext cx="935355" cy="337503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QUERY 2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769829" y="1313203"/>
            <a:ext cx="1133068" cy="308853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ANSWER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6769829" y="2483326"/>
            <a:ext cx="1133068" cy="30201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>
                <a:effectLst/>
                <a:ea typeface="宋体" charset="0"/>
                <a:cs typeface="Times New Roman" charset="0"/>
              </a:rPr>
              <a:t>ANSWER 2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81" name="直线箭头连接符 80"/>
          <p:cNvCxnSpPr>
            <a:cxnSpLocks noChangeShapeType="1"/>
          </p:cNvCxnSpPr>
          <p:nvPr/>
        </p:nvCxnSpPr>
        <p:spPr bwMode="auto">
          <a:xfrm>
            <a:off x="5777978" y="1503311"/>
            <a:ext cx="1063625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cxnSp>
        <p:nvCxnSpPr>
          <p:cNvPr id="82" name="直线箭头连接符 81"/>
          <p:cNvCxnSpPr>
            <a:cxnSpLocks noChangeShapeType="1"/>
          </p:cNvCxnSpPr>
          <p:nvPr/>
        </p:nvCxnSpPr>
        <p:spPr bwMode="auto">
          <a:xfrm>
            <a:off x="5777343" y="2638691"/>
            <a:ext cx="1063625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sp>
        <p:nvSpPr>
          <p:cNvPr id="22" name="对角圆角矩形 21"/>
          <p:cNvSpPr/>
          <p:nvPr/>
        </p:nvSpPr>
        <p:spPr>
          <a:xfrm>
            <a:off x="0" y="0"/>
            <a:ext cx="2921785" cy="753324"/>
          </a:xfrm>
          <a:prstGeom prst="round2DiagRect">
            <a:avLst>
              <a:gd name="adj1" fmla="val 0"/>
              <a:gd name="adj2" fmla="val 46411"/>
            </a:avLst>
          </a:prstGeom>
          <a:gradFill flip="none" rotWithShape="1">
            <a:gsLst>
              <a:gs pos="0">
                <a:srgbClr val="9F3230"/>
              </a:gs>
              <a:gs pos="46000">
                <a:srgbClr val="D4756F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 smtClean="0"/>
              <a:t>IMPLEMENTATION</a:t>
            </a:r>
            <a:endParaRPr kumimoji="1" lang="zh-CN" altLang="en-US" sz="2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9500839" y="995311"/>
            <a:ext cx="151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mtClean="0"/>
              <a:t>uesless</a:t>
            </a:r>
            <a:endParaRPr kumimoji="1" lang="zh-CN" alt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41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6673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3144633" y="995311"/>
            <a:ext cx="2807970" cy="212344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spcAft>
                <a:spcPts val="0"/>
              </a:spcAft>
            </a:pPr>
            <a:r>
              <a:rPr lang="en-US" sz="2000" kern="100" dirty="0">
                <a:solidFill>
                  <a:srgbClr val="000000"/>
                </a:solidFill>
                <a:effectLst/>
                <a:ea typeface="宋体" charset="0"/>
                <a:cs typeface="Times New Roman" charset="0"/>
              </a:rPr>
              <a:t> </a:t>
            </a:r>
            <a:endParaRPr lang="zh-CN" sz="2000" kern="100" dirty="0">
              <a:solidFill>
                <a:srgbClr val="9F3230"/>
              </a:solidFill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5" name="直线箭头连接符 4"/>
          <p:cNvCxnSpPr>
            <a:cxnSpLocks noChangeShapeType="1"/>
          </p:cNvCxnSpPr>
          <p:nvPr/>
        </p:nvCxnSpPr>
        <p:spPr bwMode="auto">
          <a:xfrm>
            <a:off x="2122918" y="1882406"/>
            <a:ext cx="113919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cxnSp>
        <p:nvCxnSpPr>
          <p:cNvPr id="6" name="直线箭头连接符 5"/>
          <p:cNvCxnSpPr>
            <a:cxnSpLocks noChangeShapeType="1"/>
          </p:cNvCxnSpPr>
          <p:nvPr/>
        </p:nvCxnSpPr>
        <p:spPr bwMode="auto">
          <a:xfrm flipV="1">
            <a:off x="4323828" y="1622056"/>
            <a:ext cx="384810" cy="421005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4741023" y="1110881"/>
            <a:ext cx="1019810" cy="80962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600" kern="100" dirty="0" smtClean="0">
                <a:effectLst/>
                <a:ea typeface="宋体" charset="0"/>
                <a:cs typeface="Times New Roman" charset="0"/>
              </a:rPr>
              <a:t>QP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8" name="直线箭头连接符 7"/>
          <p:cNvCxnSpPr>
            <a:cxnSpLocks noChangeShapeType="1"/>
          </p:cNvCxnSpPr>
          <p:nvPr/>
        </p:nvCxnSpPr>
        <p:spPr bwMode="auto">
          <a:xfrm>
            <a:off x="2122918" y="2130691"/>
            <a:ext cx="1139190" cy="5715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3262108" y="1626501"/>
            <a:ext cx="1073150" cy="84772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600" kern="100" dirty="0" smtClean="0">
                <a:ea typeface="宋体" charset="0"/>
                <a:cs typeface="Times New Roman" charset="0"/>
              </a:rPr>
              <a:t>DL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3321230" y="1892473"/>
            <a:ext cx="943142" cy="524846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solidFill>
                  <a:srgbClr val="000000"/>
                </a:solidFill>
                <a:effectLst/>
                <a:ea typeface="宋体" charset="0"/>
                <a:cs typeface="Times New Roman" charset="0"/>
              </a:rPr>
              <a:t>STATIC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11" name="直线箭头连接符 10"/>
          <p:cNvCxnSpPr>
            <a:cxnSpLocks noChangeShapeType="1"/>
          </p:cNvCxnSpPr>
          <p:nvPr/>
        </p:nvCxnSpPr>
        <p:spPr bwMode="auto">
          <a:xfrm>
            <a:off x="4353038" y="2136406"/>
            <a:ext cx="377825" cy="421005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/>
            </a:ext>
            <a:ext uri="{C572A759-6A51-4108-AA02-DFA0A04FC94B}">
              <ma14:wrappingTextBoxFlag xmlns:ma14="http://schemas.microsoft.com/office/mac/drawingml/2011/main"/>
            </a:ext>
          </a:extLst>
        </p:spPr>
      </p:cxn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4741023" y="2169426"/>
            <a:ext cx="1019810" cy="8489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600" kern="100" dirty="0" smtClean="0">
                <a:effectLst/>
                <a:ea typeface="宋体" charset="0"/>
                <a:cs typeface="Times New Roman" charset="0"/>
              </a:rPr>
              <a:t>QP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796902" y="1425699"/>
            <a:ext cx="902335" cy="431800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DYNAMIC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4796901" y="2502555"/>
            <a:ext cx="897890" cy="431800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0" rIns="91440" bIns="0" anchor="ctr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effectLst/>
                <a:ea typeface="宋体" charset="0"/>
                <a:cs typeface="Times New Roman" charset="0"/>
              </a:rPr>
              <a:t>DYNAMIC DATA</a:t>
            </a:r>
            <a:endParaRPr lang="zh-CN" sz="14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282794" y="1675004"/>
            <a:ext cx="1007129" cy="318527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QUERY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82794" y="1972308"/>
            <a:ext cx="935355" cy="337503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QUERY 2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769829" y="1313203"/>
            <a:ext cx="1133068" cy="308853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 dirty="0">
                <a:effectLst/>
                <a:ea typeface="宋体" charset="0"/>
                <a:cs typeface="Times New Roman" charset="0"/>
              </a:rPr>
              <a:t>ANSWER 1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769829" y="2483326"/>
            <a:ext cx="1133068" cy="30201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600" kern="100">
                <a:effectLst/>
                <a:ea typeface="宋体" charset="0"/>
                <a:cs typeface="Times New Roman" charset="0"/>
              </a:rPr>
              <a:t>ANSWER 2</a:t>
            </a:r>
            <a:endParaRPr lang="zh-CN" sz="1600" kern="100" dirty="0">
              <a:effectLst/>
              <a:ea typeface="宋体" charset="0"/>
              <a:cs typeface="Times New Roman" charset="0"/>
            </a:endParaRPr>
          </a:p>
        </p:txBody>
      </p:sp>
      <p:cxnSp>
        <p:nvCxnSpPr>
          <p:cNvPr id="19" name="直线箭头连接符 18"/>
          <p:cNvCxnSpPr>
            <a:cxnSpLocks noChangeShapeType="1"/>
          </p:cNvCxnSpPr>
          <p:nvPr/>
        </p:nvCxnSpPr>
        <p:spPr bwMode="auto">
          <a:xfrm>
            <a:off x="5777978" y="1503311"/>
            <a:ext cx="1063625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cxnSp>
        <p:nvCxnSpPr>
          <p:cNvPr id="20" name="直线箭头连接符 19"/>
          <p:cNvCxnSpPr>
            <a:cxnSpLocks noChangeShapeType="1"/>
          </p:cNvCxnSpPr>
          <p:nvPr/>
        </p:nvCxnSpPr>
        <p:spPr bwMode="auto">
          <a:xfrm>
            <a:off x="5777343" y="2638691"/>
            <a:ext cx="1063625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7999"/>
                    </a:srgbClr>
                  </a:outerShdw>
                </a:effectLst>
              </a14:hiddenEffects>
            </a:ext>
          </a:extLst>
        </p:spPr>
      </p:cxnSp>
      <p:sp>
        <p:nvSpPr>
          <p:cNvPr id="23" name="内容占位符 2"/>
          <p:cNvSpPr txBox="1">
            <a:spLocks/>
          </p:cNvSpPr>
          <p:nvPr/>
        </p:nvSpPr>
        <p:spPr>
          <a:xfrm>
            <a:off x="647280" y="3503015"/>
            <a:ext cx="7886700" cy="2286000"/>
          </a:xfrm>
          <a:prstGeom prst="rect">
            <a:avLst/>
          </a:prstGeom>
          <a:ln w="22225"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rgbClr val="9F3230"/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sz="2400" dirty="0" smtClean="0"/>
              <a:t>This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approach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ensures:</a:t>
            </a:r>
            <a:endParaRPr lang="zh-CN" altLang="en-US" sz="2400" dirty="0" smtClean="0"/>
          </a:p>
          <a:p>
            <a:r>
              <a:rPr lang="en-US" altLang="zh-CN" sz="2400" kern="50" dirty="0" smtClean="0">
                <a:solidFill>
                  <a:srgbClr val="94C9C3"/>
                </a:solidFill>
                <a:ea typeface="DejaVu Sans" charset="0"/>
              </a:rPr>
              <a:t>keeps</a:t>
            </a:r>
            <a:r>
              <a:rPr lang="zh-CN" altLang="en-US" sz="2400" kern="50" dirty="0" smtClean="0">
                <a:solidFill>
                  <a:srgbClr val="94C9C3"/>
                </a:solidFill>
                <a:ea typeface="DejaVu Sans" charset="0"/>
              </a:rPr>
              <a:t> </a:t>
            </a:r>
            <a:r>
              <a:rPr lang="en-US" altLang="zh-CN" sz="2400" kern="50" dirty="0" smtClean="0">
                <a:solidFill>
                  <a:srgbClr val="94C9C3"/>
                </a:solidFill>
                <a:ea typeface="DejaVu Sans" charset="0"/>
              </a:rPr>
              <a:t>only</a:t>
            </a:r>
            <a:r>
              <a:rPr lang="zh-CN" altLang="en-US" sz="2400" kern="50" dirty="0" smtClean="0">
                <a:solidFill>
                  <a:srgbClr val="94C9C3"/>
                </a:solidFill>
                <a:ea typeface="DejaVu Sans" charset="0"/>
              </a:rPr>
              <a:t> </a:t>
            </a:r>
            <a:r>
              <a:rPr lang="en-US" altLang="zh-CN" sz="2400" kern="50" dirty="0" smtClean="0">
                <a:solidFill>
                  <a:srgbClr val="94C9C3"/>
                </a:solidFill>
                <a:ea typeface="DejaVu Sans" charset="0"/>
              </a:rPr>
              <a:t>one</a:t>
            </a:r>
            <a:r>
              <a:rPr lang="zh-CN" altLang="en-US" sz="2400" kern="50" dirty="0" smtClean="0">
                <a:solidFill>
                  <a:srgbClr val="94C9C3"/>
                </a:solidFill>
                <a:ea typeface="DejaVu Sans" charset="0"/>
              </a:rPr>
              <a:t> </a:t>
            </a:r>
            <a:r>
              <a:rPr lang="en-US" altLang="zh-CN" sz="2400" kern="50" dirty="0" smtClean="0">
                <a:solidFill>
                  <a:srgbClr val="94C9C3"/>
                </a:solidFill>
                <a:ea typeface="DejaVu Sans" charset="0"/>
              </a:rPr>
              <a:t>copy</a:t>
            </a:r>
            <a:r>
              <a:rPr lang="zh-CN" altLang="en-US" sz="2400" kern="50" dirty="0" smtClean="0">
                <a:solidFill>
                  <a:srgbClr val="94C9C3"/>
                </a:solidFill>
                <a:ea typeface="DejaVu Sans" charset="0"/>
              </a:rPr>
              <a:t> </a:t>
            </a:r>
            <a:r>
              <a:rPr lang="en-US" altLang="zh-CN" sz="2400" kern="50" dirty="0" smtClean="0">
                <a:solidFill>
                  <a:srgbClr val="94C9C3"/>
                </a:solidFill>
                <a:ea typeface="DejaVu Sans" charset="0"/>
              </a:rPr>
              <a:t>of</a:t>
            </a:r>
            <a:r>
              <a:rPr lang="zh-CN" altLang="en-US" sz="2400" kern="50" dirty="0" smtClean="0">
                <a:solidFill>
                  <a:srgbClr val="94C9C3"/>
                </a:solidFill>
                <a:ea typeface="DejaVu Sans" charset="0"/>
              </a:rPr>
              <a:t> </a:t>
            </a:r>
            <a:r>
              <a:rPr lang="en-US" altLang="zh-CN" sz="2400" kern="50" dirty="0" smtClean="0">
                <a:solidFill>
                  <a:srgbClr val="94C9C3"/>
                </a:solidFill>
                <a:ea typeface="DejaVu Sans" charset="0"/>
              </a:rPr>
              <a:t>static</a:t>
            </a:r>
            <a:r>
              <a:rPr lang="zh-CN" altLang="en-US" sz="2400" kern="50" dirty="0" smtClean="0">
                <a:solidFill>
                  <a:srgbClr val="94C9C3"/>
                </a:solidFill>
                <a:ea typeface="DejaVu Sans" charset="0"/>
              </a:rPr>
              <a:t> </a:t>
            </a:r>
            <a:r>
              <a:rPr lang="en-US" altLang="zh-CN" sz="2400" kern="50" dirty="0" smtClean="0">
                <a:solidFill>
                  <a:srgbClr val="94C9C3"/>
                </a:solidFill>
                <a:ea typeface="DejaVu Sans" charset="0"/>
              </a:rPr>
              <a:t>data</a:t>
            </a:r>
            <a:r>
              <a:rPr lang="zh-CN" altLang="en-US" sz="2400" kern="50" dirty="0" smtClean="0">
                <a:solidFill>
                  <a:srgbClr val="94C9C3"/>
                </a:solidFill>
                <a:ea typeface="DejaVu Sans" charset="0"/>
              </a:rPr>
              <a:t> </a:t>
            </a:r>
            <a:r>
              <a:rPr lang="en-US" altLang="zh-CN" sz="2400" kern="50" dirty="0" smtClean="0">
                <a:solidFill>
                  <a:srgbClr val="94C9C3"/>
                </a:solidFill>
                <a:ea typeface="DejaVu Sans" charset="0"/>
              </a:rPr>
              <a:t>among</a:t>
            </a:r>
            <a:r>
              <a:rPr lang="zh-CN" altLang="en-US" sz="2400" kern="50" dirty="0" smtClean="0">
                <a:solidFill>
                  <a:srgbClr val="94C9C3"/>
                </a:solidFill>
                <a:ea typeface="DejaVu Sans" charset="0"/>
              </a:rPr>
              <a:t> </a:t>
            </a:r>
            <a:r>
              <a:rPr lang="en-US" altLang="zh-CN" sz="2400" kern="50" dirty="0" smtClean="0">
                <a:solidFill>
                  <a:srgbClr val="94C9C3"/>
                </a:solidFill>
                <a:ea typeface="DejaVu Sans" charset="0"/>
              </a:rPr>
              <a:t>jobs;</a:t>
            </a:r>
            <a:endParaRPr lang="zh-CN" altLang="en-US" sz="2400" kern="50" dirty="0" smtClean="0">
              <a:solidFill>
                <a:srgbClr val="94C9C3"/>
              </a:solidFill>
              <a:ea typeface="DejaVu Sans" charset="0"/>
            </a:endParaRPr>
          </a:p>
          <a:p>
            <a:r>
              <a:rPr lang="en-US" altLang="zh-CN" sz="2400" kern="50" dirty="0" smtClean="0">
                <a:solidFill>
                  <a:srgbClr val="94C9C3"/>
                </a:solidFill>
                <a:ea typeface="DejaVu Sans" charset="0"/>
              </a:rPr>
              <a:t>can</a:t>
            </a:r>
            <a:r>
              <a:rPr lang="zh-CN" altLang="en-US" sz="2400" kern="50" dirty="0" smtClean="0">
                <a:solidFill>
                  <a:srgbClr val="94C9C3"/>
                </a:solidFill>
                <a:ea typeface="DejaVu Sans" charset="0"/>
              </a:rPr>
              <a:t> </a:t>
            </a:r>
            <a:r>
              <a:rPr lang="en-US" altLang="zh-CN" sz="2400" kern="50" dirty="0" smtClean="0">
                <a:solidFill>
                  <a:srgbClr val="94C9C3"/>
                </a:solidFill>
                <a:ea typeface="DejaVu Sans" charset="0"/>
              </a:rPr>
              <a:t>be</a:t>
            </a:r>
            <a:r>
              <a:rPr lang="zh-CN" altLang="en-US" sz="2400" kern="50" dirty="0" smtClean="0">
                <a:solidFill>
                  <a:srgbClr val="94C9C3"/>
                </a:solidFill>
                <a:ea typeface="DejaVu Sans" charset="0"/>
              </a:rPr>
              <a:t> </a:t>
            </a:r>
            <a:r>
              <a:rPr lang="en-US" altLang="zh-CN" sz="2400" kern="50" dirty="0" smtClean="0">
                <a:solidFill>
                  <a:srgbClr val="94C9C3"/>
                </a:solidFill>
                <a:ea typeface="DejaVu Sans" charset="0"/>
              </a:rPr>
              <a:t>directly</a:t>
            </a:r>
            <a:r>
              <a:rPr lang="zh-CN" altLang="en-US" sz="2400" kern="50" dirty="0" smtClean="0">
                <a:solidFill>
                  <a:srgbClr val="94C9C3"/>
                </a:solidFill>
                <a:ea typeface="DejaVu Sans" charset="0"/>
              </a:rPr>
              <a:t> </a:t>
            </a:r>
            <a:r>
              <a:rPr lang="en-US" altLang="zh-CN" sz="2400" kern="50" dirty="0" smtClean="0">
                <a:solidFill>
                  <a:srgbClr val="94C9C3"/>
                </a:solidFill>
                <a:ea typeface="DejaVu Sans" charset="0"/>
              </a:rPr>
              <a:t>used</a:t>
            </a:r>
            <a:r>
              <a:rPr lang="zh-CN" altLang="en-US" sz="2400" kern="50" dirty="0" smtClean="0">
                <a:solidFill>
                  <a:srgbClr val="94C9C3"/>
                </a:solidFill>
                <a:ea typeface="DejaVu Sans" charset="0"/>
              </a:rPr>
              <a:t> </a:t>
            </a:r>
            <a:r>
              <a:rPr lang="en-US" altLang="zh-CN" sz="2400" kern="50" dirty="0" smtClean="0">
                <a:solidFill>
                  <a:srgbClr val="94C9C3"/>
                </a:solidFill>
                <a:ea typeface="DejaVu Sans" charset="0"/>
              </a:rPr>
              <a:t>by</a:t>
            </a:r>
            <a:r>
              <a:rPr lang="zh-CN" altLang="en-US" sz="2400" kern="50" dirty="0" smtClean="0">
                <a:solidFill>
                  <a:srgbClr val="94C9C3"/>
                </a:solidFill>
                <a:ea typeface="DejaVu Sans" charset="0"/>
              </a:rPr>
              <a:t> </a:t>
            </a:r>
            <a:r>
              <a:rPr lang="en-US" altLang="zh-CN" sz="2400" kern="50" dirty="0" smtClean="0">
                <a:solidFill>
                  <a:srgbClr val="94C9C3"/>
                </a:solidFill>
                <a:ea typeface="DejaVu Sans" charset="0"/>
              </a:rPr>
              <a:t>existing</a:t>
            </a:r>
            <a:r>
              <a:rPr lang="zh-CN" altLang="en-US" sz="2400" kern="50" dirty="0" smtClean="0">
                <a:solidFill>
                  <a:srgbClr val="94C9C3"/>
                </a:solidFill>
                <a:ea typeface="DejaVu Sans" charset="0"/>
              </a:rPr>
              <a:t> </a:t>
            </a:r>
            <a:r>
              <a:rPr lang="en-US" altLang="zh-CN" sz="2400" kern="50" dirty="0" smtClean="0">
                <a:solidFill>
                  <a:srgbClr val="94C9C3"/>
                </a:solidFill>
                <a:ea typeface="DejaVu Sans" charset="0"/>
              </a:rPr>
              <a:t>query</a:t>
            </a:r>
            <a:r>
              <a:rPr lang="zh-CN" altLang="en-US" sz="2400" kern="50" dirty="0" smtClean="0">
                <a:solidFill>
                  <a:srgbClr val="94C9C3"/>
                </a:solidFill>
                <a:ea typeface="DejaVu Sans" charset="0"/>
              </a:rPr>
              <a:t> </a:t>
            </a:r>
            <a:r>
              <a:rPr lang="en-US" altLang="zh-CN" sz="2400" kern="50" dirty="0" smtClean="0">
                <a:solidFill>
                  <a:srgbClr val="94C9C3"/>
                </a:solidFill>
                <a:ea typeface="DejaVu Sans" charset="0"/>
              </a:rPr>
              <a:t>systems;</a:t>
            </a:r>
            <a:endParaRPr lang="zh-CN" altLang="en-US" sz="2400" kern="50" dirty="0" smtClean="0">
              <a:solidFill>
                <a:srgbClr val="94C9C3"/>
              </a:solidFill>
              <a:ea typeface="DejaVu Sans" charset="0"/>
            </a:endParaRPr>
          </a:p>
          <a:p>
            <a:r>
              <a:rPr lang="en-US" altLang="zh-CN" sz="2400" kern="50" dirty="0" smtClean="0">
                <a:solidFill>
                  <a:srgbClr val="94C9C3"/>
                </a:solidFill>
                <a:ea typeface="DejaVu Sans" charset="0"/>
              </a:rPr>
              <a:t>adapt</a:t>
            </a:r>
            <a:r>
              <a:rPr lang="en-GB" altLang="zh-CN" sz="2400" kern="50" dirty="0" smtClean="0">
                <a:solidFill>
                  <a:srgbClr val="94C9C3"/>
                </a:solidFill>
                <a:ea typeface="DejaVu Sans" charset="0"/>
              </a:rPr>
              <a:t> to different query systems</a:t>
            </a:r>
            <a:r>
              <a:rPr lang="en-US" altLang="zh-CN" sz="2400" dirty="0" smtClean="0">
                <a:solidFill>
                  <a:srgbClr val="94C9C3"/>
                </a:solidFill>
              </a:rPr>
              <a:t>;</a:t>
            </a:r>
            <a:endParaRPr lang="zh-CN" altLang="en-US" sz="2400" dirty="0" smtClean="0">
              <a:solidFill>
                <a:srgbClr val="94C9C3"/>
              </a:solidFill>
            </a:endParaRPr>
          </a:p>
          <a:p>
            <a:r>
              <a:rPr lang="en-GB" altLang="zh-CN" sz="2400" dirty="0" smtClean="0">
                <a:solidFill>
                  <a:srgbClr val="94C9C3"/>
                </a:solidFill>
              </a:rPr>
              <a:t>be able to work in a distributed environment</a:t>
            </a:r>
            <a:r>
              <a:rPr lang="en-US" altLang="zh-CN" sz="2400" dirty="0" smtClean="0">
                <a:solidFill>
                  <a:srgbClr val="94C9C3"/>
                </a:solidFill>
              </a:rPr>
              <a:t>.</a:t>
            </a:r>
            <a:r>
              <a:rPr lang="zh-CN" altLang="zh-CN" sz="2400" dirty="0" smtClean="0">
                <a:solidFill>
                  <a:srgbClr val="94C9C3"/>
                </a:solidFill>
              </a:rPr>
              <a:t> </a:t>
            </a:r>
            <a:endParaRPr kumimoji="1" lang="zh-CN" altLang="en-US" sz="2400" dirty="0">
              <a:solidFill>
                <a:srgbClr val="94C9C3"/>
              </a:solidFill>
            </a:endParaRPr>
          </a:p>
        </p:txBody>
      </p:sp>
      <p:sp>
        <p:nvSpPr>
          <p:cNvPr id="22" name="对角圆角矩形 21"/>
          <p:cNvSpPr/>
          <p:nvPr/>
        </p:nvSpPr>
        <p:spPr>
          <a:xfrm>
            <a:off x="0" y="0"/>
            <a:ext cx="2921785" cy="753324"/>
          </a:xfrm>
          <a:prstGeom prst="round2DiagRect">
            <a:avLst>
              <a:gd name="adj1" fmla="val 0"/>
              <a:gd name="adj2" fmla="val 46411"/>
            </a:avLst>
          </a:prstGeom>
          <a:gradFill flip="none" rotWithShape="1">
            <a:gsLst>
              <a:gs pos="0">
                <a:srgbClr val="9F3230"/>
              </a:gs>
              <a:gs pos="46000">
                <a:srgbClr val="D4756F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 smtClean="0"/>
              <a:t>IMPLEMENTATION</a:t>
            </a:r>
            <a:endParaRPr kumimoji="1" lang="zh-CN" altLang="en-US" sz="2400" b="1" dirty="0"/>
          </a:p>
        </p:txBody>
      </p:sp>
      <p:sp>
        <p:nvSpPr>
          <p:cNvPr id="21" name="文本框 20"/>
          <p:cNvSpPr txBox="1"/>
          <p:nvPr/>
        </p:nvSpPr>
        <p:spPr>
          <a:xfrm>
            <a:off x="9500839" y="995311"/>
            <a:ext cx="151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mtClean="0"/>
              <a:t>uesless</a:t>
            </a:r>
            <a:endParaRPr kumimoji="1"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42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682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0" dur="1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A434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4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A434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8" dur="10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A434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0" dur="10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A434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/>
      <p:bldP spid="23" grpId="1" uiExpand="1" build="allAtOnce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6044430"/>
              </p:ext>
            </p:extLst>
          </p:nvPr>
        </p:nvGraphicFramePr>
        <p:xfrm>
          <a:off x="789808" y="1032707"/>
          <a:ext cx="7628051" cy="5533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矩形 1"/>
          <p:cNvSpPr/>
          <p:nvPr/>
        </p:nvSpPr>
        <p:spPr>
          <a:xfrm>
            <a:off x="1096620" y="584778"/>
            <a:ext cx="70144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kern="50" dirty="0" smtClean="0">
                <a:ea typeface="DejaVu Sans" charset="0"/>
              </a:rPr>
              <a:t>Comparison</a:t>
            </a:r>
            <a:r>
              <a:rPr lang="zh-CN" altLang="en-US" sz="2400" kern="50" dirty="0" smtClean="0">
                <a:ea typeface="DejaVu Sans" charset="0"/>
              </a:rPr>
              <a:t> </a:t>
            </a:r>
            <a:r>
              <a:rPr lang="en-GB" altLang="zh-CN" sz="2400" kern="50" dirty="0" smtClean="0">
                <a:ea typeface="DejaVu Sans" charset="0"/>
              </a:rPr>
              <a:t>of </a:t>
            </a:r>
            <a:r>
              <a:rPr lang="en-GB" altLang="zh-CN" sz="2400" kern="50" dirty="0">
                <a:ea typeface="DejaVu Sans" charset="0"/>
              </a:rPr>
              <a:t>the running time </a:t>
            </a:r>
            <a:r>
              <a:rPr lang="en-GB" altLang="zh-CN" sz="2400" kern="50" dirty="0" smtClean="0">
                <a:ea typeface="DejaVu Sans" charset="0"/>
              </a:rPr>
              <a:t>for </a:t>
            </a:r>
            <a:r>
              <a:rPr lang="en-GB" altLang="zh-CN" sz="2400" kern="50" dirty="0">
                <a:ea typeface="DejaVu Sans" charset="0"/>
              </a:rPr>
              <a:t>completing queries</a:t>
            </a:r>
            <a:r>
              <a:rPr lang="zh-CN" altLang="zh-CN" sz="2400" dirty="0"/>
              <a:t> </a:t>
            </a:r>
            <a:endParaRPr lang="zh-CN" altLang="en-US" sz="2400" dirty="0"/>
          </a:p>
        </p:txBody>
      </p:sp>
      <p:graphicFrame>
        <p:nvGraphicFramePr>
          <p:cNvPr id="18" name="图表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9768424"/>
              </p:ext>
            </p:extLst>
          </p:nvPr>
        </p:nvGraphicFramePr>
        <p:xfrm>
          <a:off x="789807" y="1032707"/>
          <a:ext cx="7628051" cy="5533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图表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5192796"/>
              </p:ext>
            </p:extLst>
          </p:nvPr>
        </p:nvGraphicFramePr>
        <p:xfrm>
          <a:off x="789807" y="1032707"/>
          <a:ext cx="7628051" cy="5533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43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258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8" grpId="0">
        <p:bldAsOne/>
      </p:bldGraphic>
      <p:bldGraphic spid="18" grpId="1">
        <p:bldAsOne/>
      </p:bldGraphic>
      <p:bldGraphic spid="19" grpId="0">
        <p:bldAsOne/>
      </p:bldGraphic>
      <p:bldGraphic spid="19" grpId="1">
        <p:bldAsOne/>
      </p:bldGraphic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4186855"/>
              </p:ext>
            </p:extLst>
          </p:nvPr>
        </p:nvGraphicFramePr>
        <p:xfrm>
          <a:off x="853233" y="1051444"/>
          <a:ext cx="7451611" cy="53519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矩形 4"/>
          <p:cNvSpPr/>
          <p:nvPr/>
        </p:nvSpPr>
        <p:spPr>
          <a:xfrm>
            <a:off x="2303465" y="589779"/>
            <a:ext cx="45511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kern="50" dirty="0" smtClean="0">
                <a:ea typeface="DejaVu Sans" charset="0"/>
              </a:rPr>
              <a:t>Comparison</a:t>
            </a:r>
            <a:r>
              <a:rPr lang="zh-CN" altLang="en-US" sz="2400" kern="50" dirty="0" smtClean="0">
                <a:ea typeface="DejaVu Sans" charset="0"/>
              </a:rPr>
              <a:t> </a:t>
            </a:r>
            <a:r>
              <a:rPr lang="en-GB" altLang="zh-CN" sz="2400" kern="50" dirty="0" smtClean="0">
                <a:ea typeface="DejaVu Sans" charset="0"/>
              </a:rPr>
              <a:t>of the</a:t>
            </a:r>
            <a:r>
              <a:rPr lang="zh-CN" altLang="en-US" sz="2400" kern="50" dirty="0" smtClean="0">
                <a:ea typeface="DejaVu Sans" charset="0"/>
              </a:rPr>
              <a:t> </a:t>
            </a:r>
            <a:r>
              <a:rPr lang="en-US" altLang="zh-CN" sz="2400" kern="50" dirty="0" smtClean="0">
                <a:ea typeface="DejaVu Sans" charset="0"/>
              </a:rPr>
              <a:t>memory</a:t>
            </a:r>
            <a:r>
              <a:rPr lang="zh-CN" altLang="en-US" sz="2400" kern="50" dirty="0" smtClean="0">
                <a:ea typeface="DejaVu Sans" charset="0"/>
              </a:rPr>
              <a:t> </a:t>
            </a:r>
            <a:r>
              <a:rPr lang="en-US" altLang="zh-CN" sz="2400" kern="50" dirty="0" smtClean="0">
                <a:ea typeface="DejaVu Sans" charset="0"/>
              </a:rPr>
              <a:t>usage</a:t>
            </a:r>
            <a:endParaRPr lang="zh-CN" altLang="en-US" sz="2400" dirty="0"/>
          </a:p>
        </p:txBody>
      </p:sp>
      <p:graphicFrame>
        <p:nvGraphicFramePr>
          <p:cNvPr id="7" name="图表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3270368"/>
              </p:ext>
            </p:extLst>
          </p:nvPr>
        </p:nvGraphicFramePr>
        <p:xfrm>
          <a:off x="853233" y="1051444"/>
          <a:ext cx="7451611" cy="53519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图表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6503756"/>
              </p:ext>
            </p:extLst>
          </p:nvPr>
        </p:nvGraphicFramePr>
        <p:xfrm>
          <a:off x="853231" y="1051443"/>
          <a:ext cx="7451611" cy="53519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44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130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Graphic spid="7" grpId="1">
        <p:bldAsOne/>
      </p:bldGraphic>
      <p:bldGraphic spid="8" grpId="0">
        <p:bldAsOne/>
      </p:bldGraphic>
      <p:bldGraphic spid="8" grpId="1">
        <p:bldAsOne/>
      </p:bldGraphic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 2"/>
          <p:cNvGrpSpPr/>
          <p:nvPr/>
        </p:nvGrpSpPr>
        <p:grpSpPr>
          <a:xfrm>
            <a:off x="1180601" y="2363813"/>
            <a:ext cx="6645826" cy="1143073"/>
            <a:chOff x="1200056" y="2357271"/>
            <a:chExt cx="6645826" cy="1143073"/>
          </a:xfrm>
        </p:grpSpPr>
        <p:sp>
          <p:nvSpPr>
            <p:cNvPr id="11" name="矩形 10"/>
            <p:cNvSpPr>
              <a:spLocks noChangeArrowheads="1"/>
            </p:cNvSpPr>
            <p:nvPr/>
          </p:nvSpPr>
          <p:spPr bwMode="auto">
            <a:xfrm>
              <a:off x="3062530" y="2357271"/>
              <a:ext cx="2807335" cy="1143073"/>
            </a:xfrm>
            <a:prstGeom prst="rect">
              <a:avLst/>
            </a:prstGeom>
            <a:ln w="12700">
              <a:solidFill>
                <a:schemeClr val="bg1">
                  <a:lumMod val="75000"/>
                </a:schemeClr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200" kern="100">
                  <a:solidFill>
                    <a:srgbClr val="000000"/>
                  </a:solidFill>
                  <a:effectLst/>
                  <a:ea typeface="宋体" charset="0"/>
                  <a:cs typeface="Times New Roman" charset="0"/>
                </a:rPr>
                <a:t> </a:t>
              </a:r>
              <a:endParaRPr lang="zh-CN" sz="1200" kern="100">
                <a:effectLst/>
                <a:ea typeface="宋体" charset="0"/>
                <a:cs typeface="Times New Roman" charset="0"/>
              </a:endParaRPr>
            </a:p>
          </p:txBody>
        </p:sp>
        <p:sp>
          <p:nvSpPr>
            <p:cNvPr id="12" name="矩形 11"/>
            <p:cNvSpPr>
              <a:spLocks noChangeArrowheads="1"/>
            </p:cNvSpPr>
            <p:nvPr/>
          </p:nvSpPr>
          <p:spPr bwMode="auto">
            <a:xfrm>
              <a:off x="3255572" y="2512211"/>
              <a:ext cx="2439032" cy="834390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kern="100" dirty="0">
                  <a:effectLst/>
                  <a:ea typeface="宋体" charset="0"/>
                  <a:cs typeface="Times New Roman" charset="0"/>
                </a:rPr>
                <a:t>JOB 1</a:t>
              </a:r>
              <a:endParaRPr lang="zh-CN" sz="1600" kern="100" dirty="0">
                <a:effectLst/>
                <a:ea typeface="宋体" charset="0"/>
                <a:cs typeface="Times New Roman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650915" y="2846242"/>
              <a:ext cx="1194967" cy="33083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kern="100" dirty="0">
                  <a:effectLst/>
                  <a:ea typeface="宋体" charset="0"/>
                  <a:cs typeface="Times New Roman" charset="0"/>
                </a:rPr>
                <a:t>ANSWER 1</a:t>
              </a:r>
              <a:endParaRPr lang="zh-CN" sz="1600" kern="100" dirty="0">
                <a:effectLst/>
                <a:ea typeface="宋体" charset="0"/>
                <a:cs typeface="Times New Roman" charset="0"/>
              </a:endParaRPr>
            </a:p>
          </p:txBody>
        </p:sp>
        <p:sp>
          <p:nvSpPr>
            <p:cNvPr id="14" name="矩形 13"/>
            <p:cNvSpPr>
              <a:spLocks noChangeArrowheads="1"/>
            </p:cNvSpPr>
            <p:nvPr/>
          </p:nvSpPr>
          <p:spPr bwMode="auto">
            <a:xfrm>
              <a:off x="3340024" y="2823996"/>
              <a:ext cx="1305559" cy="431800"/>
            </a:xfrm>
            <a:prstGeom prst="rect">
              <a:avLst/>
            </a:prstGeom>
            <a:pattFill prst="pct10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75000"/>
                </a:schemeClr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600" kern="100" dirty="0">
                  <a:effectLst/>
                  <a:ea typeface="宋体" charset="0"/>
                  <a:cs typeface="Times New Roman" charset="0"/>
                </a:rPr>
                <a:t>STATIC DATA</a:t>
              </a:r>
              <a:endParaRPr lang="zh-CN" sz="1600" kern="100" dirty="0">
                <a:effectLst/>
                <a:ea typeface="宋体" charset="0"/>
                <a:cs typeface="Times New Roman" charset="0"/>
              </a:endParaRPr>
            </a:p>
          </p:txBody>
        </p:sp>
        <p:sp>
          <p:nvSpPr>
            <p:cNvPr id="15" name="矩形 14"/>
            <p:cNvSpPr>
              <a:spLocks noChangeArrowheads="1"/>
            </p:cNvSpPr>
            <p:nvPr/>
          </p:nvSpPr>
          <p:spPr bwMode="auto">
            <a:xfrm>
              <a:off x="4714164" y="2823996"/>
              <a:ext cx="911860" cy="431800"/>
            </a:xfrm>
            <a:prstGeom prst="rect">
              <a:avLst/>
            </a:prstGeom>
            <a:pattFill prst="ltUp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75000"/>
                </a:schemeClr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91440" tIns="0" rIns="91440" bIns="0" anchor="ctr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400" kern="100" dirty="0" smtClean="0">
                  <a:effectLst/>
                  <a:ea typeface="宋体" charset="0"/>
                  <a:cs typeface="Times New Roman" charset="0"/>
                </a:rPr>
                <a:t>DYNAMIC DATA</a:t>
              </a:r>
              <a:endParaRPr lang="zh-CN" sz="1400" kern="100" dirty="0">
                <a:effectLst/>
                <a:ea typeface="宋体" charset="0"/>
                <a:cs typeface="Times New Roman" charset="0"/>
              </a:endParaRPr>
            </a:p>
          </p:txBody>
        </p:sp>
        <p:cxnSp>
          <p:nvCxnSpPr>
            <p:cNvPr id="17" name="直线箭头连接符 16"/>
            <p:cNvCxnSpPr>
              <a:cxnSpLocks noChangeShapeType="1"/>
            </p:cNvCxnSpPr>
            <p:nvPr/>
          </p:nvCxnSpPr>
          <p:spPr bwMode="auto">
            <a:xfrm flipV="1">
              <a:off x="2082725" y="3046246"/>
              <a:ext cx="1172847" cy="254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prstDash val="lg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7999"/>
                      </a:srgbClr>
                    </a:outerShdw>
                  </a:effectLst>
                </a14:hiddenEffects>
              </a:ext>
              <a:ext uri="{FAA26D3D-D897-4be2-8F04-BA451C77F1D7}">
                <ma14:placeholderFlag xmlns:ma14="http://schemas.microsoft.com/office/mac/drawingml/2011/main"/>
              </a:ext>
              <a:ext uri="{C572A759-6A51-4108-AA02-DFA0A04FC94B}">
                <ma14:wrappingTextBoxFlag xmlns:ma14="http://schemas.microsoft.com/office/mac/drawingml/2011/main"/>
              </a:ext>
            </a:extLst>
          </p:spPr>
        </p:cxnSp>
        <p:sp>
          <p:nvSpPr>
            <p:cNvPr id="18" name="文本框 17"/>
            <p:cNvSpPr txBox="1"/>
            <p:nvPr/>
          </p:nvSpPr>
          <p:spPr>
            <a:xfrm>
              <a:off x="1200056" y="2854749"/>
              <a:ext cx="1172846" cy="25273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kern="100" dirty="0">
                  <a:effectLst/>
                  <a:ea typeface="宋体" charset="0"/>
                  <a:cs typeface="Times New Roman" charset="0"/>
                </a:rPr>
                <a:t>QUERY 1</a:t>
              </a:r>
              <a:endParaRPr lang="zh-CN" sz="1600" kern="100" dirty="0">
                <a:effectLst/>
                <a:ea typeface="宋体" charset="0"/>
                <a:cs typeface="Times New Roman" charset="0"/>
              </a:endParaRPr>
            </a:p>
          </p:txBody>
        </p:sp>
        <p:cxnSp>
          <p:nvCxnSpPr>
            <p:cNvPr id="16" name="直线箭头连接符 15"/>
            <p:cNvCxnSpPr>
              <a:cxnSpLocks noChangeShapeType="1"/>
            </p:cNvCxnSpPr>
            <p:nvPr/>
          </p:nvCxnSpPr>
          <p:spPr bwMode="auto">
            <a:xfrm>
              <a:off x="5694604" y="3046246"/>
              <a:ext cx="995046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prstDash val="lg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7999"/>
                      </a:srgbClr>
                    </a:outerShdw>
                  </a:effectLst>
                </a14:hiddenEffects>
              </a:ext>
              <a:ext uri="{FAA26D3D-D897-4be2-8F04-BA451C77F1D7}">
                <ma14:placeholderFlag xmlns:ma14="http://schemas.microsoft.com/office/mac/drawingml/2011/main"/>
              </a:ext>
              <a:ext uri="{C572A759-6A51-4108-AA02-DFA0A04FC94B}">
                <ma14:wrappingTextBoxFlag xmlns:ma14="http://schemas.microsoft.com/office/mac/drawingml/2011/main"/>
              </a:ext>
            </a:extLst>
          </p:spPr>
        </p:cxnSp>
      </p:grpSp>
      <p:sp>
        <p:nvSpPr>
          <p:cNvPr id="24" name="矩形 23"/>
          <p:cNvSpPr/>
          <p:nvPr/>
        </p:nvSpPr>
        <p:spPr>
          <a:xfrm>
            <a:off x="874210" y="1093619"/>
            <a:ext cx="71628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smtClean="0">
                <a:solidFill>
                  <a:srgbClr val="9F3230"/>
                </a:solidFill>
              </a:rPr>
              <a:t>1.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Split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the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tasks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into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data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loader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and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query</a:t>
            </a:r>
            <a:r>
              <a:rPr lang="zh-CN" altLang="en-US" sz="2400" dirty="0" smtClean="0">
                <a:solidFill>
                  <a:srgbClr val="9F3230"/>
                </a:solidFill>
              </a:rPr>
              <a:t> </a:t>
            </a:r>
            <a:r>
              <a:rPr lang="en-US" altLang="zh-CN" sz="2400" dirty="0" smtClean="0">
                <a:solidFill>
                  <a:srgbClr val="9F3230"/>
                </a:solidFill>
              </a:rPr>
              <a:t>processor.</a:t>
            </a:r>
            <a:endParaRPr lang="zh-CN" altLang="en-US" sz="2400" dirty="0">
              <a:solidFill>
                <a:srgbClr val="9F3230"/>
              </a:solidFill>
            </a:endParaRPr>
          </a:p>
        </p:txBody>
      </p:sp>
      <p:grpSp>
        <p:nvGrpSpPr>
          <p:cNvPr id="30" name="组 29"/>
          <p:cNvGrpSpPr/>
          <p:nvPr/>
        </p:nvGrpSpPr>
        <p:grpSpPr>
          <a:xfrm>
            <a:off x="1180601" y="4233601"/>
            <a:ext cx="6645826" cy="1143073"/>
            <a:chOff x="1200056" y="2357271"/>
            <a:chExt cx="6645826" cy="1143073"/>
          </a:xfrm>
        </p:grpSpPr>
        <p:sp>
          <p:nvSpPr>
            <p:cNvPr id="31" name="矩形 30"/>
            <p:cNvSpPr>
              <a:spLocks noChangeArrowheads="1"/>
            </p:cNvSpPr>
            <p:nvPr/>
          </p:nvSpPr>
          <p:spPr bwMode="auto">
            <a:xfrm>
              <a:off x="3062530" y="2357271"/>
              <a:ext cx="2807335" cy="1143073"/>
            </a:xfrm>
            <a:prstGeom prst="rect">
              <a:avLst/>
            </a:prstGeom>
            <a:ln w="12700">
              <a:solidFill>
                <a:schemeClr val="bg1">
                  <a:lumMod val="75000"/>
                </a:schemeClr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200" kern="100">
                  <a:solidFill>
                    <a:srgbClr val="000000"/>
                  </a:solidFill>
                  <a:effectLst/>
                  <a:ea typeface="宋体" charset="0"/>
                  <a:cs typeface="Times New Roman" charset="0"/>
                </a:rPr>
                <a:t> </a:t>
              </a:r>
              <a:endParaRPr lang="zh-CN" sz="1200" kern="100">
                <a:effectLst/>
                <a:ea typeface="宋体" charset="0"/>
                <a:cs typeface="Times New Roman" charset="0"/>
              </a:endParaRPr>
            </a:p>
          </p:txBody>
        </p:sp>
        <p:sp>
          <p:nvSpPr>
            <p:cNvPr id="32" name="矩形 31"/>
            <p:cNvSpPr>
              <a:spLocks noChangeArrowheads="1"/>
            </p:cNvSpPr>
            <p:nvPr/>
          </p:nvSpPr>
          <p:spPr bwMode="auto">
            <a:xfrm>
              <a:off x="3255572" y="2512211"/>
              <a:ext cx="2439032" cy="834390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kern="100" dirty="0">
                  <a:effectLst/>
                  <a:ea typeface="宋体" charset="0"/>
                  <a:cs typeface="Times New Roman" charset="0"/>
                </a:rPr>
                <a:t>JOB 1</a:t>
              </a:r>
              <a:endParaRPr lang="zh-CN" sz="1600" kern="100" dirty="0">
                <a:effectLst/>
                <a:ea typeface="宋体" charset="0"/>
                <a:cs typeface="Times New Roman" charset="0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650915" y="2846242"/>
              <a:ext cx="1194967" cy="33083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kern="100" dirty="0">
                  <a:effectLst/>
                  <a:ea typeface="宋体" charset="0"/>
                  <a:cs typeface="Times New Roman" charset="0"/>
                </a:rPr>
                <a:t>ANSWER 1</a:t>
              </a:r>
              <a:endParaRPr lang="zh-CN" sz="1600" kern="100" dirty="0">
                <a:effectLst/>
                <a:ea typeface="宋体" charset="0"/>
                <a:cs typeface="Times New Roman" charset="0"/>
              </a:endParaRPr>
            </a:p>
          </p:txBody>
        </p:sp>
        <p:sp>
          <p:nvSpPr>
            <p:cNvPr id="39" name="矩形 38"/>
            <p:cNvSpPr>
              <a:spLocks noChangeArrowheads="1"/>
            </p:cNvSpPr>
            <p:nvPr/>
          </p:nvSpPr>
          <p:spPr bwMode="auto">
            <a:xfrm>
              <a:off x="3340024" y="2823996"/>
              <a:ext cx="1305559" cy="431800"/>
            </a:xfrm>
            <a:prstGeom prst="rect">
              <a:avLst/>
            </a:prstGeom>
            <a:pattFill prst="pct10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75000"/>
                </a:schemeClr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600" kern="100" dirty="0">
                  <a:effectLst/>
                  <a:ea typeface="宋体" charset="0"/>
                  <a:cs typeface="Times New Roman" charset="0"/>
                </a:rPr>
                <a:t>STATIC DATA</a:t>
              </a:r>
              <a:endParaRPr lang="zh-CN" sz="1600" kern="100" dirty="0">
                <a:effectLst/>
                <a:ea typeface="宋体" charset="0"/>
                <a:cs typeface="Times New Roman" charset="0"/>
              </a:endParaRPr>
            </a:p>
          </p:txBody>
        </p:sp>
        <p:sp>
          <p:nvSpPr>
            <p:cNvPr id="40" name="矩形 39"/>
            <p:cNvSpPr>
              <a:spLocks noChangeArrowheads="1"/>
            </p:cNvSpPr>
            <p:nvPr/>
          </p:nvSpPr>
          <p:spPr bwMode="auto">
            <a:xfrm>
              <a:off x="4714164" y="2823996"/>
              <a:ext cx="911860" cy="431800"/>
            </a:xfrm>
            <a:prstGeom prst="rect">
              <a:avLst/>
            </a:prstGeom>
            <a:pattFill prst="ltUp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75000"/>
                </a:schemeClr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vert="horz" wrap="square" lIns="91440" tIns="0" rIns="91440" bIns="0" anchor="ctr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400" kern="100" dirty="0" smtClean="0">
                  <a:effectLst/>
                  <a:ea typeface="宋体" charset="0"/>
                  <a:cs typeface="Times New Roman" charset="0"/>
                </a:rPr>
                <a:t>DYNAMIC DATA</a:t>
              </a:r>
              <a:endParaRPr lang="zh-CN" sz="1400" kern="100" dirty="0">
                <a:effectLst/>
                <a:ea typeface="宋体" charset="0"/>
                <a:cs typeface="Times New Roman" charset="0"/>
              </a:endParaRPr>
            </a:p>
          </p:txBody>
        </p:sp>
        <p:cxnSp>
          <p:nvCxnSpPr>
            <p:cNvPr id="41" name="直线箭头连接符 40"/>
            <p:cNvCxnSpPr>
              <a:cxnSpLocks noChangeShapeType="1"/>
            </p:cNvCxnSpPr>
            <p:nvPr/>
          </p:nvCxnSpPr>
          <p:spPr bwMode="auto">
            <a:xfrm flipV="1">
              <a:off x="2082725" y="3046246"/>
              <a:ext cx="1172847" cy="254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prstDash val="lg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7999"/>
                      </a:srgbClr>
                    </a:outerShdw>
                  </a:effectLst>
                </a14:hiddenEffects>
              </a:ext>
              <a:ext uri="{FAA26D3D-D897-4be2-8F04-BA451C77F1D7}">
                <ma14:placeholderFlag xmlns:ma14="http://schemas.microsoft.com/office/mac/drawingml/2011/main"/>
              </a:ext>
              <a:ext uri="{C572A759-6A51-4108-AA02-DFA0A04FC94B}">
                <ma14:wrappingTextBoxFlag xmlns:ma14="http://schemas.microsoft.com/office/mac/drawingml/2011/main"/>
              </a:ext>
            </a:extLst>
          </p:spPr>
        </p:cxnSp>
        <p:sp>
          <p:nvSpPr>
            <p:cNvPr id="42" name="文本框 41"/>
            <p:cNvSpPr txBox="1"/>
            <p:nvPr/>
          </p:nvSpPr>
          <p:spPr>
            <a:xfrm>
              <a:off x="1200056" y="2854749"/>
              <a:ext cx="1172846" cy="25273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600" kern="100" dirty="0">
                  <a:effectLst/>
                  <a:ea typeface="宋体" charset="0"/>
                  <a:cs typeface="Times New Roman" charset="0"/>
                </a:rPr>
                <a:t>QUERY 1</a:t>
              </a:r>
              <a:endParaRPr lang="zh-CN" sz="1600" kern="100" dirty="0">
                <a:effectLst/>
                <a:ea typeface="宋体" charset="0"/>
                <a:cs typeface="Times New Roman" charset="0"/>
              </a:endParaRPr>
            </a:p>
          </p:txBody>
        </p:sp>
        <p:cxnSp>
          <p:nvCxnSpPr>
            <p:cNvPr id="43" name="直线箭头连接符 42"/>
            <p:cNvCxnSpPr>
              <a:cxnSpLocks noChangeShapeType="1"/>
            </p:cNvCxnSpPr>
            <p:nvPr/>
          </p:nvCxnSpPr>
          <p:spPr bwMode="auto">
            <a:xfrm>
              <a:off x="5694604" y="3046246"/>
              <a:ext cx="995046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prstDash val="lg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7999"/>
                      </a:srgbClr>
                    </a:outerShdw>
                  </a:effectLst>
                </a14:hiddenEffects>
              </a:ext>
              <a:ext uri="{FAA26D3D-D897-4be2-8F04-BA451C77F1D7}">
                <ma14:placeholderFlag xmlns:ma14="http://schemas.microsoft.com/office/mac/drawingml/2011/main"/>
              </a:ext>
              <a:ext uri="{C572A759-6A51-4108-AA02-DFA0A04FC94B}">
                <ma14:wrappingTextBoxFlag xmlns:ma14="http://schemas.microsoft.com/office/mac/drawingml/2011/main"/>
              </a:ext>
            </a:extLst>
          </p:spPr>
        </p:cxnSp>
      </p:grpSp>
      <p:grpSp>
        <p:nvGrpSpPr>
          <p:cNvPr id="44" name="组 43"/>
          <p:cNvGrpSpPr/>
          <p:nvPr/>
        </p:nvGrpSpPr>
        <p:grpSpPr>
          <a:xfrm>
            <a:off x="3236116" y="4353963"/>
            <a:ext cx="2507613" cy="919038"/>
            <a:chOff x="3269018" y="483215"/>
            <a:chExt cx="2507613" cy="919038"/>
          </a:xfrm>
        </p:grpSpPr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69018" y="483215"/>
              <a:ext cx="2507613" cy="902348"/>
            </a:xfrm>
            <a:prstGeom prst="rect">
              <a:avLst/>
            </a:prstGeom>
          </p:spPr>
        </p:pic>
        <p:grpSp>
          <p:nvGrpSpPr>
            <p:cNvPr id="46" name="组 45"/>
            <p:cNvGrpSpPr/>
            <p:nvPr/>
          </p:nvGrpSpPr>
          <p:grpSpPr>
            <a:xfrm>
              <a:off x="3277377" y="547802"/>
              <a:ext cx="2490894" cy="854451"/>
              <a:chOff x="3250474" y="565690"/>
              <a:chExt cx="2490894" cy="854451"/>
            </a:xfrm>
          </p:grpSpPr>
          <p:cxnSp>
            <p:nvCxnSpPr>
              <p:cNvPr id="47" name="直线箭头连接符 46"/>
              <p:cNvCxnSpPr>
                <a:cxnSpLocks noChangeShapeType="1"/>
              </p:cNvCxnSpPr>
              <p:nvPr/>
            </p:nvCxnSpPr>
            <p:spPr bwMode="auto">
              <a:xfrm>
                <a:off x="4355663" y="1060540"/>
                <a:ext cx="317075" cy="1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prstDash val="lgDash"/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40000" dist="20000" dir="5400000" rotWithShape="0">
                        <a:srgbClr val="000000">
                          <a:alpha val="37999"/>
                        </a:srgbClr>
                      </a:outerShdw>
                    </a:effectLst>
                  </a14:hiddenEffects>
                </a:ext>
                <a:ext uri="{FAA26D3D-D897-4be2-8F04-BA451C77F1D7}">
                  <ma14:placeholderFlag xmlns:ma14="http://schemas.microsoft.com/office/mac/drawingml/2011/main"/>
                </a:ext>
                <a:ext uri="{C572A759-6A51-4108-AA02-DFA0A04FC94B}">
                  <ma14:wrappingTextBoxFlag xmlns:ma14="http://schemas.microsoft.com/office/mac/drawingml/2011/main"/>
                </a:ext>
              </a:extLst>
            </p:spPr>
          </p:cxnSp>
          <p:sp>
            <p:nvSpPr>
              <p:cNvPr id="48" name="矩形 47"/>
              <p:cNvSpPr>
                <a:spLocks noChangeArrowheads="1"/>
              </p:cNvSpPr>
              <p:nvPr/>
            </p:nvSpPr>
            <p:spPr bwMode="auto">
              <a:xfrm>
                <a:off x="3250474" y="572416"/>
                <a:ext cx="1073150" cy="847725"/>
              </a:xfrm>
              <a:prstGeom prst="rect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vert="horz" wrap="square" lIns="91440" tIns="0" rIns="91440" bIns="4572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600" kern="100" dirty="0">
                    <a:effectLst/>
                    <a:ea typeface="宋体" charset="0"/>
                    <a:cs typeface="Times New Roman" charset="0"/>
                  </a:rPr>
                  <a:t>JOB 0</a:t>
                </a:r>
                <a:endParaRPr lang="zh-CN" sz="1600" kern="100" dirty="0">
                  <a:effectLst/>
                  <a:ea typeface="宋体" charset="0"/>
                  <a:cs typeface="Times New Roman" charset="0"/>
                </a:endParaRPr>
              </a:p>
            </p:txBody>
          </p:sp>
          <p:sp>
            <p:nvSpPr>
              <p:cNvPr id="49" name="矩形 48"/>
              <p:cNvSpPr>
                <a:spLocks noChangeArrowheads="1"/>
              </p:cNvSpPr>
              <p:nvPr/>
            </p:nvSpPr>
            <p:spPr bwMode="auto">
              <a:xfrm>
                <a:off x="3309596" y="838388"/>
                <a:ext cx="943142" cy="524846"/>
              </a:xfrm>
              <a:prstGeom prst="rect">
                <a:avLst/>
              </a:prstGeom>
              <a:pattFill prst="pct10">
                <a:fgClr>
                  <a:schemeClr val="bg1">
                    <a:lumMod val="75000"/>
                  </a:schemeClr>
                </a:fgClr>
                <a:bgClr>
                  <a:schemeClr val="bg1"/>
                </a:bgClr>
              </a:pattFill>
              <a:ln>
                <a:solidFill>
                  <a:schemeClr val="bg1">
                    <a:lumMod val="75000"/>
                  </a:schemeClr>
                </a:solidFill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400" kern="100" dirty="0">
                    <a:solidFill>
                      <a:srgbClr val="000000"/>
                    </a:solidFill>
                    <a:effectLst/>
                    <a:ea typeface="宋体" charset="0"/>
                    <a:cs typeface="Times New Roman" charset="0"/>
                  </a:rPr>
                  <a:t>STATIC DATA</a:t>
                </a:r>
                <a:endParaRPr lang="zh-CN" sz="1400" kern="100" dirty="0">
                  <a:effectLst/>
                  <a:ea typeface="宋体" charset="0"/>
                  <a:cs typeface="Times New Roman" charset="0"/>
                </a:endParaRPr>
              </a:p>
            </p:txBody>
          </p:sp>
          <p:sp>
            <p:nvSpPr>
              <p:cNvPr id="50" name="矩形 49"/>
              <p:cNvSpPr>
                <a:spLocks noChangeArrowheads="1"/>
              </p:cNvSpPr>
              <p:nvPr/>
            </p:nvSpPr>
            <p:spPr bwMode="auto">
              <a:xfrm>
                <a:off x="4668218" y="565690"/>
                <a:ext cx="1073150" cy="847725"/>
              </a:xfrm>
              <a:prstGeom prst="rect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vert="horz" wrap="square" lIns="91440" tIns="0" rIns="91440" bIns="4572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600" kern="100" dirty="0">
                    <a:effectLst/>
                    <a:ea typeface="宋体" charset="0"/>
                    <a:cs typeface="Times New Roman" charset="0"/>
                  </a:rPr>
                  <a:t>JOB </a:t>
                </a:r>
                <a:r>
                  <a:rPr lang="en-US" altLang="zh-CN" sz="1600" kern="100" dirty="0" smtClean="0">
                    <a:effectLst/>
                    <a:ea typeface="宋体" charset="0"/>
                    <a:cs typeface="Times New Roman" charset="0"/>
                  </a:rPr>
                  <a:t>1</a:t>
                </a:r>
                <a:endParaRPr lang="zh-CN" sz="1600" kern="100" dirty="0">
                  <a:effectLst/>
                  <a:ea typeface="宋体" charset="0"/>
                  <a:cs typeface="Times New Roman" charset="0"/>
                </a:endParaRPr>
              </a:p>
            </p:txBody>
          </p:sp>
          <p:sp>
            <p:nvSpPr>
              <p:cNvPr id="51" name="矩形 50"/>
              <p:cNvSpPr>
                <a:spLocks noChangeArrowheads="1"/>
              </p:cNvSpPr>
              <p:nvPr/>
            </p:nvSpPr>
            <p:spPr bwMode="auto">
              <a:xfrm>
                <a:off x="4753625" y="838388"/>
                <a:ext cx="902336" cy="524846"/>
              </a:xfrm>
              <a:prstGeom prst="rect">
                <a:avLst/>
              </a:prstGeom>
              <a:pattFill prst="ltUpDiag">
                <a:fgClr>
                  <a:schemeClr val="bg1">
                    <a:lumMod val="75000"/>
                  </a:schemeClr>
                </a:fgClr>
                <a:bgClr>
                  <a:schemeClr val="bg1"/>
                </a:bgClr>
              </a:pattFill>
              <a:ln>
                <a:solidFill>
                  <a:schemeClr val="bg1">
                    <a:lumMod val="75000"/>
                  </a:schemeClr>
                </a:solidFill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vert="horz" wrap="square" lIns="91440" tIns="0" rIns="91440" bIns="0" anchor="ctr" anchorCtr="0" upright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sz="1400" kern="100" dirty="0">
                    <a:effectLst/>
                    <a:ea typeface="宋体" charset="0"/>
                    <a:cs typeface="Times New Roman" charset="0"/>
                  </a:rPr>
                  <a:t>DYNAMIC DATA</a:t>
                </a:r>
                <a:endParaRPr lang="zh-CN" sz="1400" kern="100" dirty="0">
                  <a:effectLst/>
                  <a:ea typeface="宋体" charset="0"/>
                  <a:cs typeface="Times New Roman" charset="0"/>
                </a:endParaRPr>
              </a:p>
            </p:txBody>
          </p:sp>
        </p:grpSp>
      </p:grpSp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0A04B-912C-734A-9A4A-B1FDEF41CF40}" type="slidenum">
              <a:rPr kumimoji="1" lang="zh-CN" altLang="en-US" smtClean="0"/>
              <a:pPr/>
              <a:t>45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3057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8087</TotalTime>
  <Words>2778</Words>
  <Application>Microsoft Macintosh PowerPoint</Application>
  <PresentationFormat>全屏显示(4:3)</PresentationFormat>
  <Paragraphs>776</Paragraphs>
  <Slides>45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2" baseType="lpstr">
      <vt:lpstr>Calibri</vt:lpstr>
      <vt:lpstr>Calibri Light</vt:lpstr>
      <vt:lpstr>DejaVu Sans</vt:lpstr>
      <vt:lpstr>Times New Roman</vt:lpstr>
      <vt:lpstr>宋体</vt:lpstr>
      <vt:lpstr>Arial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GaoQianqian</dc:creator>
  <cp:lastModifiedBy>GaoQianqian</cp:lastModifiedBy>
  <cp:revision>335</cp:revision>
  <cp:lastPrinted>2015-09-15T17:05:34Z</cp:lastPrinted>
  <dcterms:created xsi:type="dcterms:W3CDTF">2015-08-26T15:39:20Z</dcterms:created>
  <dcterms:modified xsi:type="dcterms:W3CDTF">2016-07-13T05:03:01Z</dcterms:modified>
</cp:coreProperties>
</file>